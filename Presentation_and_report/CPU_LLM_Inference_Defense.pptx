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447"/>
                </a:solidFill>
                <a:latin typeface="Arial"/>
              </a:defRPr>
            </a:pPr>
            <a:r>
              <a:rPr sz="1300" b="0" i="0" u="none" strike="noStrike">
                <a:solidFill>
                  <a:srgbClr val="162447"/>
                </a:solidFill>
                <a:latin typeface="Arial"/>
              </a:rPr>
              <a:t>Ryzen 5600H: throughput vs thread count</a:t>
            </a:r>
          </a:p>
        </c:rich>
      </c:tx>
      <c:layout/>
      <c:overlay val="0"/>
    </c:title>
    <c:autoTitleDeleted val="0"/>
    <c:plotArea>
      <c:layout/>
      <c:lineChart>
        <c:varyColors val="0"/>
        <c:ser>
          <c:idx val="0"/>
          <c:order val="0"/>
          <c:tx>
            <c:strRef>
              <c:f>Sheet1!$B$1</c:f>
              <c:strCache>
                <c:ptCount val="1"/>
                <c:pt idx="0">
                  <c:v>Prefill (pp512) — compute-bound</c:v>
                </c:pt>
              </c:strCache>
            </c:strRef>
          </c:tx>
          <c:spPr>
            <a:solidFill>
              <a:srgbClr val="1F8A9E"/>
            </a:solidFill>
            <a:ln w="38100" cap="flat">
              <a:solidFill>
                <a:srgbClr val="1F8A9E"/>
              </a:solidFill>
              <a:prstDash val="solid"/>
              <a:round/>
            </a:ln>
            <a:effectLst/>
          </c:spPr>
          <c:invertIfNegative val="0"/>
          <c:dLbls>
            <c:numFmt formatCode="#,##0" sourceLinked="0"/>
            <c:txPr>
              <a:bodyPr/>
              <a:lstStyle/>
              <a:p>
                <a:pPr>
                  <a:defRPr b="0" i="0" strike="noStrike" sz="1200" u="none">
                    <a:solidFill>
                      <a:srgbClr val="1B2430"/>
                    </a:solidFill>
                    <a:latin typeface="Arial"/>
                  </a:defRPr>
                </a:pPr>
              </a:p>
            </c:txPr>
            <c:showLegendKey val="0"/>
            <c:showVal val="0"/>
            <c:showCatName val="0"/>
            <c:showSerName val="0"/>
            <c:showPercent val="0"/>
            <c:showBubbleSize val="0"/>
            <c:showLeaderLines val="0"/>
          </c:dLbls>
          <c:marker>
            <c:symbol val="circle"/>
            <c:size val="7"/>
            <c:spPr>
              <a:solidFill>
                <a:srgbClr val="1F8A9E"/>
              </a:solidFill>
              <a:ln w="9525" cap="flat">
                <a:solidFill>
                  <a:srgbClr val="1F8A9E"/>
                </a:solidFill>
                <a:prstDash val="solid"/>
                <a:round/>
              </a:ln>
              <a:effectLst/>
            </c:spPr>
          </c:marker>
          <c:cat>
            <c:multiLvlStrRef>
              <c:f>Sheet1!$A$2:$A$6</c:f>
              <c:multiLvlStrCache>
                <c:ptCount val="5"/>
                <c:lvl>
                  <c:pt idx="0">
                    <c:v>1</c:v>
                  </c:pt>
                  <c:pt idx="1">
                    <c:v>2</c:v>
                  </c:pt>
                  <c:pt idx="2">
                    <c:v>4</c:v>
                  </c:pt>
                  <c:pt idx="3">
                    <c:v>6</c:v>
                  </c:pt>
                  <c:pt idx="4">
                    <c:v>8</c:v>
                  </c:pt>
                </c:lvl>
              </c:multiLvlStrCache>
            </c:multiLvlStrRef>
          </c:cat>
          <c:val>
            <c:numRef>
              <c:f>Sheet1!$B$2:$B$6</c:f>
              <c:numCache>
                <c:formatCode>General</c:formatCode>
                <c:ptCount val="5"/>
                <c:pt idx="0">
                  <c:v>7.81</c:v>
                </c:pt>
                <c:pt idx="1">
                  <c:v>13.93</c:v>
                </c:pt>
                <c:pt idx="2">
                  <c:v>24.11</c:v>
                </c:pt>
                <c:pt idx="3">
                  <c:v>25.15</c:v>
                </c:pt>
                <c:pt idx="4">
                  <c:v>25.81</c:v>
                </c:pt>
              </c:numCache>
            </c:numRef>
          </c:val>
          <c:smooth val="0"/>
        </c:ser>
        <c:ser>
          <c:idx val="1"/>
          <c:order val="1"/>
          <c:tx>
            <c:strRef>
              <c:f>Sheet1!$C$1</c:f>
              <c:strCache>
                <c:ptCount val="1"/>
                <c:pt idx="0">
                  <c:v>Generation (tg128) — memory-bound</c:v>
                </c:pt>
              </c:strCache>
            </c:strRef>
          </c:tx>
          <c:spPr>
            <a:solidFill>
              <a:srgbClr val="E8A33D"/>
            </a:solidFill>
            <a:ln w="38100" cap="flat">
              <a:solidFill>
                <a:srgbClr val="E8A33D"/>
              </a:solidFill>
              <a:prstDash val="solid"/>
              <a:round/>
            </a:ln>
            <a:effectLst/>
          </c:spPr>
          <c:invertIfNegative val="0"/>
          <c:dLbls>
            <c:numFmt formatCode="#,##0" sourceLinked="0"/>
            <c:txPr>
              <a:bodyPr/>
              <a:lstStyle/>
              <a:p>
                <a:pPr>
                  <a:defRPr b="0" i="0" strike="noStrike" sz="1200" u="none">
                    <a:solidFill>
                      <a:srgbClr val="1B2430"/>
                    </a:solidFill>
                    <a:latin typeface="Arial"/>
                  </a:defRPr>
                </a:pPr>
              </a:p>
            </c:txPr>
            <c:showLegendKey val="0"/>
            <c:showVal val="0"/>
            <c:showCatName val="0"/>
            <c:showSerName val="0"/>
            <c:showPercent val="0"/>
            <c:showBubbleSize val="0"/>
            <c:showLeaderLines val="0"/>
          </c:dLbls>
          <c:marker>
            <c:symbol val="circle"/>
            <c:size val="7"/>
            <c:spPr>
              <a:solidFill>
                <a:srgbClr val="E8A33D"/>
              </a:solidFill>
              <a:ln w="9525" cap="flat">
                <a:solidFill>
                  <a:srgbClr val="E8A33D"/>
                </a:solidFill>
                <a:prstDash val="solid"/>
                <a:round/>
              </a:ln>
              <a:effectLst/>
            </c:spPr>
          </c:marker>
          <c:cat>
            <c:multiLvlStrRef>
              <c:f>Sheet1!$A$2:$A$6</c:f>
              <c:multiLvlStrCache>
                <c:ptCount val="5"/>
                <c:lvl>
                  <c:pt idx="0">
                    <c:v>1</c:v>
                  </c:pt>
                  <c:pt idx="1">
                    <c:v>2</c:v>
                  </c:pt>
                  <c:pt idx="2">
                    <c:v>4</c:v>
                  </c:pt>
                  <c:pt idx="3">
                    <c:v>6</c:v>
                  </c:pt>
                  <c:pt idx="4">
                    <c:v>8</c:v>
                  </c:pt>
                </c:lvl>
              </c:multiLvlStrCache>
            </c:multiLvlStrRef>
          </c:cat>
          <c:val>
            <c:numRef>
              <c:f>Sheet1!$C$2:$C$6</c:f>
              <c:numCache>
                <c:formatCode>General</c:formatCode>
                <c:ptCount val="5"/>
                <c:pt idx="0">
                  <c:v>3.95</c:v>
                </c:pt>
                <c:pt idx="1">
                  <c:v>6.45</c:v>
                </c:pt>
                <c:pt idx="2">
                  <c:v>8.83</c:v>
                </c:pt>
                <c:pt idx="3">
                  <c:v>6.9</c:v>
                </c:pt>
                <c:pt idx="4">
                  <c:v>6.98</c:v>
                </c:pt>
              </c:numCache>
            </c:numRef>
          </c:val>
          <c:smooth val="0"/>
        </c:ser>
        <c:dLbls>
          <c:numFmt formatCode="#,##0" sourceLinked="0"/>
          <c:txPr>
            <a:bodyPr/>
            <a:lstStyle/>
            <a:p>
              <a:pPr>
                <a:defRPr b="0" i="0" strike="noStrike" sz="1200" u="none">
                  <a:solidFill>
                    <a:srgbClr val="1B243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8EC"/>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tokens / second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447"/>
                </a:solidFill>
                <a:latin typeface="Arial"/>
              </a:defRPr>
            </a:pPr>
            <a:r>
              <a:rPr sz="1300" b="0" i="0" u="none" strike="noStrike">
                <a:solidFill>
                  <a:srgbClr val="162447"/>
                </a:solidFill>
                <a:latin typeface="Arial"/>
              </a:rPr>
              <a:t>Jetson Nano: generation throughput (tg128)</a:t>
            </a:r>
          </a:p>
        </c:rich>
      </c:tx>
      <c:layout/>
      <c:overlay val="0"/>
    </c:title>
    <c:autoTitleDeleted val="0"/>
    <c:plotArea>
      <c:layout/>
      <c:lineChart>
        <c:varyColors val="0"/>
        <c:ser>
          <c:idx val="0"/>
          <c:order val="0"/>
          <c:tx>
            <c:strRef>
              <c:f>Sheet1!$B$1</c:f>
              <c:strCache>
                <c:ptCount val="1"/>
                <c:pt idx="0">
                  <c:v>7B model — saturates memory bus alone</c:v>
                </c:pt>
              </c:strCache>
            </c:strRef>
          </c:tx>
          <c:spPr>
            <a:solidFill>
              <a:srgbClr val="E8A33D"/>
            </a:solidFill>
            <a:ln w="38100" cap="flat">
              <a:solidFill>
                <a:srgbClr val="E8A3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8A33D"/>
              </a:solidFill>
              <a:ln w="9525" cap="flat">
                <a:solidFill>
                  <a:srgbClr val="E8A33D"/>
                </a:solidFill>
                <a:prstDash val="solid"/>
                <a:round/>
              </a:ln>
              <a:effectLst/>
            </c:spPr>
          </c:marker>
          <c:cat>
            <c:multiLvlStrRef>
              <c:f>Sheet1!$A$2:$A$4</c:f>
              <c:multiLvlStrCache>
                <c:ptCount val="3"/>
                <c:lvl>
                  <c:pt idx="0">
                    <c:v>1</c:v>
                  </c:pt>
                  <c:pt idx="1">
                    <c:v>2</c:v>
                  </c:pt>
                  <c:pt idx="2">
                    <c:v>4</c:v>
                  </c:pt>
                </c:lvl>
              </c:multiLvlStrCache>
            </c:multiLvlStrRef>
          </c:cat>
          <c:val>
            <c:numRef>
              <c:f>Sheet1!$B$2:$B$4</c:f>
              <c:numCache>
                <c:formatCode>General</c:formatCode>
                <c:ptCount val="3"/>
                <c:pt idx="0">
                  <c:v>0.041</c:v>
                </c:pt>
                <c:pt idx="1">
                  <c:v>0.038</c:v>
                </c:pt>
                <c:pt idx="2">
                  <c:v>0.039</c:v>
                </c:pt>
              </c:numCache>
            </c:numRef>
          </c:val>
          <c:smooth val="0"/>
        </c:ser>
        <c:ser>
          <c:idx val="1"/>
          <c:order val="1"/>
          <c:tx>
            <c:strRef>
              <c:f>Sheet1!$C$1</c:f>
              <c:strCache>
                <c:ptCount val="1"/>
                <c:pt idx="0">
                  <c:v>1.5B model — room to scale</c:v>
                </c:pt>
              </c:strCache>
            </c:strRef>
          </c:tx>
          <c:spPr>
            <a:solidFill>
              <a:srgbClr val="1F8A9E"/>
            </a:solidFill>
            <a:ln w="38100" cap="flat">
              <a:solidFill>
                <a:srgbClr val="1F8A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F8A9E"/>
              </a:solidFill>
              <a:ln w="9525" cap="flat">
                <a:solidFill>
                  <a:srgbClr val="1F8A9E"/>
                </a:solidFill>
                <a:prstDash val="solid"/>
                <a:round/>
              </a:ln>
              <a:effectLst/>
            </c:spPr>
          </c:marker>
          <c:cat>
            <c:multiLvlStrRef>
              <c:f>Sheet1!$A$2:$A$4</c:f>
              <c:multiLvlStrCache>
                <c:ptCount val="3"/>
                <c:lvl>
                  <c:pt idx="0">
                    <c:v>1</c:v>
                  </c:pt>
                  <c:pt idx="1">
                    <c:v>2</c:v>
                  </c:pt>
                  <c:pt idx="2">
                    <c:v>4</c:v>
                  </c:pt>
                </c:lvl>
              </c:multiLvlStrCache>
            </c:multiLvlStrRef>
          </c:cat>
          <c:val>
            <c:numRef>
              <c:f>Sheet1!$C$2:$C$4</c:f>
              <c:numCache>
                <c:formatCode>General</c:formatCode>
                <c:ptCount val="3"/>
                <c:pt idx="0">
                  <c:v>0.94</c:v>
                </c:pt>
                <c:pt idx="1">
                  <c:v>1.86</c:v>
                </c:pt>
                <c:pt idx="2">
                  <c:v>3.03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8EC"/>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tokens / second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447"/>
                </a:solidFill>
                <a:latin typeface="Arial"/>
              </a:defRPr>
            </a:pPr>
            <a:r>
              <a:rPr sz="1300" b="0" i="0" u="none" strike="noStrike">
                <a:solidFill>
                  <a:srgbClr val="162447"/>
                </a:solidFill>
                <a:latin typeface="Arial"/>
              </a:rPr>
              <a:t>Ryzen 5600H, 1 thread — generation (tg128) tok/s</a:t>
            </a:r>
          </a:p>
        </c:rich>
      </c:tx>
      <c:layout/>
      <c:overlay val="0"/>
    </c:title>
    <c:autoTitleDeleted val="0"/>
    <c:plotArea>
      <c:layout/>
      <c:barChart>
        <c:barDir val="col"/>
        <c:grouping val="clustered"/>
        <c:varyColors val="0"/>
        <c:ser>
          <c:idx val="0"/>
          <c:order val="0"/>
          <c:tx>
            <c:strRef>
              <c:f>Sheet1!$B$1</c:f>
              <c:strCache>
                <c:ptCount val="1"/>
                <c:pt idx="0">
                  <c:v>Standard attention (fa=0)</c:v>
                </c:pt>
              </c:strCache>
            </c:strRef>
          </c:tx>
          <c:spPr>
            <a:solidFill>
              <a:srgbClr val="1F8A9E"/>
            </a:solidFill>
            <a:effectLst/>
          </c:spPr>
          <c:invertIfNegative val="0"/>
          <c:dLbls>
            <c:numFmt formatCode="0.0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cat>
            <c:multiLvlStrRef>
              <c:f>Sheet1!$A$2:$A$4</c:f>
              <c:multiLvlStrCache>
                <c:ptCount val="3"/>
                <c:lvl>
                  <c:pt idx="0">
                    <c:v>0</c:v>
                  </c:pt>
                  <c:pt idx="1">
                    <c:v>3,584</c:v>
                  </c:pt>
                  <c:pt idx="2">
                    <c:v>15,872</c:v>
                  </c:pt>
                </c:lvl>
              </c:multiLvlStrCache>
            </c:multiLvlStrRef>
          </c:cat>
          <c:val>
            <c:numRef>
              <c:f>Sheet1!$B$2:$B$4</c:f>
              <c:numCache>
                <c:formatCode>General</c:formatCode>
                <c:ptCount val="3"/>
                <c:pt idx="0">
                  <c:v>3.95</c:v>
                </c:pt>
                <c:pt idx="1">
                  <c:v>3.31</c:v>
                </c:pt>
                <c:pt idx="2">
                  <c:v>2.09</c:v>
                </c:pt>
              </c:numCache>
            </c:numRef>
          </c:val>
        </c:ser>
        <c:ser>
          <c:idx val="1"/>
          <c:order val="1"/>
          <c:tx>
            <c:strRef>
              <c:f>Sheet1!$C$1</c:f>
              <c:strCache>
                <c:ptCount val="1"/>
                <c:pt idx="0">
                  <c:v>Flash Attention (fa=1)</c:v>
                </c:pt>
              </c:strCache>
            </c:strRef>
          </c:tx>
          <c:spPr>
            <a:solidFill>
              <a:srgbClr val="E8A33D"/>
            </a:solidFill>
            <a:effectLst/>
          </c:spPr>
          <c:invertIfNegative val="0"/>
          <c:dLbls>
            <c:numFmt formatCode="0.0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cat>
            <c:multiLvlStrRef>
              <c:f>Sheet1!$A$2:$A$4</c:f>
              <c:multiLvlStrCache>
                <c:ptCount val="3"/>
                <c:lvl>
                  <c:pt idx="0">
                    <c:v>0</c:v>
                  </c:pt>
                  <c:pt idx="1">
                    <c:v>3,584</c:v>
                  </c:pt>
                  <c:pt idx="2">
                    <c:v>15,872</c:v>
                  </c:pt>
                </c:lvl>
              </c:multiLvlStrCache>
            </c:multiLvlStrRef>
          </c:cat>
          <c:val>
            <c:numRef>
              <c:f>Sheet1!$C$2:$C$4</c:f>
              <c:numCache>
                <c:formatCode>General</c:formatCode>
                <c:ptCount val="3"/>
                <c:pt idx="0">
                  <c:v>3.97</c:v>
                </c:pt>
                <c:pt idx="1">
                  <c:v>2.73</c:v>
                </c:pt>
                <c:pt idx="2">
                  <c:v>0.67</c:v>
                </c:pt>
              </c:numCache>
            </c:numRef>
          </c:val>
        </c:ser>
        <c:dLbls>
          <c:numFmt formatCode="0.0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Context depth (tokens)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8EC"/>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tokens / second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447"/>
                </a:solidFill>
                <a:latin typeface="Arial"/>
              </a:defRPr>
            </a:pPr>
            <a:r>
              <a:rPr sz="1300" b="0" i="0" u="none" strike="noStrike">
                <a:solidFill>
                  <a:srgbClr val="162447"/>
                </a:solidFill>
                <a:latin typeface="Arial"/>
              </a:rPr>
              <a:t>Ryzen 5600H, 1 thread — KV format vs throughput</a:t>
            </a:r>
          </a:p>
        </c:rich>
      </c:tx>
      <c:layout/>
      <c:overlay val="0"/>
    </c:title>
    <c:autoTitleDeleted val="0"/>
    <c:plotArea>
      <c:layout/>
      <c:barChart>
        <c:barDir val="col"/>
        <c:grouping val="clustered"/>
        <c:varyColors val="0"/>
        <c:ser>
          <c:idx val="0"/>
          <c:order val="0"/>
          <c:tx>
            <c:strRef>
              <c:f>Sheet1!$B$1</c:f>
              <c:strCache>
                <c:ptCount val="1"/>
                <c:pt idx="0">
                  <c:v>Generation (tg128) at 15,872-token context</c:v>
                </c:pt>
              </c:strCache>
            </c:strRef>
          </c:tx>
          <c:spPr>
            <a:solidFill>
              <a:srgbClr val="1F8A9E"/>
            </a:solidFill>
            <a:effectLst/>
          </c:spPr>
          <c:invertIfNegative val="0"/>
          <c:dLbls>
            <c:numFmt formatCode="0.0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Sheet1!$A$2:$A$4</c:f>
              <c:multiLvlStrCache>
                <c:ptCount val="3"/>
                <c:lvl>
                  <c:pt idx="0">
                    <c:v>f16/f16</c:v>
                  </c:pt>
                  <c:pt idx="1">
                    <c:v>q8_0/q8_0</c:v>
                  </c:pt>
                  <c:pt idx="2">
                    <c:v>q8_0/q4_0</c:v>
                  </c:pt>
                </c:lvl>
              </c:multiLvlStrCache>
            </c:multiLvlStrRef>
          </c:cat>
          <c:val>
            <c:numRef>
              <c:f>Sheet1!$B$2:$B$4</c:f>
              <c:numCache>
                <c:formatCode>General</c:formatCode>
                <c:ptCount val="3"/>
                <c:pt idx="0">
                  <c:v>2.09</c:v>
                </c:pt>
                <c:pt idx="1">
                  <c:v>0.93</c:v>
                </c:pt>
                <c:pt idx="2">
                  <c:v>0.95</c:v>
                </c:pt>
              </c:numCache>
            </c:numRef>
          </c:val>
        </c:ser>
        <c:dLbls>
          <c:numFmt formatCode="0.0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8EC"/>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tokens / second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447"/>
                </a:solidFill>
                <a:latin typeface="Arial"/>
              </a:defRPr>
            </a:pPr>
            <a:r>
              <a:rPr sz="1300" b="0" i="0" u="none" strike="noStrike">
                <a:solidFill>
                  <a:srgbClr val="162447"/>
                </a:solidFill>
                <a:latin typeface="Arial"/>
              </a:rPr>
              <a:t>Pentium G5420: format impact at 1 thread</a:t>
            </a:r>
          </a:p>
        </c:rich>
      </c:tx>
      <c:layout/>
      <c:overlay val="0"/>
    </c:title>
    <c:autoTitleDeleted val="0"/>
    <c:plotArea>
      <c:layout/>
      <c:barChart>
        <c:barDir val="col"/>
        <c:grouping val="clustered"/>
        <c:varyColors val="0"/>
        <c:ser>
          <c:idx val="0"/>
          <c:order val="0"/>
          <c:tx>
            <c:strRef>
              <c:f>Sheet1!$B$1</c:f>
              <c:strCache>
                <c:ptCount val="1"/>
                <c:pt idx="0">
                  <c:v>Prompt processing (pp512), 1 thread</c:v>
                </c:pt>
              </c:strCache>
            </c:strRef>
          </c:tx>
          <c:spPr>
            <a:solidFill>
              <a:srgbClr val="1F8A9E"/>
            </a:solidFill>
            <a:effectLst/>
          </c:spPr>
          <c:invertIfNegative val="0"/>
          <c:dLbls>
            <c:numFmt formatCode="0.0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Sheet1!$A$2:$A$4</c:f>
              <c:multiLvlStrCache>
                <c:ptCount val="3"/>
                <c:lvl>
                  <c:pt idx="0">
                    <c:v>Q4_K_M (4-bit)</c:v>
                  </c:pt>
                  <c:pt idx="1">
                    <c:v>Q4_0 (4-bit)</c:v>
                  </c:pt>
                  <c:pt idx="2">
                    <c:v>Q3_K_M (3-bit)</c:v>
                  </c:pt>
                </c:lvl>
              </c:multiLvlStrCache>
            </c:multiLvlStrRef>
          </c:cat>
          <c:val>
            <c:numRef>
              <c:f>Sheet1!$B$2:$B$4</c:f>
              <c:numCache>
                <c:formatCode>General</c:formatCode>
                <c:ptCount val="3"/>
                <c:pt idx="0">
                  <c:v>0.49</c:v>
                </c:pt>
                <c:pt idx="1">
                  <c:v>1.78</c:v>
                </c:pt>
                <c:pt idx="2">
                  <c:v>0.42</c:v>
                </c:pt>
              </c:numCache>
            </c:numRef>
          </c:val>
        </c:ser>
        <c:dLbls>
          <c:numFmt formatCode="0.0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8EC"/>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tokens / second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My thesis asks a simple, practical question: if you don't have a GPU — and most computers in the world don't — what settings actually get you the most tokens per second out of a large language model, and what does it cost you in quality? I studied this empirically using llama.cpp across four very different CPUs. Let's walk through what I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dominant narrative around LLM inference assumes a GPU — benchmark leaderboards, deployment guides, all of it. But think about the actual machines people own: aging office laptops, hand-me-down desktops, Raspberry Pis, embedded boards like the Jetson Nano. None of these have a usable GPU for inference, or the GPU is too small to hold even a modest model. For that hardware, CPU inference isn't an alternative — it's the only path. And the moment you try to actually run something like llama.cpp on one of these machines, you're hit with a wall of flags: thread count, batch size, context depth, KV-cache precision, Flash Attention on or off, and a dozen quantized model variants to choose from. Without a principled way to navigate that space, people are left with trial and error and forum folklore. That's the gap this thesis tries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llama.cpp not because it's the fastest CPU inference engine in every configuration, but because it's the most parametrically exposed one. Three reasons. First, its GGML backend ships hand-written SIMD kernels for x86 and ARM, so the exact same benchmark script runs unmodified on a modern AMD laptop chip, a decade-old Intel Pentium, and an ARM Cortex-A57 board. Second, one tool — llama-bench — exposes threads, context depth, batch size, KV-cache quantization, and Flash Attention as simple command-line flags and emits clean structured output. No other CPU inference stack gives you this many independent knobs through one stable interface. Third, the GGUF ecosystem means pre-quantized weights exist for essentially every model I'd want, from two bits to eight, in both legacy and newer K-quant formats — which let me treat quantization format itself as an experimental variable, not just a fixed implementation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model families matter here. Dense models — like Qwen or Llama — activate every parameter on every single token. Mixture-of-Experts models replace that with a bank of experts and a router that only activates a handful of them per token — so a 14-billion-parameter model might only touch 2.7 billion parameters to generate one word. On a GPU, where the whole model sits in fast VRAM, that distinction matters less. On a CPU at batch size one — the realistic single-user case — generation is memory-bandwidth-bound, as I'll show you directly. Under that regime, a dense model has to stream its entire weight set from RAM for every token, while an MoE model only streams the experts it actually selected. That's the theoretical hook for this whole thesis. My contributions are: an empirical characterization of four hardware effects across real devices, a roofline-style model that explains them with a handful of calibration constants, an extension of that model to the MoE case, and a public web calculator that implements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benchmarked four machines, chosen opportunistically from what I had access to, spanning roughly a seventy-times range in raw generation speed. A mid-range AMD Ryzen 5 5600H laptop with dual-channel DDR4 — compute-rich. A low-end Intel Pentium Gold desktop with a single memory channel and just 4 gigabytes of RAM — bandwidth-starved. An NVIDIA Jetson Nano, an embedded ARM board with shared LPDDR4 memory. And a Raspberry Pi 3B, which I'll be upfront about: its benchmark run never completed — the output file has zero usable rows, so it does not appear in any result I'll show you. Everything ran through a resumable harness I built around llama-bench: three to five repetitions per configuration, coefficient of variation under 5% in every case I report, and a row-count-based checkpoint system, because these were multi-hour runs on hardware that wasn't dedicated to benchmarking — a laptop that gets closed, a family desktop that gets used for other things. My first, naive design didn't handle interruption well; it re-ran the same measurements over and over. The second design fixed that, and it's the one behind every number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first finding, and it surprised me the most. You'd expect adding CPU threads to always help, or at worst plateau. On several machines, it doesn't — performance rises, peaks, and then gets worse. This is retrograde scaling, and classical Amdahl's Law can't produce that hump — it only predicts rise-then-flatten. Gunther's Universal Scalability Law can, because it adds a term for threads fighting over shared memory and cache lines. On the Ryzen laptop, prompt processing is compute-bound: it saturates right around 6 threads — exactly the chip's physical core count — even though the chip advertises 12 logical threads via hyperthreading. Going from 6 to 8 threads bought almost nothing. Generation tells a different story: it peaks at 4 threads, then drops at 6, before a small partial recovery. Generating each token means re-reading the entire model from RAM, so adding threads to a memory-bound task just adds competitors fighting over the same pipe. On the cheap Pentium desktop this is brutal: generation falls in a straight line as you add threads, 32% slower at 8 threads than at 1. There, single-threaded is simply optimal.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clearest illustration of this comes from the Jetson Nano, where I ran the same sweep on two very differently sized models. Prompt processing speeds up with more threads for both models — that makes sense, it's compute-bound work you can split across cores regardless of model size. Generation is where they diverge completely. The small, 1.5-billion-parameter model's generation speed scales up almost linearly with threads — three times faster going from 1 to 4 threads. The large, 7-billion-parameter model barely moves at all, from 0.041 to 0.039 tokens per second — adding threads does essentially nothing. The mechanism is the same memory-bandwidth story, just made vivid: even a single thread running the 7B model already saturates the Jetson's roughly 25 gigabytes per second of memory bandwidth. There's nothing left for more threads to use. This is the single clearest piece of evidence in my whole dataset that for generation speed, what matters is how many bytes of the model have to move through memory per word — not how many threads you throw at it. And that idea is exactly what motivates the Mixture-of-Experts argument later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Flash Attention is a well-known GPU optimization that restructures attention math to avoid slow trips to GPU memory. It was never designed for CPUs, which manage their cache hierarchy completely differently. My data shows it doesn't just fail to help on CPU — it actively hurts, and badly at long context. On the Ryzen laptop, at a short prompt, Flash Attention makes basically no difference. At a medium prompt of about 3,500 tokens, generation is already 18% slower. At a long prompt of about 15,800 tokens — roughly a long article — turning it on drops generation from 2.09 down to 0.67 tokens per second: about a third of normal speed. My explanation: Flash Attention's benefit comes from avoiding slow trips to memory by doing more work per trip. On this CPU, the relevant data already fits in the large L3 cache, so there was little slow-memory traffic to save — and the restructuring itself carries a real computational cost. Practical takeaway: with long prompts or long conversations on CPU, turn Flash Attention off. Many front-ends enable it by default, which is actively counterproductive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KV cache — the model's running memory of the conversation so far. It grows as conversation length grows, and quantizing it is a common trick to save RAM. The intuition is that a smaller cache should also be faster. My data says otherwise, at least here. On the Ryzen laptop at 1 thread, every quantized-KV configuration I tested was slower than the unquantized baseline, for both prompt processing and generation — and the gap widens, not narrows, as the conversation grows. At medium context length, one format was 4 times slower for prompt processing. Why would a smaller cache ever be slower? Because reading a quantized value isn't free — the CPU must do extra arithmetic to convert it back to a usable number, and on a single thread with compute cycles to spare, that arithmetic costs more than the smaller footprint saves. This configuration is compute-bound, not memory-bound, so a trick built to save memory traffic is pure overhead. I'd predict the opposite result on a more memory-starved device, but I haven't tested that combination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tempting to think about quantization purely as bits per weight — fewer bits, smaller, faster. My data says that's not the whole story. On the Pentium desktop, I benchmarked three quantizations of the same model at 1 thread. Q4_K_M processed the prompt at 0.49 tokens per second. Q4_0 — an older, simpler format at the exact same 4-bit width — hit 1.78 tokens per second. That's 3.6 times faster, same bit-width. And Q3_K_M, which uses fewer bits than either, was actually the slowest of the three, at 0.42. The ordering doesn't follow bit-width at all. My best explanation: Q4_0 uses a simple, evenly-spaced layout that maps neatly onto a fast CPU instruction sequence. The newer K-quant formats pack bits more cleverly to squeeze out better quality per bit, but that requires a more complicated unpacking step every time a weight is read — and on a CPU that lacks certain modern vector instructions, that unpacking cost can outweigh the benefit of the smaller file. So the practical rule: on older hardware without AVX-512, don't assume the newer quantization format is the faster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the central hypothesis of the thesis, and I want to be very upfront: it is not yet confirmed on my own hardware. I staged three Mixture-of-Experts models in the benchmarking harness, but none of the phases that would have exercised them finished before time ran out on any device. So the bytes-per-token argument — that MoE models should be disproportionately advantaged on bandwidth-starved CPUs because they stream a fraction of their weights per token — is a hypothesis derived from the dense-model bandwidth mechanics I did measure, not a directly confirmed result. I did find one external, verifiable data point: KTransformers published a CPU-only benchmark of a 671-billion-parameter MoE model achieving 4.51 tokens per second on a 64-core server. That's directionally consistent with my hypothesis, but it's a single data point on a model roughly 80 times larger than anything I staged, on server hardware nothing like my fleet. Directly benchmarking my own MoE models against dense equivalents is the single most important next experiment for this line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these effects fit together? I formalized them into one model. Prompt processing is USL-scaled single-thread throughput — the same curve as the thread-scaling slide. Generation is a roofline: the lesser of that compute curve or a hard bandwidth ceiling, because whichever constraint binds first is what you observe. For a dense model, bytes streamed per token is essentially the whole quantized model size; for MoE, it's just the selected experts plus shared layers. That's the formal version of the earlier argument: for two models of similar quality, the MoE model's throughput ceiling should be higher by roughly the ratio of total to active parameters, whenever generation is bandwidth-bound — which my data shows is the common case on constrained CPUs. A concrete calibration: for the Ryzen running a 7-billion-parameter model, single-thread baselines are 7.81 and 3.95 tokens per second. I fit the USL contention coefficients from the thread sweep and back out an effective bandwidth of about 41 gigabytes per second — around 80% of theoretical peak, consistent with sustained bandwidth. At 6 threads, the model predicts 26.2 tokens per second for prefill and 8.12 for generation. Measured values were 25.15 and 6.90 — within 4% and 18%, from just five calibration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concretely, what should you do running llama.cpp on CPU? Six recommendations. One: turn Flash Attention off at long context — many front-ends enable it by default. Two: don't quantize the KV cache on compute-rich CPUs — use full-precision f16 unless you're on genuinely bandwidth-starved hardware. Three: set thread count to the physical core count, not the logical count — hyperthreads buy nothing for prefill and hurt generation. Four: on bandwidth-starved chips like the Pentium, single-threaded generation may be optimal — check before assuming more threads help. Five: on legacy CPUs without AVX-512, prefer simpler formats like Q4_0 for speed, K-quants only if quality matters more. Six — and I'll flag this as provisional — prefer MoE models on bandwidth-starved hardware, since the roofline model predicts they'll be disproportionately advantaged there. That last one is a hypothesis to test on your own hardware, not a settled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honest about scope, because that matters as much as the results. Three limitations. First, the model is calibrated, not derived — I fit constants separately for three devices from a handful of local measurements, without regressing them against raw hardware specs in a way that predicts a fourth device without measuring it first. This thesis delivers a cheaper way to calibrate — roughly six measurements instead of a full grid search — not a way to skip calibration entirely. Second, the MoE prediction, the most consequential claim here, was never confirmed on my own hardware. Third, every finding comes from one inference engine, llama.cpp — I can't tell you whether the quantization-format anomaly reflects the hardware and the underlying math, or an artifact of how this engine dispatches its kernels. None of this discounts the findings — every effect I've shown is a real, reproducible measurement — but it bounds what I can honestly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Near-term, five things: expand the hardware fleet — I especially want a working Raspberry Pi, an AVX-512 chip, and an Apple Silicon Mac. Actually run the MoE benchmarks to completion. Replace literature-based perplexity numbers with my own local measurements. Investigate CPU pinning and NUMA effects. And test Flash Attention and KV-cache quantization specifically on the bandwidth-starved machines, to check whether the predicted sign-flip actually happens there. Longer-term, the most ambitious direction is turning per-device calibration into a true zero-shot predictor — one that takes a CPU's raw specs and outputs its constants without ever touching the hardware — which would need on the order of twenty to thirty calibrated devices, ideally contributed by a community rather than one person's personal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four consumer and embedded CPUs, three of which gave me usable data, were enough to recover four concrete, reproducible effects governing CPU-only LLM inference — compute-bound prefill that follows a scalability law, memory-bound generation that can get slower as you add threads, quantization choices whose speed impact flips depending on the device, and a Flash Attention regression at long context. I formalized these into a roofline model that predicts measured Ryzen throughput within 4 to 18%, and converted it into concrete, device-aware advice. The model's most interesting prediction — that MoE models should be structurally favored on exactly this kind of hardware — remains the clearest next step.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47"/>
        </a:solidFill>
      </p:bgPr>
    </p:bg>
    <p:spTree>
      <p:nvGrpSpPr>
        <p:cNvPr id="1" name=""/>
        <p:cNvGrpSpPr/>
        <p:nvPr/>
      </p:nvGrpSpPr>
      <p:grpSpPr>
        <a:xfrm>
          <a:off x="0" y="0"/>
          <a:ext cx="0" cy="0"/>
          <a:chOff x="0" y="0"/>
          <a:chExt cx="0" cy="0"/>
        </a:xfrm>
      </p:grpSpPr>
      <p:sp>
        <p:nvSpPr>
          <p:cNvPr id="2" name="Shape 0"/>
          <p:cNvSpPr/>
          <p:nvPr/>
        </p:nvSpPr>
        <p:spPr>
          <a:xfrm>
            <a:off x="8961120" y="5120640"/>
            <a:ext cx="82296" cy="82296"/>
          </a:xfrm>
          <a:prstGeom prst="ellipse">
            <a:avLst/>
          </a:prstGeom>
          <a:solidFill>
            <a:srgbClr val="1F8A9E"/>
          </a:solidFill>
          <a:ln/>
        </p:spPr>
      </p:sp>
      <p:sp>
        <p:nvSpPr>
          <p:cNvPr id="3" name="Shape 1"/>
          <p:cNvSpPr/>
          <p:nvPr/>
        </p:nvSpPr>
        <p:spPr>
          <a:xfrm>
            <a:off x="9372600" y="5120640"/>
            <a:ext cx="82296" cy="82296"/>
          </a:xfrm>
          <a:prstGeom prst="ellipse">
            <a:avLst/>
          </a:prstGeom>
          <a:solidFill>
            <a:srgbClr val="1F8A9E"/>
          </a:solidFill>
          <a:ln/>
        </p:spPr>
      </p:sp>
      <p:sp>
        <p:nvSpPr>
          <p:cNvPr id="4" name="Shape 2"/>
          <p:cNvSpPr/>
          <p:nvPr/>
        </p:nvSpPr>
        <p:spPr>
          <a:xfrm>
            <a:off x="9784080" y="5120640"/>
            <a:ext cx="82296" cy="82296"/>
          </a:xfrm>
          <a:prstGeom prst="ellipse">
            <a:avLst/>
          </a:prstGeom>
          <a:solidFill>
            <a:srgbClr val="1F8A9E"/>
          </a:solidFill>
          <a:ln/>
        </p:spPr>
      </p:sp>
      <p:sp>
        <p:nvSpPr>
          <p:cNvPr id="5" name="Shape 3"/>
          <p:cNvSpPr/>
          <p:nvPr/>
        </p:nvSpPr>
        <p:spPr>
          <a:xfrm>
            <a:off x="8961120" y="5532120"/>
            <a:ext cx="82296" cy="82296"/>
          </a:xfrm>
          <a:prstGeom prst="ellipse">
            <a:avLst/>
          </a:prstGeom>
          <a:solidFill>
            <a:srgbClr val="1F8A9E"/>
          </a:solidFill>
          <a:ln/>
        </p:spPr>
      </p:sp>
      <p:sp>
        <p:nvSpPr>
          <p:cNvPr id="6" name="Shape 4"/>
          <p:cNvSpPr/>
          <p:nvPr/>
        </p:nvSpPr>
        <p:spPr>
          <a:xfrm>
            <a:off x="9372600" y="5532120"/>
            <a:ext cx="82296" cy="82296"/>
          </a:xfrm>
          <a:prstGeom prst="ellipse">
            <a:avLst/>
          </a:prstGeom>
          <a:solidFill>
            <a:srgbClr val="1F8A9E"/>
          </a:solidFill>
          <a:ln/>
        </p:spPr>
      </p:sp>
      <p:sp>
        <p:nvSpPr>
          <p:cNvPr id="7" name="Shape 5"/>
          <p:cNvSpPr/>
          <p:nvPr/>
        </p:nvSpPr>
        <p:spPr>
          <a:xfrm>
            <a:off x="9784080" y="5532120"/>
            <a:ext cx="82296" cy="82296"/>
          </a:xfrm>
          <a:prstGeom prst="ellipse">
            <a:avLst/>
          </a:prstGeom>
          <a:solidFill>
            <a:srgbClr val="1F8A9E"/>
          </a:solidFill>
          <a:ln/>
        </p:spPr>
      </p:sp>
      <p:sp>
        <p:nvSpPr>
          <p:cNvPr id="8" name="Text 6"/>
          <p:cNvSpPr/>
          <p:nvPr/>
        </p:nvSpPr>
        <p:spPr>
          <a:xfrm>
            <a:off x="822960" y="1280160"/>
            <a:ext cx="7315200" cy="365760"/>
          </a:xfrm>
          <a:prstGeom prst="rect">
            <a:avLst/>
          </a:prstGeom>
          <a:noFill/>
          <a:ln/>
        </p:spPr>
        <p:txBody>
          <a:bodyPr wrap="square" lIns="0" tIns="0" rIns="0" bIns="0" rtlCol="0" anchor="ctr"/>
          <a:lstStyle/>
          <a:p>
            <a:pPr indent="0" marL="0">
              <a:buNone/>
            </a:pPr>
            <a:r>
              <a:rPr lang="en-US" sz="1300" b="1" spc="300" kern="0" dirty="0">
                <a:solidFill>
                  <a:srgbClr val="E8A33D"/>
                </a:solidFill>
                <a:latin typeface="Calibri" pitchFamily="34" charset="0"/>
                <a:ea typeface="Calibri" pitchFamily="34" charset="-122"/>
                <a:cs typeface="Calibri" pitchFamily="34" charset="-120"/>
              </a:rPr>
              <a:t>MASTER'S THESIS DEFENSE</a:t>
            </a:r>
            <a:endParaRPr lang="en-US" sz="1300" dirty="0"/>
          </a:p>
        </p:txBody>
      </p:sp>
      <p:sp>
        <p:nvSpPr>
          <p:cNvPr id="9" name="Text 7"/>
          <p:cNvSpPr/>
          <p:nvPr/>
        </p:nvSpPr>
        <p:spPr>
          <a:xfrm>
            <a:off x="822960" y="1691640"/>
            <a:ext cx="10241280" cy="19202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Toward Hardware-Adaptive Pareto Fronts</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for CPU-Only LLM Inference</a:t>
            </a:r>
            <a:endParaRPr lang="en-US" sz="4000" dirty="0"/>
          </a:p>
        </p:txBody>
      </p:sp>
      <p:sp>
        <p:nvSpPr>
          <p:cNvPr id="10" name="Text 8"/>
          <p:cNvSpPr/>
          <p:nvPr/>
        </p:nvSpPr>
        <p:spPr>
          <a:xfrm>
            <a:off x="822960" y="3703320"/>
            <a:ext cx="9601200" cy="640080"/>
          </a:xfrm>
          <a:prstGeom prst="rect">
            <a:avLst/>
          </a:prstGeom>
          <a:noFill/>
          <a:ln/>
        </p:spPr>
        <p:txBody>
          <a:bodyPr wrap="square" lIns="0" tIns="0" rIns="0" bIns="0" rtlCol="0" anchor="ctr"/>
          <a:lstStyle/>
          <a:p>
            <a:pPr indent="0" marL="0">
              <a:buNone/>
            </a:pPr>
            <a:r>
              <a:rPr lang="en-US" sz="1800" i="1" dirty="0">
                <a:solidFill>
                  <a:srgbClr val="DCEFF2"/>
                </a:solidFill>
                <a:latin typeface="Calibri" pitchFamily="34" charset="0"/>
                <a:ea typeface="Calibri" pitchFamily="34" charset="-122"/>
                <a:cs typeface="Calibri" pitchFamily="34" charset="-120"/>
              </a:rPr>
              <a:t>An Empirical Study of llama.cpp Across Four Heterogeneous Devices</a:t>
            </a:r>
            <a:endParaRPr lang="en-US" sz="1800" dirty="0"/>
          </a:p>
        </p:txBody>
      </p:sp>
      <p:sp>
        <p:nvSpPr>
          <p:cNvPr id="11" name="Shape 9"/>
          <p:cNvSpPr/>
          <p:nvPr/>
        </p:nvSpPr>
        <p:spPr>
          <a:xfrm>
            <a:off x="822960" y="4526280"/>
            <a:ext cx="2926080" cy="0"/>
          </a:xfrm>
          <a:prstGeom prst="line">
            <a:avLst/>
          </a:prstGeom>
          <a:noFill/>
          <a:ln w="25400">
            <a:solidFill>
              <a:srgbClr val="1F8A9E"/>
            </a:solidFill>
            <a:prstDash val="solid"/>
          </a:ln>
        </p:spPr>
      </p:sp>
      <p:sp>
        <p:nvSpPr>
          <p:cNvPr id="12" name="Text 10"/>
          <p:cNvSpPr/>
          <p:nvPr/>
        </p:nvSpPr>
        <p:spPr>
          <a:xfrm>
            <a:off x="822960" y="4709160"/>
            <a:ext cx="54864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Yassine</a:t>
            </a:r>
            <a:endParaRPr lang="en-US" sz="1500" dirty="0"/>
          </a:p>
        </p:txBody>
      </p:sp>
      <p:sp>
        <p:nvSpPr>
          <p:cNvPr id="13" name="Text 11"/>
          <p:cNvSpPr/>
          <p:nvPr/>
        </p:nvSpPr>
        <p:spPr>
          <a:xfrm>
            <a:off x="822960" y="5074920"/>
            <a:ext cx="5486400" cy="320040"/>
          </a:xfrm>
          <a:prstGeom prst="rect">
            <a:avLst/>
          </a:prstGeom>
          <a:noFill/>
          <a:ln/>
        </p:spPr>
        <p:txBody>
          <a:bodyPr wrap="square" lIns="0" tIns="0" rIns="0" bIns="0" rtlCol="0" anchor="ctr"/>
          <a:lstStyle/>
          <a:p>
            <a:pPr indent="0" marL="0">
              <a:buNone/>
            </a:pPr>
            <a:r>
              <a:rPr lang="en-US" sz="1300" dirty="0">
                <a:solidFill>
                  <a:srgbClr val="5B6675"/>
                </a:solidFill>
                <a:latin typeface="Calibri" pitchFamily="34" charset="0"/>
                <a:ea typeface="Calibri" pitchFamily="34" charset="-122"/>
                <a:cs typeface="Calibri" pitchFamily="34" charset="-120"/>
              </a:rPr>
              <a:t>August 18,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MOTIVATION</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The GPU-less majority</a:t>
            </a:r>
            <a:endParaRPr lang="en-US" sz="3000" dirty="0"/>
          </a:p>
        </p:txBody>
      </p:sp>
      <p:sp>
        <p:nvSpPr>
          <p:cNvPr id="4" name="Text 2"/>
          <p:cNvSpPr/>
          <p:nvPr/>
        </p:nvSpPr>
        <p:spPr>
          <a:xfrm>
            <a:off x="548640" y="1508760"/>
            <a:ext cx="6492240" cy="822960"/>
          </a:xfrm>
          <a:prstGeom prst="rect">
            <a:avLst/>
          </a:prstGeom>
          <a:noFill/>
          <a:ln/>
        </p:spPr>
        <p:txBody>
          <a:bodyPr wrap="square" lIns="0" tIns="0" rIns="0" bIns="0" rtlCol="0" anchor="ctr"/>
          <a:lstStyle/>
          <a:p>
            <a:pPr indent="0" marL="0">
              <a:lnSpc>
                <a:spcPts val="2100"/>
              </a:lnSpc>
              <a:buNone/>
            </a:pPr>
            <a:r>
              <a:rPr lang="en-US" sz="1500" dirty="0">
                <a:solidFill>
                  <a:srgbClr val="1B2430"/>
                </a:solidFill>
                <a:latin typeface="Calibri" pitchFamily="34" charset="0"/>
                <a:ea typeface="Calibri" pitchFamily="34" charset="-122"/>
                <a:cs typeface="Calibri" pitchFamily="34" charset="-120"/>
              </a:rPr>
              <a:t>Most machines people actually own have no usable GPU for LLM inference — or one too small to hold even a modest model.</a:t>
            </a:r>
            <a:endParaRPr lang="en-US" sz="1500" dirty="0"/>
          </a:p>
        </p:txBody>
      </p:sp>
      <p:sp>
        <p:nvSpPr>
          <p:cNvPr id="5" name="Shape 3"/>
          <p:cNvSpPr/>
          <p:nvPr/>
        </p:nvSpPr>
        <p:spPr>
          <a:xfrm>
            <a:off x="548640" y="2468880"/>
            <a:ext cx="146304" cy="146304"/>
          </a:xfrm>
          <a:prstGeom prst="ellipse">
            <a:avLst/>
          </a:prstGeom>
          <a:solidFill>
            <a:srgbClr val="1F8A9E"/>
          </a:solidFill>
          <a:ln/>
        </p:spPr>
      </p:sp>
      <p:sp>
        <p:nvSpPr>
          <p:cNvPr id="6" name="Text 4"/>
          <p:cNvSpPr/>
          <p:nvPr/>
        </p:nvSpPr>
        <p:spPr>
          <a:xfrm>
            <a:off x="868680" y="2340864"/>
            <a:ext cx="4023360" cy="320040"/>
          </a:xfrm>
          <a:prstGeom prst="rect">
            <a:avLst/>
          </a:prstGeom>
          <a:noFill/>
          <a:ln/>
        </p:spPr>
        <p:txBody>
          <a:bodyPr wrap="square" lIns="0" tIns="0" rIns="0" bIns="0" rtlCol="0" anchor="ctr"/>
          <a:lstStyle/>
          <a:p>
            <a:pPr indent="0" marL="0">
              <a:buNone/>
            </a:pPr>
            <a:r>
              <a:rPr lang="en-US" sz="1450" b="1" dirty="0">
                <a:solidFill>
                  <a:srgbClr val="162447"/>
                </a:solidFill>
                <a:latin typeface="Calibri" pitchFamily="34" charset="0"/>
                <a:ea typeface="Calibri" pitchFamily="34" charset="-122"/>
                <a:cs typeface="Calibri" pitchFamily="34" charset="-120"/>
              </a:rPr>
              <a:t>Aging office laptops</a:t>
            </a:r>
            <a:endParaRPr lang="en-US" sz="1450" dirty="0"/>
          </a:p>
        </p:txBody>
      </p:sp>
      <p:sp>
        <p:nvSpPr>
          <p:cNvPr id="7" name="Text 5"/>
          <p:cNvSpPr/>
          <p:nvPr/>
        </p:nvSpPr>
        <p:spPr>
          <a:xfrm>
            <a:off x="868680" y="2642616"/>
            <a:ext cx="5760720" cy="274320"/>
          </a:xfrm>
          <a:prstGeom prst="rect">
            <a:avLst/>
          </a:prstGeom>
          <a:noFill/>
          <a:ln/>
        </p:spPr>
        <p:txBody>
          <a:bodyPr wrap="square" lIns="0" tIns="0" rIns="0" bIns="0" rtlCol="0" anchor="ctr"/>
          <a:lstStyle/>
          <a:p>
            <a:pPr indent="0" marL="0">
              <a:buNone/>
            </a:pPr>
            <a:r>
              <a:rPr lang="en-US" sz="1200" dirty="0">
                <a:solidFill>
                  <a:srgbClr val="5B6675"/>
                </a:solidFill>
                <a:latin typeface="Calibri" pitchFamily="34" charset="0"/>
                <a:ea typeface="Calibri" pitchFamily="34" charset="-122"/>
                <a:cs typeface="Calibri" pitchFamily="34" charset="-120"/>
              </a:rPr>
              <a:t>Bought for browsing, not compute</a:t>
            </a:r>
            <a:endParaRPr lang="en-US" sz="1200" dirty="0"/>
          </a:p>
        </p:txBody>
      </p:sp>
      <p:sp>
        <p:nvSpPr>
          <p:cNvPr id="8" name="Shape 6"/>
          <p:cNvSpPr/>
          <p:nvPr/>
        </p:nvSpPr>
        <p:spPr>
          <a:xfrm>
            <a:off x="548640" y="3182112"/>
            <a:ext cx="146304" cy="146304"/>
          </a:xfrm>
          <a:prstGeom prst="ellipse">
            <a:avLst/>
          </a:prstGeom>
          <a:solidFill>
            <a:srgbClr val="1F8A9E"/>
          </a:solidFill>
          <a:ln/>
        </p:spPr>
      </p:sp>
      <p:sp>
        <p:nvSpPr>
          <p:cNvPr id="9" name="Text 7"/>
          <p:cNvSpPr/>
          <p:nvPr/>
        </p:nvSpPr>
        <p:spPr>
          <a:xfrm>
            <a:off x="868680" y="3054096"/>
            <a:ext cx="4023360" cy="320040"/>
          </a:xfrm>
          <a:prstGeom prst="rect">
            <a:avLst/>
          </a:prstGeom>
          <a:noFill/>
          <a:ln/>
        </p:spPr>
        <p:txBody>
          <a:bodyPr wrap="square" lIns="0" tIns="0" rIns="0" bIns="0" rtlCol="0" anchor="ctr"/>
          <a:lstStyle/>
          <a:p>
            <a:pPr indent="0" marL="0">
              <a:buNone/>
            </a:pPr>
            <a:r>
              <a:rPr lang="en-US" sz="1450" b="1" dirty="0">
                <a:solidFill>
                  <a:srgbClr val="162447"/>
                </a:solidFill>
                <a:latin typeface="Calibri" pitchFamily="34" charset="0"/>
                <a:ea typeface="Calibri" pitchFamily="34" charset="-122"/>
                <a:cs typeface="Calibri" pitchFamily="34" charset="-120"/>
              </a:rPr>
              <a:t>Hand-me-down desktops</a:t>
            </a:r>
            <a:endParaRPr lang="en-US" sz="1450" dirty="0"/>
          </a:p>
        </p:txBody>
      </p:sp>
      <p:sp>
        <p:nvSpPr>
          <p:cNvPr id="10" name="Text 8"/>
          <p:cNvSpPr/>
          <p:nvPr/>
        </p:nvSpPr>
        <p:spPr>
          <a:xfrm>
            <a:off x="868680" y="3355848"/>
            <a:ext cx="5760720" cy="274320"/>
          </a:xfrm>
          <a:prstGeom prst="rect">
            <a:avLst/>
          </a:prstGeom>
          <a:noFill/>
          <a:ln/>
        </p:spPr>
        <p:txBody>
          <a:bodyPr wrap="square" lIns="0" tIns="0" rIns="0" bIns="0" rtlCol="0" anchor="ctr"/>
          <a:lstStyle/>
          <a:p>
            <a:pPr indent="0" marL="0">
              <a:buNone/>
            </a:pPr>
            <a:r>
              <a:rPr lang="en-US" sz="1200" dirty="0">
                <a:solidFill>
                  <a:srgbClr val="5B6675"/>
                </a:solidFill>
                <a:latin typeface="Calibri" pitchFamily="34" charset="0"/>
                <a:ea typeface="Calibri" pitchFamily="34" charset="-122"/>
                <a:cs typeface="Calibri" pitchFamily="34" charset="-120"/>
              </a:rPr>
              <a:t>No discrete accelerator</a:t>
            </a:r>
            <a:endParaRPr lang="en-US" sz="1200" dirty="0"/>
          </a:p>
        </p:txBody>
      </p:sp>
      <p:sp>
        <p:nvSpPr>
          <p:cNvPr id="11" name="Shape 9"/>
          <p:cNvSpPr/>
          <p:nvPr/>
        </p:nvSpPr>
        <p:spPr>
          <a:xfrm>
            <a:off x="548640" y="3895344"/>
            <a:ext cx="146304" cy="146304"/>
          </a:xfrm>
          <a:prstGeom prst="ellipse">
            <a:avLst/>
          </a:prstGeom>
          <a:solidFill>
            <a:srgbClr val="1F8A9E"/>
          </a:solidFill>
          <a:ln/>
        </p:spPr>
      </p:sp>
      <p:sp>
        <p:nvSpPr>
          <p:cNvPr id="12" name="Text 10"/>
          <p:cNvSpPr/>
          <p:nvPr/>
        </p:nvSpPr>
        <p:spPr>
          <a:xfrm>
            <a:off x="868680" y="3767328"/>
            <a:ext cx="4023360" cy="320040"/>
          </a:xfrm>
          <a:prstGeom prst="rect">
            <a:avLst/>
          </a:prstGeom>
          <a:noFill/>
          <a:ln/>
        </p:spPr>
        <p:txBody>
          <a:bodyPr wrap="square" lIns="0" tIns="0" rIns="0" bIns="0" rtlCol="0" anchor="ctr"/>
          <a:lstStyle/>
          <a:p>
            <a:pPr indent="0" marL="0">
              <a:buNone/>
            </a:pPr>
            <a:r>
              <a:rPr lang="en-US" sz="1450" b="1" dirty="0">
                <a:solidFill>
                  <a:srgbClr val="162447"/>
                </a:solidFill>
                <a:latin typeface="Calibri" pitchFamily="34" charset="0"/>
                <a:ea typeface="Calibri" pitchFamily="34" charset="-122"/>
                <a:cs typeface="Calibri" pitchFamily="34" charset="-120"/>
              </a:rPr>
              <a:t>Single-board computers</a:t>
            </a:r>
            <a:endParaRPr lang="en-US" sz="1450" dirty="0"/>
          </a:p>
        </p:txBody>
      </p:sp>
      <p:sp>
        <p:nvSpPr>
          <p:cNvPr id="13" name="Text 11"/>
          <p:cNvSpPr/>
          <p:nvPr/>
        </p:nvSpPr>
        <p:spPr>
          <a:xfrm>
            <a:off x="868680" y="4069080"/>
            <a:ext cx="5760720" cy="274320"/>
          </a:xfrm>
          <a:prstGeom prst="rect">
            <a:avLst/>
          </a:prstGeom>
          <a:noFill/>
          <a:ln/>
        </p:spPr>
        <p:txBody>
          <a:bodyPr wrap="square" lIns="0" tIns="0" rIns="0" bIns="0" rtlCol="0" anchor="ctr"/>
          <a:lstStyle/>
          <a:p>
            <a:pPr indent="0" marL="0">
              <a:buNone/>
            </a:pPr>
            <a:r>
              <a:rPr lang="en-US" sz="1200" dirty="0">
                <a:solidFill>
                  <a:srgbClr val="5B6675"/>
                </a:solidFill>
                <a:latin typeface="Calibri" pitchFamily="34" charset="0"/>
                <a:ea typeface="Calibri" pitchFamily="34" charset="-122"/>
                <a:cs typeface="Calibri" pitchFamily="34" charset="-120"/>
              </a:rPr>
              <a:t>Raspberry Pi and similar</a:t>
            </a:r>
            <a:endParaRPr lang="en-US" sz="1200" dirty="0"/>
          </a:p>
        </p:txBody>
      </p:sp>
      <p:sp>
        <p:nvSpPr>
          <p:cNvPr id="14" name="Shape 12"/>
          <p:cNvSpPr/>
          <p:nvPr/>
        </p:nvSpPr>
        <p:spPr>
          <a:xfrm>
            <a:off x="548640" y="4608576"/>
            <a:ext cx="146304" cy="146304"/>
          </a:xfrm>
          <a:prstGeom prst="ellipse">
            <a:avLst/>
          </a:prstGeom>
          <a:solidFill>
            <a:srgbClr val="1F8A9E"/>
          </a:solidFill>
          <a:ln/>
        </p:spPr>
      </p:sp>
      <p:sp>
        <p:nvSpPr>
          <p:cNvPr id="15" name="Text 13"/>
          <p:cNvSpPr/>
          <p:nvPr/>
        </p:nvSpPr>
        <p:spPr>
          <a:xfrm>
            <a:off x="868680" y="4480560"/>
            <a:ext cx="4023360" cy="320040"/>
          </a:xfrm>
          <a:prstGeom prst="rect">
            <a:avLst/>
          </a:prstGeom>
          <a:noFill/>
          <a:ln/>
        </p:spPr>
        <p:txBody>
          <a:bodyPr wrap="square" lIns="0" tIns="0" rIns="0" bIns="0" rtlCol="0" anchor="ctr"/>
          <a:lstStyle/>
          <a:p>
            <a:pPr indent="0" marL="0">
              <a:buNone/>
            </a:pPr>
            <a:r>
              <a:rPr lang="en-US" sz="1450" b="1" dirty="0">
                <a:solidFill>
                  <a:srgbClr val="162447"/>
                </a:solidFill>
                <a:latin typeface="Calibri" pitchFamily="34" charset="0"/>
                <a:ea typeface="Calibri" pitchFamily="34" charset="-122"/>
                <a:cs typeface="Calibri" pitchFamily="34" charset="-120"/>
              </a:rPr>
              <a:t>Embedded edge boards</a:t>
            </a:r>
            <a:endParaRPr lang="en-US" sz="1450" dirty="0"/>
          </a:p>
        </p:txBody>
      </p:sp>
      <p:sp>
        <p:nvSpPr>
          <p:cNvPr id="16" name="Text 14"/>
          <p:cNvSpPr/>
          <p:nvPr/>
        </p:nvSpPr>
        <p:spPr>
          <a:xfrm>
            <a:off x="868680" y="4782312"/>
            <a:ext cx="5760720" cy="274320"/>
          </a:xfrm>
          <a:prstGeom prst="rect">
            <a:avLst/>
          </a:prstGeom>
          <a:noFill/>
          <a:ln/>
        </p:spPr>
        <p:txBody>
          <a:bodyPr wrap="square" lIns="0" tIns="0" rIns="0" bIns="0" rtlCol="0" anchor="ctr"/>
          <a:lstStyle/>
          <a:p>
            <a:pPr indent="0" marL="0">
              <a:buNone/>
            </a:pPr>
            <a:r>
              <a:rPr lang="en-US" sz="1200" dirty="0">
                <a:solidFill>
                  <a:srgbClr val="5B6675"/>
                </a:solidFill>
                <a:latin typeface="Calibri" pitchFamily="34" charset="0"/>
                <a:ea typeface="Calibri" pitchFamily="34" charset="-122"/>
                <a:cs typeface="Calibri" pitchFamily="34" charset="-120"/>
              </a:rPr>
              <a:t>e.g. NVIDIA Jetson Nano</a:t>
            </a:r>
            <a:endParaRPr lang="en-US" sz="1200" dirty="0"/>
          </a:p>
        </p:txBody>
      </p:sp>
      <p:sp>
        <p:nvSpPr>
          <p:cNvPr id="17" name="Shape 15"/>
          <p:cNvSpPr/>
          <p:nvPr/>
        </p:nvSpPr>
        <p:spPr>
          <a:xfrm>
            <a:off x="7406640" y="1508760"/>
            <a:ext cx="4206240" cy="3931920"/>
          </a:xfrm>
          <a:prstGeom prst="roundRect">
            <a:avLst>
              <a:gd name="adj" fmla="val 2326"/>
            </a:avLst>
          </a:prstGeom>
          <a:solidFill>
            <a:srgbClr val="162447"/>
          </a:solidFill>
          <a:ln/>
          <a:effectLst>
            <a:outerShdw sx="100000" sy="100000" kx="0" ky="0" algn="bl" rotWithShape="0" blurRad="101600" dist="38100" dir="5400000">
              <a:srgbClr val="000000">
                <a:alpha val="25000"/>
              </a:srgbClr>
            </a:outerShdw>
          </a:effectLst>
        </p:spPr>
      </p:sp>
      <p:sp>
        <p:nvSpPr>
          <p:cNvPr id="18" name="Text 16"/>
          <p:cNvSpPr/>
          <p:nvPr/>
        </p:nvSpPr>
        <p:spPr>
          <a:xfrm>
            <a:off x="7772400" y="1828800"/>
            <a:ext cx="3474720" cy="320040"/>
          </a:xfrm>
          <a:prstGeom prst="rect">
            <a:avLst/>
          </a:prstGeom>
          <a:noFill/>
          <a:ln/>
        </p:spPr>
        <p:txBody>
          <a:bodyPr wrap="square" lIns="0" tIns="0" rIns="0" bIns="0" rtlCol="0" anchor="ctr"/>
          <a:lstStyle/>
          <a:p>
            <a:pPr indent="0" marL="0">
              <a:buNone/>
            </a:pPr>
            <a:r>
              <a:rPr lang="en-US" sz="1100" b="1" spc="200" kern="0" dirty="0">
                <a:solidFill>
                  <a:srgbClr val="E8A33D"/>
                </a:solidFill>
                <a:latin typeface="Calibri" pitchFamily="34" charset="0"/>
                <a:ea typeface="Calibri" pitchFamily="34" charset="-122"/>
                <a:cs typeface="Calibri" pitchFamily="34" charset="-120"/>
              </a:rPr>
              <a:t>THE QUESTION</a:t>
            </a:r>
            <a:endParaRPr lang="en-US" sz="1100" dirty="0"/>
          </a:p>
        </p:txBody>
      </p:sp>
      <p:sp>
        <p:nvSpPr>
          <p:cNvPr id="19" name="Text 17"/>
          <p:cNvSpPr/>
          <p:nvPr/>
        </p:nvSpPr>
        <p:spPr>
          <a:xfrm>
            <a:off x="7772400" y="2240280"/>
            <a:ext cx="3474720" cy="1737360"/>
          </a:xfrm>
          <a:prstGeom prst="rect">
            <a:avLst/>
          </a:prstGeom>
          <a:noFill/>
          <a:ln/>
        </p:spPr>
        <p:txBody>
          <a:bodyPr wrap="square" lIns="0" tIns="0" rIns="0" bIns="0" rtlCol="0" anchor="ctr"/>
          <a:lstStyle/>
          <a:p>
            <a:pPr indent="0" marL="0">
              <a:lnSpc>
                <a:spcPts val="2300"/>
              </a:lnSpc>
              <a:buNone/>
            </a:pPr>
            <a:r>
              <a:rPr lang="en-US" sz="1700" i="1" dirty="0">
                <a:solidFill>
                  <a:srgbClr val="FFFFFF"/>
                </a:solidFill>
                <a:latin typeface="Cambria" pitchFamily="34" charset="0"/>
                <a:ea typeface="Cambria" pitchFamily="34" charset="-122"/>
                <a:cs typeface="Cambria" pitchFamily="34" charset="-120"/>
              </a:rPr>
              <a:t>Given this specific CPU, this RAM, and this model — which combination of settings gets the most tokens per second at output quality I can accept?</a:t>
            </a:r>
            <a:endParaRPr lang="en-US" sz="1700" dirty="0"/>
          </a:p>
        </p:txBody>
      </p:sp>
      <p:sp>
        <p:nvSpPr>
          <p:cNvPr id="20" name="Shape 18"/>
          <p:cNvSpPr/>
          <p:nvPr/>
        </p:nvSpPr>
        <p:spPr>
          <a:xfrm>
            <a:off x="7772400" y="4160520"/>
            <a:ext cx="3474720" cy="0"/>
          </a:xfrm>
          <a:prstGeom prst="line">
            <a:avLst/>
          </a:prstGeom>
          <a:noFill/>
          <a:ln w="12700">
            <a:solidFill>
              <a:srgbClr val="1F8A9E"/>
            </a:solidFill>
            <a:prstDash val="solid"/>
          </a:ln>
        </p:spPr>
      </p:sp>
      <p:sp>
        <p:nvSpPr>
          <p:cNvPr id="21" name="Text 19"/>
          <p:cNvSpPr/>
          <p:nvPr/>
        </p:nvSpPr>
        <p:spPr>
          <a:xfrm>
            <a:off x="7772400" y="4343400"/>
            <a:ext cx="3474720" cy="1005840"/>
          </a:xfrm>
          <a:prstGeom prst="rect">
            <a:avLst/>
          </a:prstGeom>
          <a:noFill/>
          <a:ln/>
        </p:spPr>
        <p:txBody>
          <a:bodyPr wrap="square" lIns="0" tIns="0" rIns="0" bIns="0" rtlCol="0" anchor="ctr"/>
          <a:lstStyle/>
          <a:p>
            <a:pPr indent="0" marL="0">
              <a:lnSpc>
                <a:spcPts val="1600"/>
              </a:lnSpc>
              <a:buNone/>
            </a:pPr>
            <a:r>
              <a:rPr lang="en-US" sz="1200" dirty="0">
                <a:solidFill>
                  <a:srgbClr val="DCEFF2"/>
                </a:solidFill>
                <a:latin typeface="Calibri" pitchFamily="34" charset="0"/>
                <a:ea typeface="Calibri" pitchFamily="34" charset="-122"/>
                <a:cs typeface="Calibri" pitchFamily="34" charset="-120"/>
              </a:rPr>
              <a:t>Practitioners face a high-dimensional, non-intuitive parameter space — threads, batch size, context depth, KV-cache precision, Flash Attention, quant format — with little principled guidance.</a:t>
            </a:r>
            <a:endParaRPr lang="en-US" sz="1200" dirty="0"/>
          </a:p>
        </p:txBody>
      </p:sp>
      <p:sp>
        <p:nvSpPr>
          <p:cNvPr id="22" name="Text 20"/>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METHOD — THE INSTRUMENT</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Why llama.cpp</a:t>
            </a:r>
            <a:endParaRPr lang="en-US" sz="3000" dirty="0"/>
          </a:p>
        </p:txBody>
      </p:sp>
      <p:sp>
        <p:nvSpPr>
          <p:cNvPr id="4" name="Text 2"/>
          <p:cNvSpPr/>
          <p:nvPr/>
        </p:nvSpPr>
        <p:spPr>
          <a:xfrm>
            <a:off x="548640" y="1463040"/>
            <a:ext cx="10515600" cy="457200"/>
          </a:xfrm>
          <a:prstGeom prst="rect">
            <a:avLst/>
          </a:prstGeom>
          <a:noFill/>
          <a:ln/>
        </p:spPr>
        <p:txBody>
          <a:bodyPr wrap="square" lIns="0" tIns="0" rIns="0" bIns="0" rtlCol="0" anchor="ctr"/>
          <a:lstStyle/>
          <a:p>
            <a:pPr indent="0" marL="0">
              <a:buNone/>
            </a:pPr>
            <a:r>
              <a:rPr lang="en-US" sz="1500" i="1" dirty="0">
                <a:solidFill>
                  <a:srgbClr val="5B6675"/>
                </a:solidFill>
                <a:latin typeface="Calibri" pitchFamily="34" charset="0"/>
                <a:ea typeface="Calibri" pitchFamily="34" charset="-122"/>
                <a:cs typeface="Calibri" pitchFamily="34" charset="-120"/>
              </a:rPr>
              <a:t>Not the fastest CPU engine in every configuration — the most parametrically exposed one.</a:t>
            </a:r>
            <a:endParaRPr lang="en-US" sz="1500" dirty="0"/>
          </a:p>
        </p:txBody>
      </p:sp>
      <p:sp>
        <p:nvSpPr>
          <p:cNvPr id="5" name="Shape 3"/>
          <p:cNvSpPr/>
          <p:nvPr/>
        </p:nvSpPr>
        <p:spPr>
          <a:xfrm>
            <a:off x="548640" y="2240280"/>
            <a:ext cx="3520440" cy="3566160"/>
          </a:xfrm>
          <a:prstGeom prst="roundRect">
            <a:avLst>
              <a:gd name="adj" fmla="val 2078"/>
            </a:avLst>
          </a:prstGeom>
          <a:solidFill>
            <a:srgbClr val="FFFFFF"/>
          </a:solidFill>
          <a:ln w="12700">
            <a:solidFill>
              <a:srgbClr val="E3E8EC"/>
            </a:solidFill>
            <a:prstDash val="solid"/>
          </a:ln>
          <a:effectLst>
            <a:outerShdw sx="100000" sy="100000" kx="0" ky="0" algn="bl" rotWithShape="0" blurRad="76200" dist="25400" dir="5400000">
              <a:srgbClr val="000000">
                <a:alpha val="12000"/>
              </a:srgbClr>
            </a:outerShdw>
          </a:effectLst>
        </p:spPr>
      </p:sp>
      <p:sp>
        <p:nvSpPr>
          <p:cNvPr id="6" name="Text 4"/>
          <p:cNvSpPr/>
          <p:nvPr/>
        </p:nvSpPr>
        <p:spPr>
          <a:xfrm>
            <a:off x="822960" y="2468880"/>
            <a:ext cx="1371600" cy="548640"/>
          </a:xfrm>
          <a:prstGeom prst="rect">
            <a:avLst/>
          </a:prstGeom>
          <a:noFill/>
          <a:ln/>
        </p:spPr>
        <p:txBody>
          <a:bodyPr wrap="square" lIns="0" tIns="0" rIns="0" bIns="0" rtlCol="0" anchor="ctr"/>
          <a:lstStyle/>
          <a:p>
            <a:pPr indent="0" marL="0">
              <a:buNone/>
            </a:pPr>
            <a:r>
              <a:rPr lang="en-US" sz="2600" b="1" dirty="0">
                <a:solidFill>
                  <a:srgbClr val="1F8A9E"/>
                </a:solidFill>
                <a:latin typeface="Cambria" pitchFamily="34" charset="0"/>
                <a:ea typeface="Cambria" pitchFamily="34" charset="-122"/>
                <a:cs typeface="Cambria" pitchFamily="34" charset="-120"/>
              </a:rPr>
              <a:t>01</a:t>
            </a:r>
            <a:endParaRPr lang="en-US" sz="2600" dirty="0"/>
          </a:p>
        </p:txBody>
      </p:sp>
      <p:sp>
        <p:nvSpPr>
          <p:cNvPr id="7" name="Text 5"/>
          <p:cNvSpPr/>
          <p:nvPr/>
        </p:nvSpPr>
        <p:spPr>
          <a:xfrm>
            <a:off x="822960" y="3063240"/>
            <a:ext cx="2971800" cy="594360"/>
          </a:xfrm>
          <a:prstGeom prst="rect">
            <a:avLst/>
          </a:prstGeom>
          <a:noFill/>
          <a:ln/>
        </p:spPr>
        <p:txBody>
          <a:bodyPr wrap="square" lIns="0" tIns="0" rIns="0" bIns="0" rtlCol="0" anchor="ctr"/>
          <a:lstStyle/>
          <a:p>
            <a:pPr indent="0" marL="0">
              <a:lnSpc>
                <a:spcPts val="1800"/>
              </a:lnSpc>
              <a:buNone/>
            </a:pPr>
            <a:r>
              <a:rPr lang="en-US" sz="1500" b="1" dirty="0">
                <a:solidFill>
                  <a:srgbClr val="162447"/>
                </a:solidFill>
                <a:latin typeface="Calibri" pitchFamily="34" charset="0"/>
                <a:ea typeface="Calibri" pitchFamily="34" charset="-122"/>
                <a:cs typeface="Calibri" pitchFamily="34" charset="-120"/>
              </a:rPr>
              <a:t>Broad kernel support</a:t>
            </a:r>
            <a:endParaRPr lang="en-US" sz="1500" dirty="0"/>
          </a:p>
        </p:txBody>
      </p:sp>
      <p:sp>
        <p:nvSpPr>
          <p:cNvPr id="8" name="Text 6"/>
          <p:cNvSpPr/>
          <p:nvPr/>
        </p:nvSpPr>
        <p:spPr>
          <a:xfrm>
            <a:off x="822960" y="3703320"/>
            <a:ext cx="2971800" cy="1965960"/>
          </a:xfrm>
          <a:prstGeom prst="rect">
            <a:avLst/>
          </a:prstGeom>
          <a:noFill/>
          <a:ln/>
        </p:spPr>
        <p:txBody>
          <a:bodyPr wrap="square" lIns="0" tIns="0" rIns="0" bIns="0" rtlCol="0" anchor="ctr"/>
          <a:lstStyle/>
          <a:p>
            <a:pPr indent="0" marL="0">
              <a:lnSpc>
                <a:spcPts val="1550"/>
              </a:lnSpc>
              <a:buNone/>
            </a:pPr>
            <a:r>
              <a:rPr lang="en-US" sz="1150" dirty="0">
                <a:solidFill>
                  <a:srgbClr val="1B2430"/>
                </a:solidFill>
                <a:latin typeface="Calibri" pitchFamily="34" charset="0"/>
                <a:ea typeface="Calibri" pitchFamily="34" charset="-122"/>
                <a:cs typeface="Calibri" pitchFamily="34" charset="-120"/>
              </a:rPr>
              <a:t>Hand-written SIMD kernels for x86 (AVX/AVX2/AVX-512) and ARM NEON, selected at runtime — one script, unmodified, runs on a Zen 3 laptop, a Coffee-Lake Pentium, and a Cortex-A57 board.</a:t>
            </a:r>
            <a:endParaRPr lang="en-US" sz="1150" dirty="0"/>
          </a:p>
        </p:txBody>
      </p:sp>
      <p:sp>
        <p:nvSpPr>
          <p:cNvPr id="9" name="Shape 7"/>
          <p:cNvSpPr/>
          <p:nvPr/>
        </p:nvSpPr>
        <p:spPr>
          <a:xfrm>
            <a:off x="4343400" y="2240280"/>
            <a:ext cx="3520440" cy="3566160"/>
          </a:xfrm>
          <a:prstGeom prst="roundRect">
            <a:avLst>
              <a:gd name="adj" fmla="val 2078"/>
            </a:avLst>
          </a:prstGeom>
          <a:solidFill>
            <a:srgbClr val="FFFFFF"/>
          </a:solidFill>
          <a:ln w="12700">
            <a:solidFill>
              <a:srgbClr val="E3E8EC"/>
            </a:solidFill>
            <a:prstDash val="solid"/>
          </a:ln>
          <a:effectLst>
            <a:outerShdw sx="100000" sy="100000" kx="0" ky="0" algn="bl" rotWithShape="0" blurRad="76200" dist="25400" dir="5400000">
              <a:srgbClr val="000000">
                <a:alpha val="12000"/>
              </a:srgbClr>
            </a:outerShdw>
          </a:effectLst>
        </p:spPr>
      </p:sp>
      <p:sp>
        <p:nvSpPr>
          <p:cNvPr id="10" name="Text 8"/>
          <p:cNvSpPr/>
          <p:nvPr/>
        </p:nvSpPr>
        <p:spPr>
          <a:xfrm>
            <a:off x="4617720" y="2468880"/>
            <a:ext cx="1371600" cy="548640"/>
          </a:xfrm>
          <a:prstGeom prst="rect">
            <a:avLst/>
          </a:prstGeom>
          <a:noFill/>
          <a:ln/>
        </p:spPr>
        <p:txBody>
          <a:bodyPr wrap="square" lIns="0" tIns="0" rIns="0" bIns="0" rtlCol="0" anchor="ctr"/>
          <a:lstStyle/>
          <a:p>
            <a:pPr indent="0" marL="0">
              <a:buNone/>
            </a:pPr>
            <a:r>
              <a:rPr lang="en-US" sz="2600" b="1" dirty="0">
                <a:solidFill>
                  <a:srgbClr val="1F8A9E"/>
                </a:solidFill>
                <a:latin typeface="Cambria" pitchFamily="34" charset="0"/>
                <a:ea typeface="Cambria" pitchFamily="34" charset="-122"/>
                <a:cs typeface="Cambria" pitchFamily="34" charset="-120"/>
              </a:rPr>
              <a:t>02</a:t>
            </a:r>
            <a:endParaRPr lang="en-US" sz="2600" dirty="0"/>
          </a:p>
        </p:txBody>
      </p:sp>
      <p:sp>
        <p:nvSpPr>
          <p:cNvPr id="11" name="Text 9"/>
          <p:cNvSpPr/>
          <p:nvPr/>
        </p:nvSpPr>
        <p:spPr>
          <a:xfrm>
            <a:off x="4617720" y="3063240"/>
            <a:ext cx="2971800" cy="594360"/>
          </a:xfrm>
          <a:prstGeom prst="rect">
            <a:avLst/>
          </a:prstGeom>
          <a:noFill/>
          <a:ln/>
        </p:spPr>
        <p:txBody>
          <a:bodyPr wrap="square" lIns="0" tIns="0" rIns="0" bIns="0" rtlCol="0" anchor="ctr"/>
          <a:lstStyle/>
          <a:p>
            <a:pPr indent="0" marL="0">
              <a:lnSpc>
                <a:spcPts val="1800"/>
              </a:lnSpc>
              <a:buNone/>
            </a:pPr>
            <a:r>
              <a:rPr lang="en-US" sz="1500" b="1" dirty="0">
                <a:solidFill>
                  <a:srgbClr val="162447"/>
                </a:solidFill>
                <a:latin typeface="Calibri" pitchFamily="34" charset="0"/>
                <a:ea typeface="Calibri" pitchFamily="34" charset="-122"/>
                <a:cs typeface="Calibri" pitchFamily="34" charset="-120"/>
              </a:rPr>
              <a:t>One tool, every axis</a:t>
            </a:r>
            <a:endParaRPr lang="en-US" sz="1500" dirty="0"/>
          </a:p>
        </p:txBody>
      </p:sp>
      <p:sp>
        <p:nvSpPr>
          <p:cNvPr id="12" name="Text 10"/>
          <p:cNvSpPr/>
          <p:nvPr/>
        </p:nvSpPr>
        <p:spPr>
          <a:xfrm>
            <a:off x="4617720" y="3703320"/>
            <a:ext cx="2971800" cy="1965960"/>
          </a:xfrm>
          <a:prstGeom prst="rect">
            <a:avLst/>
          </a:prstGeom>
          <a:noFill/>
          <a:ln/>
        </p:spPr>
        <p:txBody>
          <a:bodyPr wrap="square" lIns="0" tIns="0" rIns="0" bIns="0" rtlCol="0" anchor="ctr"/>
          <a:lstStyle/>
          <a:p>
            <a:pPr indent="0" marL="0">
              <a:lnSpc>
                <a:spcPts val="1550"/>
              </a:lnSpc>
              <a:buNone/>
            </a:pPr>
            <a:r>
              <a:rPr lang="en-US" sz="1150" dirty="0">
                <a:solidFill>
                  <a:srgbClr val="1B2430"/>
                </a:solidFill>
                <a:latin typeface="Calibri" pitchFamily="34" charset="0"/>
                <a:ea typeface="Calibri" pitchFamily="34" charset="-122"/>
                <a:cs typeface="Calibri" pitchFamily="34" charset="-120"/>
              </a:rPr>
              <a:t>llama-bench exposes threads, context depth, batch size, KV-cache quant, and Flash Attention as simple flags, emitting clean structured output — no other CPU stack exposes this much through one interface.</a:t>
            </a:r>
            <a:endParaRPr lang="en-US" sz="1150" dirty="0"/>
          </a:p>
        </p:txBody>
      </p:sp>
      <p:sp>
        <p:nvSpPr>
          <p:cNvPr id="13" name="Shape 11"/>
          <p:cNvSpPr/>
          <p:nvPr/>
        </p:nvSpPr>
        <p:spPr>
          <a:xfrm>
            <a:off x="8138160" y="2240280"/>
            <a:ext cx="3520440" cy="3566160"/>
          </a:xfrm>
          <a:prstGeom prst="roundRect">
            <a:avLst>
              <a:gd name="adj" fmla="val 2078"/>
            </a:avLst>
          </a:prstGeom>
          <a:solidFill>
            <a:srgbClr val="FFFFFF"/>
          </a:solidFill>
          <a:ln w="12700">
            <a:solidFill>
              <a:srgbClr val="E3E8EC"/>
            </a:solidFill>
            <a:prstDash val="solid"/>
          </a:ln>
          <a:effectLst>
            <a:outerShdw sx="100000" sy="100000" kx="0" ky="0" algn="bl" rotWithShape="0" blurRad="76200" dist="25400" dir="5400000">
              <a:srgbClr val="000000">
                <a:alpha val="12000"/>
              </a:srgbClr>
            </a:outerShdw>
          </a:effectLst>
        </p:spPr>
      </p:sp>
      <p:sp>
        <p:nvSpPr>
          <p:cNvPr id="14" name="Text 12"/>
          <p:cNvSpPr/>
          <p:nvPr/>
        </p:nvSpPr>
        <p:spPr>
          <a:xfrm>
            <a:off x="8412480" y="2468880"/>
            <a:ext cx="1371600" cy="548640"/>
          </a:xfrm>
          <a:prstGeom prst="rect">
            <a:avLst/>
          </a:prstGeom>
          <a:noFill/>
          <a:ln/>
        </p:spPr>
        <p:txBody>
          <a:bodyPr wrap="square" lIns="0" tIns="0" rIns="0" bIns="0" rtlCol="0" anchor="ctr"/>
          <a:lstStyle/>
          <a:p>
            <a:pPr indent="0" marL="0">
              <a:buNone/>
            </a:pPr>
            <a:r>
              <a:rPr lang="en-US" sz="2600" b="1" dirty="0">
                <a:solidFill>
                  <a:srgbClr val="1F8A9E"/>
                </a:solidFill>
                <a:latin typeface="Cambria" pitchFamily="34" charset="0"/>
                <a:ea typeface="Cambria" pitchFamily="34" charset="-122"/>
                <a:cs typeface="Cambria" pitchFamily="34" charset="-120"/>
              </a:rPr>
              <a:t>03</a:t>
            </a:r>
            <a:endParaRPr lang="en-US" sz="2600" dirty="0"/>
          </a:p>
        </p:txBody>
      </p:sp>
      <p:sp>
        <p:nvSpPr>
          <p:cNvPr id="15" name="Text 13"/>
          <p:cNvSpPr/>
          <p:nvPr/>
        </p:nvSpPr>
        <p:spPr>
          <a:xfrm>
            <a:off x="8412480" y="3063240"/>
            <a:ext cx="2971800" cy="594360"/>
          </a:xfrm>
          <a:prstGeom prst="rect">
            <a:avLst/>
          </a:prstGeom>
          <a:noFill/>
          <a:ln/>
        </p:spPr>
        <p:txBody>
          <a:bodyPr wrap="square" lIns="0" tIns="0" rIns="0" bIns="0" rtlCol="0" anchor="ctr"/>
          <a:lstStyle/>
          <a:p>
            <a:pPr indent="0" marL="0">
              <a:lnSpc>
                <a:spcPts val="1800"/>
              </a:lnSpc>
              <a:buNone/>
            </a:pPr>
            <a:r>
              <a:rPr lang="en-US" sz="1500" b="1" dirty="0">
                <a:solidFill>
                  <a:srgbClr val="162447"/>
                </a:solidFill>
                <a:latin typeface="Calibri" pitchFamily="34" charset="0"/>
                <a:ea typeface="Calibri" pitchFamily="34" charset="-122"/>
                <a:cs typeface="Calibri" pitchFamily="34" charset="-120"/>
              </a:rPr>
              <a:t>The GGUF ecosystem</a:t>
            </a:r>
            <a:endParaRPr lang="en-US" sz="1500" dirty="0"/>
          </a:p>
        </p:txBody>
      </p:sp>
      <p:sp>
        <p:nvSpPr>
          <p:cNvPr id="16" name="Text 14"/>
          <p:cNvSpPr/>
          <p:nvPr/>
        </p:nvSpPr>
        <p:spPr>
          <a:xfrm>
            <a:off x="8412480" y="3703320"/>
            <a:ext cx="2971800" cy="1965960"/>
          </a:xfrm>
          <a:prstGeom prst="rect">
            <a:avLst/>
          </a:prstGeom>
          <a:noFill/>
          <a:ln/>
        </p:spPr>
        <p:txBody>
          <a:bodyPr wrap="square" lIns="0" tIns="0" rIns="0" bIns="0" rtlCol="0" anchor="ctr"/>
          <a:lstStyle/>
          <a:p>
            <a:pPr indent="0" marL="0">
              <a:lnSpc>
                <a:spcPts val="1550"/>
              </a:lnSpc>
              <a:buNone/>
            </a:pPr>
            <a:r>
              <a:rPr lang="en-US" sz="1150" dirty="0">
                <a:solidFill>
                  <a:srgbClr val="1B2430"/>
                </a:solidFill>
                <a:latin typeface="Calibri" pitchFamily="34" charset="0"/>
                <a:ea typeface="Calibri" pitchFamily="34" charset="-122"/>
                <a:cs typeface="Calibri" pitchFamily="34" charset="-120"/>
              </a:rPr>
              <a:t>Pre-quantized weights from 2 to 8 bits, in both legacy and newer K-quant formats, letting quantization format itself become an experimental variable rather than a fixed detail.</a:t>
            </a:r>
            <a:endParaRPr lang="en-US" sz="1150" dirty="0"/>
          </a:p>
        </p:txBody>
      </p:sp>
      <p:sp>
        <p:nvSpPr>
          <p:cNvPr id="17"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TWO ARCHITECTURE FAMILIES</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Dense vs. Mixture-of-Experts, and the contributions</a:t>
            </a:r>
            <a:endParaRPr lang="en-US" sz="3000" dirty="0"/>
          </a:p>
        </p:txBody>
      </p:sp>
      <p:sp>
        <p:nvSpPr>
          <p:cNvPr id="4" name="Shape 2"/>
          <p:cNvSpPr/>
          <p:nvPr/>
        </p:nvSpPr>
        <p:spPr>
          <a:xfrm>
            <a:off x="548640" y="1554480"/>
            <a:ext cx="5120640" cy="1737360"/>
          </a:xfrm>
          <a:prstGeom prst="roundRect">
            <a:avLst>
              <a:gd name="adj" fmla="val 4211"/>
            </a:avLst>
          </a:prstGeom>
          <a:solidFill>
            <a:srgbClr val="FFFFFF"/>
          </a:solidFill>
          <a:ln w="12700">
            <a:solidFill>
              <a:srgbClr val="E3E8EC"/>
            </a:solidFill>
            <a:prstDash val="solid"/>
          </a:ln>
        </p:spPr>
      </p:sp>
      <p:sp>
        <p:nvSpPr>
          <p:cNvPr id="5" name="Text 3"/>
          <p:cNvSpPr/>
          <p:nvPr/>
        </p:nvSpPr>
        <p:spPr>
          <a:xfrm>
            <a:off x="822960" y="1719072"/>
            <a:ext cx="2743200" cy="274320"/>
          </a:xfrm>
          <a:prstGeom prst="rect">
            <a:avLst/>
          </a:prstGeom>
          <a:noFill/>
          <a:ln/>
        </p:spPr>
        <p:txBody>
          <a:bodyPr wrap="square" lIns="0" tIns="0" rIns="0" bIns="0" rtlCol="0" anchor="ctr"/>
          <a:lstStyle/>
          <a:p>
            <a:pPr indent="0" marL="0">
              <a:buNone/>
            </a:pPr>
            <a:r>
              <a:rPr lang="en-US" sz="1100" b="1" spc="150" kern="0" dirty="0">
                <a:solidFill>
                  <a:srgbClr val="1F3A63"/>
                </a:solidFill>
                <a:latin typeface="Calibri" pitchFamily="34" charset="0"/>
                <a:ea typeface="Calibri" pitchFamily="34" charset="-122"/>
                <a:cs typeface="Calibri" pitchFamily="34" charset="-120"/>
              </a:rPr>
              <a:t>DENSE MODELS</a:t>
            </a:r>
            <a:endParaRPr lang="en-US" sz="1100" dirty="0"/>
          </a:p>
        </p:txBody>
      </p:sp>
      <p:sp>
        <p:nvSpPr>
          <p:cNvPr id="6" name="Text 4"/>
          <p:cNvSpPr/>
          <p:nvPr/>
        </p:nvSpPr>
        <p:spPr>
          <a:xfrm>
            <a:off x="822960" y="2011680"/>
            <a:ext cx="4572000" cy="109728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Every parameter activates on every token. Cost per generated token is fixed by total parameter count × bit-width.</a:t>
            </a:r>
            <a:endParaRPr lang="en-US" sz="1250" dirty="0"/>
          </a:p>
        </p:txBody>
      </p:sp>
      <p:sp>
        <p:nvSpPr>
          <p:cNvPr id="7" name="Shape 5"/>
          <p:cNvSpPr/>
          <p:nvPr/>
        </p:nvSpPr>
        <p:spPr>
          <a:xfrm>
            <a:off x="5943600" y="1554480"/>
            <a:ext cx="5669280" cy="1737360"/>
          </a:xfrm>
          <a:prstGeom prst="roundRect">
            <a:avLst>
              <a:gd name="adj" fmla="val 4211"/>
            </a:avLst>
          </a:prstGeom>
          <a:solidFill>
            <a:srgbClr val="162447"/>
          </a:solidFill>
          <a:ln/>
        </p:spPr>
      </p:sp>
      <p:sp>
        <p:nvSpPr>
          <p:cNvPr id="8" name="Text 6"/>
          <p:cNvSpPr/>
          <p:nvPr/>
        </p:nvSpPr>
        <p:spPr>
          <a:xfrm>
            <a:off x="6217920" y="1719072"/>
            <a:ext cx="3657600" cy="274320"/>
          </a:xfrm>
          <a:prstGeom prst="rect">
            <a:avLst/>
          </a:prstGeom>
          <a:noFill/>
          <a:ln/>
        </p:spPr>
        <p:txBody>
          <a:bodyPr wrap="square" lIns="0" tIns="0" rIns="0" bIns="0" rtlCol="0" anchor="ctr"/>
          <a:lstStyle/>
          <a:p>
            <a:pPr indent="0" marL="0">
              <a:buNone/>
            </a:pPr>
            <a:r>
              <a:rPr lang="en-US" sz="1100" b="1" spc="150" kern="0" dirty="0">
                <a:solidFill>
                  <a:srgbClr val="E8A33D"/>
                </a:solidFill>
                <a:latin typeface="Calibri" pitchFamily="34" charset="0"/>
                <a:ea typeface="Calibri" pitchFamily="34" charset="-122"/>
                <a:cs typeface="Calibri" pitchFamily="34" charset="-120"/>
              </a:rPr>
              <a:t>MIXTURE-OF-EXPERTS</a:t>
            </a:r>
            <a:endParaRPr lang="en-US" sz="1100" dirty="0"/>
          </a:p>
        </p:txBody>
      </p:sp>
      <p:sp>
        <p:nvSpPr>
          <p:cNvPr id="9" name="Text 7"/>
          <p:cNvSpPr/>
          <p:nvPr/>
        </p:nvSpPr>
        <p:spPr>
          <a:xfrm>
            <a:off x="6217920" y="2011680"/>
            <a:ext cx="5120640" cy="118872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A router activates only a handful of experts per token — e.g. 14B total but only ~2.7B active. On CPU, where generation is bandwidth-bound, this decouples speed from total capacity.</a:t>
            </a:r>
            <a:endParaRPr lang="en-US" sz="1250" dirty="0"/>
          </a:p>
        </p:txBody>
      </p:sp>
      <p:sp>
        <p:nvSpPr>
          <p:cNvPr id="10" name="Text 8"/>
          <p:cNvSpPr/>
          <p:nvPr/>
        </p:nvSpPr>
        <p:spPr>
          <a:xfrm>
            <a:off x="548640" y="3520440"/>
            <a:ext cx="5486400" cy="320040"/>
          </a:xfrm>
          <a:prstGeom prst="rect">
            <a:avLst/>
          </a:prstGeom>
          <a:noFill/>
          <a:ln/>
        </p:spPr>
        <p:txBody>
          <a:bodyPr wrap="square" lIns="0" tIns="0" rIns="0" bIns="0" rtlCol="0" anchor="ctr"/>
          <a:lstStyle/>
          <a:p>
            <a:pPr indent="0" marL="0">
              <a:buNone/>
            </a:pPr>
            <a:r>
              <a:rPr lang="en-US" sz="1200" b="1" spc="150" kern="0" dirty="0">
                <a:solidFill>
                  <a:srgbClr val="1F8A9E"/>
                </a:solidFill>
                <a:latin typeface="Calibri" pitchFamily="34" charset="0"/>
                <a:ea typeface="Calibri" pitchFamily="34" charset="-122"/>
                <a:cs typeface="Calibri" pitchFamily="34" charset="-120"/>
              </a:rPr>
              <a:t>CONTRIBUTIONS OF THIS THESIS</a:t>
            </a:r>
            <a:endParaRPr lang="en-US" sz="1200" dirty="0"/>
          </a:p>
        </p:txBody>
      </p:sp>
      <p:sp>
        <p:nvSpPr>
          <p:cNvPr id="11" name="Shape 9"/>
          <p:cNvSpPr/>
          <p:nvPr/>
        </p:nvSpPr>
        <p:spPr>
          <a:xfrm>
            <a:off x="548640" y="3931920"/>
            <a:ext cx="384048" cy="384048"/>
          </a:xfrm>
          <a:prstGeom prst="roundRect">
            <a:avLst>
              <a:gd name="adj" fmla="val 14286"/>
            </a:avLst>
          </a:prstGeom>
          <a:solidFill>
            <a:srgbClr val="DCEFF2"/>
          </a:solidFill>
          <a:ln/>
        </p:spPr>
      </p:sp>
      <p:sp>
        <p:nvSpPr>
          <p:cNvPr id="12" name="Text 10"/>
          <p:cNvSpPr/>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162447"/>
                </a:solidFill>
                <a:latin typeface="Cambria" pitchFamily="34" charset="0"/>
                <a:ea typeface="Cambria" pitchFamily="34" charset="-122"/>
                <a:cs typeface="Cambria" pitchFamily="34" charset="-120"/>
              </a:rPr>
              <a:t>1</a:t>
            </a:r>
            <a:endParaRPr lang="en-US" sz="1500" dirty="0"/>
          </a:p>
        </p:txBody>
      </p:sp>
      <p:sp>
        <p:nvSpPr>
          <p:cNvPr id="13" name="Text 11"/>
          <p:cNvSpPr/>
          <p:nvPr/>
        </p:nvSpPr>
        <p:spPr>
          <a:xfrm>
            <a:off x="1097280" y="3950208"/>
            <a:ext cx="1033272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An empirical characterization of four hardware effects across real, heterogeneous devices</a:t>
            </a:r>
            <a:endParaRPr lang="en-US" sz="1300" dirty="0"/>
          </a:p>
        </p:txBody>
      </p:sp>
      <p:sp>
        <p:nvSpPr>
          <p:cNvPr id="14" name="Shape 12"/>
          <p:cNvSpPr/>
          <p:nvPr/>
        </p:nvSpPr>
        <p:spPr>
          <a:xfrm>
            <a:off x="548640" y="4498848"/>
            <a:ext cx="384048" cy="384048"/>
          </a:xfrm>
          <a:prstGeom prst="roundRect">
            <a:avLst>
              <a:gd name="adj" fmla="val 14286"/>
            </a:avLst>
          </a:prstGeom>
          <a:solidFill>
            <a:srgbClr val="DCEFF2"/>
          </a:solidFill>
          <a:ln/>
        </p:spPr>
      </p:sp>
      <p:sp>
        <p:nvSpPr>
          <p:cNvPr id="15" name="Text 13"/>
          <p:cNvSpPr/>
          <p:nvPr/>
        </p:nvSpPr>
        <p:spPr>
          <a:xfrm>
            <a:off x="548640" y="4498848"/>
            <a:ext cx="384048" cy="384048"/>
          </a:xfrm>
          <a:prstGeom prst="rect">
            <a:avLst/>
          </a:prstGeom>
          <a:noFill/>
          <a:ln/>
        </p:spPr>
        <p:txBody>
          <a:bodyPr wrap="square" lIns="0" tIns="0" rIns="0" bIns="0" rtlCol="0" anchor="ctr"/>
          <a:lstStyle/>
          <a:p>
            <a:pPr algn="ctr" indent="0" marL="0">
              <a:buNone/>
            </a:pPr>
            <a:r>
              <a:rPr lang="en-US" sz="1500" b="1" dirty="0">
                <a:solidFill>
                  <a:srgbClr val="162447"/>
                </a:solidFill>
                <a:latin typeface="Cambria" pitchFamily="34" charset="0"/>
                <a:ea typeface="Cambria" pitchFamily="34" charset="-122"/>
                <a:cs typeface="Cambria" pitchFamily="34" charset="-120"/>
              </a:rPr>
              <a:t>2</a:t>
            </a:r>
            <a:endParaRPr lang="en-US" sz="1500" dirty="0"/>
          </a:p>
        </p:txBody>
      </p:sp>
      <p:sp>
        <p:nvSpPr>
          <p:cNvPr id="16" name="Text 14"/>
          <p:cNvSpPr/>
          <p:nvPr/>
        </p:nvSpPr>
        <p:spPr>
          <a:xfrm>
            <a:off x="1097280" y="4517136"/>
            <a:ext cx="1033272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 roofline-style model explaining them with a handful of per-device calibration constants</a:t>
            </a:r>
            <a:endParaRPr lang="en-US" sz="1300" dirty="0"/>
          </a:p>
        </p:txBody>
      </p:sp>
      <p:sp>
        <p:nvSpPr>
          <p:cNvPr id="17" name="Shape 15"/>
          <p:cNvSpPr/>
          <p:nvPr/>
        </p:nvSpPr>
        <p:spPr>
          <a:xfrm>
            <a:off x="548640" y="5065776"/>
            <a:ext cx="384048" cy="384048"/>
          </a:xfrm>
          <a:prstGeom prst="roundRect">
            <a:avLst>
              <a:gd name="adj" fmla="val 14286"/>
            </a:avLst>
          </a:prstGeom>
          <a:solidFill>
            <a:srgbClr val="DCEFF2"/>
          </a:solidFill>
          <a:ln/>
        </p:spPr>
      </p:sp>
      <p:sp>
        <p:nvSpPr>
          <p:cNvPr id="18" name="Text 16"/>
          <p:cNvSpPr/>
          <p:nvPr/>
        </p:nvSpPr>
        <p:spPr>
          <a:xfrm>
            <a:off x="548640" y="5065776"/>
            <a:ext cx="384048" cy="384048"/>
          </a:xfrm>
          <a:prstGeom prst="rect">
            <a:avLst/>
          </a:prstGeom>
          <a:noFill/>
          <a:ln/>
        </p:spPr>
        <p:txBody>
          <a:bodyPr wrap="square" lIns="0" tIns="0" rIns="0" bIns="0" rtlCol="0" anchor="ctr"/>
          <a:lstStyle/>
          <a:p>
            <a:pPr algn="ctr" indent="0" marL="0">
              <a:buNone/>
            </a:pPr>
            <a:r>
              <a:rPr lang="en-US" sz="1500" b="1" dirty="0">
                <a:solidFill>
                  <a:srgbClr val="162447"/>
                </a:solidFill>
                <a:latin typeface="Cambria" pitchFamily="34" charset="0"/>
                <a:ea typeface="Cambria" pitchFamily="34" charset="-122"/>
                <a:cs typeface="Cambria" pitchFamily="34" charset="-120"/>
              </a:rPr>
              <a:t>3</a:t>
            </a:r>
            <a:endParaRPr lang="en-US" sz="1500" dirty="0"/>
          </a:p>
        </p:txBody>
      </p:sp>
      <p:sp>
        <p:nvSpPr>
          <p:cNvPr id="19" name="Text 17"/>
          <p:cNvSpPr/>
          <p:nvPr/>
        </p:nvSpPr>
        <p:spPr>
          <a:xfrm>
            <a:off x="1097280" y="5084064"/>
            <a:ext cx="1033272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An extension of that model to the Mixture-of-Experts case, via a bytes-per-token argument</a:t>
            </a:r>
            <a:endParaRPr lang="en-US" sz="1300" dirty="0"/>
          </a:p>
        </p:txBody>
      </p:sp>
      <p:sp>
        <p:nvSpPr>
          <p:cNvPr id="20" name="Shape 18"/>
          <p:cNvSpPr/>
          <p:nvPr/>
        </p:nvSpPr>
        <p:spPr>
          <a:xfrm>
            <a:off x="548640" y="5632704"/>
            <a:ext cx="384048" cy="384048"/>
          </a:xfrm>
          <a:prstGeom prst="roundRect">
            <a:avLst>
              <a:gd name="adj" fmla="val 14286"/>
            </a:avLst>
          </a:prstGeom>
          <a:solidFill>
            <a:srgbClr val="DCEFF2"/>
          </a:solidFill>
          <a:ln/>
        </p:spPr>
      </p:sp>
      <p:sp>
        <p:nvSpPr>
          <p:cNvPr id="21" name="Text 19"/>
          <p:cNvSpPr/>
          <p:nvPr/>
        </p:nvSpPr>
        <p:spPr>
          <a:xfrm>
            <a:off x="548640" y="5632704"/>
            <a:ext cx="384048" cy="384048"/>
          </a:xfrm>
          <a:prstGeom prst="rect">
            <a:avLst/>
          </a:prstGeom>
          <a:noFill/>
          <a:ln/>
        </p:spPr>
        <p:txBody>
          <a:bodyPr wrap="square" lIns="0" tIns="0" rIns="0" bIns="0" rtlCol="0" anchor="ctr"/>
          <a:lstStyle/>
          <a:p>
            <a:pPr algn="ctr" indent="0" marL="0">
              <a:buNone/>
            </a:pPr>
            <a:r>
              <a:rPr lang="en-US" sz="1500" b="1" dirty="0">
                <a:solidFill>
                  <a:srgbClr val="162447"/>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097280" y="5650992"/>
            <a:ext cx="1033272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 public, interactive web calculator implementing the model for practitioners</a:t>
            </a:r>
            <a:endParaRPr lang="en-US" sz="1300" dirty="0"/>
          </a:p>
        </p:txBody>
      </p:sp>
      <p:sp>
        <p:nvSpPr>
          <p:cNvPr id="23" name="Text 21"/>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INSTRUMENTATION &amp; DATA COLLECTION</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Four machines, a ~70× throughput range</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2331720"/>
        </p:xfrm>
        <a:graphic>
          <a:graphicData uri="http://schemas.openxmlformats.org/drawingml/2006/table">
            <a:tbl>
              <a:tblPr/>
              <a:tblGrid>
                <a:gridCol w="1920240"/>
                <a:gridCol w="3840480"/>
                <a:gridCol w="2834640"/>
                <a:gridCol w="246888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Machine</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16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CPU</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16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Memory</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16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162447"/>
                    </a:solidFill>
                  </a:tcPr>
                </a:tc>
              </a:tr>
              <a:tr h="457200">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Laptop</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AMD Ryzen 5 5600H (6C/12T)</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16GB DDR4, ~51 GB/s</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b="1" dirty="0">
                          <a:solidFill>
                            <a:srgbClr val="1F8A9E"/>
                          </a:solidFill>
                          <a:latin typeface="Calibri" pitchFamily="34" charset="0"/>
                          <a:ea typeface="Calibri" pitchFamily="34" charset="-122"/>
                          <a:cs typeface="Calibri" pitchFamily="34" charset="-120"/>
                        </a:rPr>
                        <a:t>Compute-rich</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r>
              <a:tr h="457200">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Desktop</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Intel Pentium Gold G5420 (2C/4T)</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4GB DDR4, ~38 GB/s</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b="1" dirty="0">
                          <a:solidFill>
                            <a:srgbClr val="E8A33D"/>
                          </a:solidFill>
                          <a:latin typeface="Calibri" pitchFamily="34" charset="0"/>
                          <a:ea typeface="Calibri" pitchFamily="34" charset="-122"/>
                          <a:cs typeface="Calibri" pitchFamily="34" charset="-120"/>
                        </a:rPr>
                        <a:t>Bandwidth-starved</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r>
              <a:tr h="457200">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Jetson Nano</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ARM Cortex-A57 (4C/4T)</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3.9GB LPDDR4, ~25 GB/s</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b="1" dirty="0">
                          <a:solidFill>
                            <a:srgbClr val="E8A33D"/>
                          </a:solidFill>
                          <a:latin typeface="Calibri" pitchFamily="34" charset="0"/>
                          <a:ea typeface="Calibri" pitchFamily="34" charset="-122"/>
                          <a:cs typeface="Calibri" pitchFamily="34" charset="-120"/>
                        </a:rPr>
                        <a:t>Embedded, bandwidth-starved</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r>
              <a:tr h="457200">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Raspberry Pi 3B</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ARM Cortex-A53 (4C/4T)</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0.9GB LPDDR2, ~3.2 GB/s</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c>
                  <a:txBody>
                    <a:bodyPr/>
                    <a:lstStyle/>
                    <a:p>
                      <a:pPr indent="0" marL="0">
                        <a:buNone/>
                      </a:pPr>
                      <a:r>
                        <a:rPr lang="en-US" sz="1200" i="1" dirty="0">
                          <a:solidFill>
                            <a:srgbClr val="5B6675"/>
                          </a:solidFill>
                          <a:latin typeface="Calibri" pitchFamily="34" charset="0"/>
                          <a:ea typeface="Calibri" pitchFamily="34" charset="-122"/>
                          <a:cs typeface="Calibri" pitchFamily="34" charset="-120"/>
                        </a:rPr>
                        <a:t>Attempted — no usable data</a:t>
                      </a:r>
                      <a:endParaRPr lang="en-US" sz="12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tcPr>
                </a:tc>
              </a:tr>
            </a:tbl>
          </a:graphicData>
        </a:graphic>
      </p:graphicFrame>
      <p:sp>
        <p:nvSpPr>
          <p:cNvPr id="5" name="Shape 2"/>
          <p:cNvSpPr/>
          <p:nvPr/>
        </p:nvSpPr>
        <p:spPr>
          <a:xfrm>
            <a:off x="548640" y="4206240"/>
            <a:ext cx="5394960" cy="1783080"/>
          </a:xfrm>
          <a:prstGeom prst="roundRect">
            <a:avLst>
              <a:gd name="adj" fmla="val 4103"/>
            </a:avLst>
          </a:prstGeom>
          <a:solidFill>
            <a:srgbClr val="FFFFFF"/>
          </a:solidFill>
          <a:ln w="12700">
            <a:solidFill>
              <a:srgbClr val="E3E8EC"/>
            </a:solidFill>
            <a:prstDash val="solid"/>
          </a:ln>
        </p:spPr>
      </p:sp>
      <p:sp>
        <p:nvSpPr>
          <p:cNvPr id="6" name="Text 3"/>
          <p:cNvSpPr/>
          <p:nvPr/>
        </p:nvSpPr>
        <p:spPr>
          <a:xfrm>
            <a:off x="822960" y="4370832"/>
            <a:ext cx="4572000" cy="274320"/>
          </a:xfrm>
          <a:prstGeom prst="rect">
            <a:avLst/>
          </a:prstGeom>
          <a:noFill/>
          <a:ln/>
        </p:spPr>
        <p:txBody>
          <a:bodyPr wrap="square" lIns="0" tIns="0" rIns="0" bIns="0" rtlCol="0" anchor="ctr"/>
          <a:lstStyle/>
          <a:p>
            <a:pPr indent="0" marL="0">
              <a:buNone/>
            </a:pPr>
            <a:r>
              <a:rPr lang="en-US" sz="1100" b="1" spc="150" kern="0" dirty="0">
                <a:solidFill>
                  <a:srgbClr val="1F8A9E"/>
                </a:solidFill>
                <a:latin typeface="Calibri" pitchFamily="34" charset="0"/>
                <a:ea typeface="Calibri" pitchFamily="34" charset="-122"/>
                <a:cs typeface="Calibri" pitchFamily="34" charset="-120"/>
              </a:rPr>
              <a:t>MEASUREMENT PROTOCOL</a:t>
            </a:r>
            <a:endParaRPr lang="en-US" sz="1100" dirty="0"/>
          </a:p>
        </p:txBody>
      </p:sp>
      <p:sp>
        <p:nvSpPr>
          <p:cNvPr id="7" name="Text 4"/>
          <p:cNvSpPr/>
          <p:nvPr/>
        </p:nvSpPr>
        <p:spPr>
          <a:xfrm>
            <a:off x="822960" y="4663440"/>
            <a:ext cx="4846320" cy="11887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Mean tokens/sec over 3–5 repetitions per configuration, via llama-bench. Coefficient of variation &lt; 5% in every series reported.</a:t>
            </a:r>
            <a:endParaRPr lang="en-US" sz="1250" dirty="0"/>
          </a:p>
        </p:txBody>
      </p:sp>
      <p:sp>
        <p:nvSpPr>
          <p:cNvPr id="8" name="Shape 5"/>
          <p:cNvSpPr/>
          <p:nvPr/>
        </p:nvSpPr>
        <p:spPr>
          <a:xfrm>
            <a:off x="6217920" y="4206240"/>
            <a:ext cx="5394960" cy="1783080"/>
          </a:xfrm>
          <a:prstGeom prst="roundRect">
            <a:avLst>
              <a:gd name="adj" fmla="val 4103"/>
            </a:avLst>
          </a:prstGeom>
          <a:solidFill>
            <a:srgbClr val="FFFFFF"/>
          </a:solidFill>
          <a:ln w="12700">
            <a:solidFill>
              <a:srgbClr val="E3E8EC"/>
            </a:solidFill>
            <a:prstDash val="solid"/>
          </a:ln>
        </p:spPr>
      </p:sp>
      <p:sp>
        <p:nvSpPr>
          <p:cNvPr id="9" name="Text 6"/>
          <p:cNvSpPr/>
          <p:nvPr/>
        </p:nvSpPr>
        <p:spPr>
          <a:xfrm>
            <a:off x="6492240" y="4370832"/>
            <a:ext cx="4572000" cy="274320"/>
          </a:xfrm>
          <a:prstGeom prst="rect">
            <a:avLst/>
          </a:prstGeom>
          <a:noFill/>
          <a:ln/>
        </p:spPr>
        <p:txBody>
          <a:bodyPr wrap="square" lIns="0" tIns="0" rIns="0" bIns="0" rtlCol="0" anchor="ctr"/>
          <a:lstStyle/>
          <a:p>
            <a:pPr indent="0" marL="0">
              <a:buNone/>
            </a:pPr>
            <a:r>
              <a:rPr lang="en-US" sz="1100" b="1" spc="150" kern="0" dirty="0">
                <a:solidFill>
                  <a:srgbClr val="1F8A9E"/>
                </a:solidFill>
                <a:latin typeface="Calibri" pitchFamily="34" charset="0"/>
                <a:ea typeface="Calibri" pitchFamily="34" charset="-122"/>
                <a:cs typeface="Calibri" pitchFamily="34" charset="-120"/>
              </a:rPr>
              <a:t>RESUMABLE HARNESS</a:t>
            </a:r>
            <a:endParaRPr lang="en-US" sz="1100" dirty="0"/>
          </a:p>
        </p:txBody>
      </p:sp>
      <p:sp>
        <p:nvSpPr>
          <p:cNvPr id="10" name="Text 7"/>
          <p:cNvSpPr/>
          <p:nvPr/>
        </p:nvSpPr>
        <p:spPr>
          <a:xfrm>
            <a:off x="6492240" y="4663440"/>
            <a:ext cx="4846320" cy="11887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Multi-hour, unattended runs on non-dedicated hardware. A row-count checkpoint (v2 design) replaced a naive design that silently re-ran completed measurements.</a:t>
            </a:r>
            <a:endParaRPr lang="en-US" sz="1250" dirty="0"/>
          </a:p>
        </p:txBody>
      </p:sp>
      <p:sp>
        <p:nvSpPr>
          <p:cNvPr id="11" name="Text 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FINDING 1</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Thread scaling follows Gunther's USL, not Amdahl</a:t>
            </a:r>
            <a:endParaRPr lang="en-US" sz="3000" dirty="0"/>
          </a:p>
        </p:txBody>
      </p:sp>
      <p:graphicFrame>
        <p:nvGraphicFramePr>
          <p:cNvPr id="4" name="Chart 0" descr=""/>
          <p:cNvGraphicFramePr/>
          <p:nvPr/>
        </p:nvGraphicFramePr>
        <p:xfrm>
          <a:off x="548640" y="146304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35240" y="1463040"/>
            <a:ext cx="3977640" cy="4480560"/>
          </a:xfrm>
          <a:prstGeom prst="roundRect">
            <a:avLst>
              <a:gd name="adj" fmla="val 1839"/>
            </a:avLst>
          </a:prstGeom>
          <a:solidFill>
            <a:srgbClr val="162447"/>
          </a:solidFill>
          <a:ln/>
        </p:spPr>
      </p:sp>
      <p:sp>
        <p:nvSpPr>
          <p:cNvPr id="6" name="Text 3"/>
          <p:cNvSpPr/>
          <p:nvPr/>
        </p:nvSpPr>
        <p:spPr>
          <a:xfrm>
            <a:off x="7909560" y="1691640"/>
            <a:ext cx="3474720" cy="274320"/>
          </a:xfrm>
          <a:prstGeom prst="rect">
            <a:avLst/>
          </a:prstGeom>
          <a:noFill/>
          <a:ln/>
        </p:spPr>
        <p:txBody>
          <a:bodyPr wrap="square" lIns="0" tIns="0" rIns="0" bIns="0" rtlCol="0" anchor="ctr"/>
          <a:lstStyle/>
          <a:p>
            <a:pPr indent="0" marL="0">
              <a:buNone/>
            </a:pPr>
            <a:r>
              <a:rPr lang="en-US" sz="1100" b="1" spc="150" kern="0" dirty="0">
                <a:solidFill>
                  <a:srgbClr val="E8A33D"/>
                </a:solidFill>
                <a:latin typeface="Calibri" pitchFamily="34" charset="0"/>
                <a:ea typeface="Calibri" pitchFamily="34" charset="-122"/>
                <a:cs typeface="Calibri" pitchFamily="34" charset="-120"/>
              </a:rPr>
              <a:t>RETROGRADE SCALING</a:t>
            </a:r>
            <a:endParaRPr lang="en-US" sz="1100" dirty="0"/>
          </a:p>
        </p:txBody>
      </p:sp>
      <p:sp>
        <p:nvSpPr>
          <p:cNvPr id="7" name="Text 4"/>
          <p:cNvSpPr/>
          <p:nvPr/>
        </p:nvSpPr>
        <p:spPr>
          <a:xfrm>
            <a:off x="7909560" y="2011680"/>
            <a:ext cx="3474720" cy="1051560"/>
          </a:xfrm>
          <a:prstGeom prst="rect">
            <a:avLst/>
          </a:prstGeom>
          <a:noFill/>
          <a:ln/>
        </p:spPr>
        <p:txBody>
          <a:bodyPr wrap="square" lIns="0" tIns="0" rIns="0" bIns="0" rtlCol="0" anchor="ctr"/>
          <a:lstStyle/>
          <a:p>
            <a:pPr indent="0" marL="0">
              <a:lnSpc>
                <a:spcPts val="1650"/>
              </a:lnSpc>
              <a:buNone/>
            </a:pPr>
            <a:r>
              <a:rPr lang="en-US" sz="1250" dirty="0">
                <a:solidFill>
                  <a:srgbClr val="FFFFFF"/>
                </a:solidFill>
                <a:latin typeface="Calibri" pitchFamily="34" charset="0"/>
                <a:ea typeface="Calibri" pitchFamily="34" charset="-122"/>
                <a:cs typeface="Calibri" pitchFamily="34" charset="-120"/>
              </a:rPr>
              <a:t>Generation peaks at 4 threads (8.83 tok/s), then drops at 6 (6.90) — a hump Amdahl's law cannot produce.</a:t>
            </a:r>
            <a:endParaRPr lang="en-US" sz="1250" dirty="0"/>
          </a:p>
        </p:txBody>
      </p:sp>
      <p:sp>
        <p:nvSpPr>
          <p:cNvPr id="8" name="Shape 5"/>
          <p:cNvSpPr/>
          <p:nvPr/>
        </p:nvSpPr>
        <p:spPr>
          <a:xfrm>
            <a:off x="7909560" y="3200400"/>
            <a:ext cx="3474720" cy="0"/>
          </a:xfrm>
          <a:prstGeom prst="line">
            <a:avLst/>
          </a:prstGeom>
          <a:noFill/>
          <a:ln w="12700">
            <a:solidFill>
              <a:srgbClr val="1F8A9E"/>
            </a:solidFill>
            <a:prstDash val="solid"/>
          </a:ln>
        </p:spPr>
      </p:sp>
      <p:sp>
        <p:nvSpPr>
          <p:cNvPr id="9" name="Text 6"/>
          <p:cNvSpPr/>
          <p:nvPr/>
        </p:nvSpPr>
        <p:spPr>
          <a:xfrm>
            <a:off x="7909560" y="3337560"/>
            <a:ext cx="3474720" cy="914400"/>
          </a:xfrm>
          <a:prstGeom prst="rect">
            <a:avLst/>
          </a:prstGeom>
          <a:noFill/>
          <a:ln/>
        </p:spPr>
        <p:txBody>
          <a:bodyPr wrap="square" lIns="0" tIns="0" rIns="0" bIns="0" rtlCol="0" anchor="ctr"/>
          <a:lstStyle/>
          <a:p>
            <a:pPr indent="0" marL="0">
              <a:lnSpc>
                <a:spcPts val="1650"/>
              </a:lnSpc>
              <a:buNone/>
            </a:pPr>
            <a:r>
              <a:rPr lang="en-US" sz="1250" dirty="0">
                <a:solidFill>
                  <a:srgbClr val="FFFFFF"/>
                </a:solidFill>
                <a:latin typeface="Calibri" pitchFamily="34" charset="0"/>
                <a:ea typeface="Calibri" pitchFamily="34" charset="-122"/>
                <a:cs typeface="Calibri" pitchFamily="34" charset="-120"/>
              </a:rPr>
              <a:t>Prefill saturates near 6 threads — the chip's physical core count, not its 12 logical threads.</a:t>
            </a:r>
            <a:endParaRPr lang="en-US" sz="1250" dirty="0"/>
          </a:p>
        </p:txBody>
      </p:sp>
      <p:sp>
        <p:nvSpPr>
          <p:cNvPr id="10" name="Shape 7"/>
          <p:cNvSpPr/>
          <p:nvPr/>
        </p:nvSpPr>
        <p:spPr>
          <a:xfrm>
            <a:off x="7909560" y="4389120"/>
            <a:ext cx="3474720" cy="0"/>
          </a:xfrm>
          <a:prstGeom prst="line">
            <a:avLst/>
          </a:prstGeom>
          <a:noFill/>
          <a:ln w="12700">
            <a:solidFill>
              <a:srgbClr val="1F8A9E"/>
            </a:solidFill>
            <a:prstDash val="solid"/>
          </a:ln>
        </p:spPr>
      </p:sp>
      <p:sp>
        <p:nvSpPr>
          <p:cNvPr id="11" name="Text 8"/>
          <p:cNvSpPr/>
          <p:nvPr/>
        </p:nvSpPr>
        <p:spPr>
          <a:xfrm>
            <a:off x="7909560" y="4526280"/>
            <a:ext cx="3474720" cy="1234440"/>
          </a:xfrm>
          <a:prstGeom prst="rect">
            <a:avLst/>
          </a:prstGeom>
          <a:noFill/>
          <a:ln/>
        </p:spPr>
        <p:txBody>
          <a:bodyPr wrap="square" lIns="0" tIns="0" rIns="0" bIns="0" rtlCol="0" anchor="ctr"/>
          <a:lstStyle/>
          <a:p>
            <a:pPr indent="0" marL="0">
              <a:lnSpc>
                <a:spcPts val="1650"/>
              </a:lnSpc>
              <a:buNone/>
            </a:pPr>
            <a:r>
              <a:rPr lang="en-US" sz="1250" dirty="0">
                <a:solidFill>
                  <a:srgbClr val="FFFFFF"/>
                </a:solidFill>
                <a:latin typeface="Calibri" pitchFamily="34" charset="0"/>
                <a:ea typeface="Calibri" pitchFamily="34" charset="-122"/>
                <a:cs typeface="Calibri" pitchFamily="34" charset="-120"/>
              </a:rPr>
              <a:t>On the Pentium G5420, generation falls monotonically — 32% slower at 8 threads than at 1.</a:t>
            </a:r>
            <a:endParaRPr lang="en-US" sz="1250" dirty="0"/>
          </a:p>
        </p:txBody>
      </p:sp>
      <p:sp>
        <p:nvSpPr>
          <p:cNvPr id="12" name="Text 9"/>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FINDING 2</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Model size decides which regime you're in</a:t>
            </a:r>
            <a:endParaRPr lang="en-US" sz="3000" dirty="0"/>
          </a:p>
        </p:txBody>
      </p:sp>
      <p:graphicFrame>
        <p:nvGraphicFramePr>
          <p:cNvPr id="4" name="Chart 0" descr=""/>
          <p:cNvGraphicFramePr/>
          <p:nvPr/>
        </p:nvGraphicFramePr>
        <p:xfrm>
          <a:off x="548640" y="146304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35240" y="1463040"/>
            <a:ext cx="3977640" cy="4480560"/>
          </a:xfrm>
          <a:prstGeom prst="roundRect">
            <a:avLst>
              <a:gd name="adj" fmla="val 1839"/>
            </a:avLst>
          </a:prstGeom>
          <a:solidFill>
            <a:srgbClr val="FFFFFF"/>
          </a:solidFill>
          <a:ln w="12700">
            <a:solidFill>
              <a:srgbClr val="E3E8EC"/>
            </a:solidFill>
            <a:prstDash val="solid"/>
          </a:ln>
        </p:spPr>
      </p:sp>
      <p:sp>
        <p:nvSpPr>
          <p:cNvPr id="6" name="Text 3"/>
          <p:cNvSpPr/>
          <p:nvPr/>
        </p:nvSpPr>
        <p:spPr>
          <a:xfrm>
            <a:off x="7909560" y="1691640"/>
            <a:ext cx="3474720" cy="274320"/>
          </a:xfrm>
          <a:prstGeom prst="rect">
            <a:avLst/>
          </a:prstGeom>
          <a:noFill/>
          <a:ln/>
        </p:spPr>
        <p:txBody>
          <a:bodyPr wrap="square" lIns="0" tIns="0" rIns="0" bIns="0" rtlCol="0" anchor="ctr"/>
          <a:lstStyle/>
          <a:p>
            <a:pPr indent="0" marL="0">
              <a:buNone/>
            </a:pPr>
            <a:r>
              <a:rPr lang="en-US" sz="1100" b="1" spc="150" kern="0" dirty="0">
                <a:solidFill>
                  <a:srgbClr val="1F8A9E"/>
                </a:solidFill>
                <a:latin typeface="Calibri" pitchFamily="34" charset="0"/>
                <a:ea typeface="Calibri" pitchFamily="34" charset="-122"/>
                <a:cs typeface="Calibri" pitchFamily="34" charset="-120"/>
              </a:rPr>
              <a:t>BYTES PER TOKEN</a:t>
            </a:r>
            <a:endParaRPr lang="en-US" sz="1100" dirty="0"/>
          </a:p>
        </p:txBody>
      </p:sp>
      <p:sp>
        <p:nvSpPr>
          <p:cNvPr id="7" name="Text 4"/>
          <p:cNvSpPr/>
          <p:nvPr/>
        </p:nvSpPr>
        <p:spPr>
          <a:xfrm>
            <a:off x="7909560" y="2011680"/>
            <a:ext cx="3474720" cy="640080"/>
          </a:xfrm>
          <a:prstGeom prst="rect">
            <a:avLst/>
          </a:prstGeom>
          <a:noFill/>
          <a:ln/>
        </p:spPr>
        <p:txBody>
          <a:bodyPr wrap="square" lIns="0" tIns="0" rIns="0" bIns="0" rtlCol="0" anchor="ctr"/>
          <a:lstStyle/>
          <a:p>
            <a:pPr indent="0" marL="0">
              <a:lnSpc>
                <a:spcPts val="1650"/>
              </a:lnSpc>
              <a:buNone/>
            </a:pPr>
            <a:r>
              <a:rPr lang="en-US" sz="1250" dirty="0">
                <a:solidFill>
                  <a:srgbClr val="1B2430"/>
                </a:solidFill>
                <a:latin typeface="Calibri" pitchFamily="34" charset="0"/>
                <a:ea typeface="Calibri" pitchFamily="34" charset="-122"/>
                <a:cs typeface="Calibri" pitchFamily="34" charset="-120"/>
              </a:rPr>
              <a:t>Generating one token means reading the whole model out of RAM once.</a:t>
            </a:r>
            <a:endParaRPr lang="en-US" sz="1250" dirty="0"/>
          </a:p>
        </p:txBody>
      </p:sp>
      <p:sp>
        <p:nvSpPr>
          <p:cNvPr id="8" name="Text 5"/>
          <p:cNvSpPr/>
          <p:nvPr/>
        </p:nvSpPr>
        <p:spPr>
          <a:xfrm>
            <a:off x="7909560" y="2697480"/>
            <a:ext cx="1463040" cy="731520"/>
          </a:xfrm>
          <a:prstGeom prst="rect">
            <a:avLst/>
          </a:prstGeom>
          <a:noFill/>
          <a:ln/>
        </p:spPr>
        <p:txBody>
          <a:bodyPr wrap="square" lIns="0" tIns="0" rIns="0" bIns="0" rtlCol="0" anchor="ctr"/>
          <a:lstStyle/>
          <a:p>
            <a:pPr indent="0" marL="0">
              <a:buNone/>
            </a:pPr>
            <a:r>
              <a:rPr lang="en-US" sz="4000" b="1" dirty="0">
                <a:solidFill>
                  <a:srgbClr val="162447"/>
                </a:solidFill>
                <a:latin typeface="Cambria" pitchFamily="34" charset="0"/>
                <a:ea typeface="Cambria" pitchFamily="34" charset="-122"/>
                <a:cs typeface="Cambria" pitchFamily="34" charset="-120"/>
              </a:rPr>
              <a:t>3×</a:t>
            </a:r>
            <a:endParaRPr lang="en-US" sz="4000" dirty="0"/>
          </a:p>
        </p:txBody>
      </p:sp>
      <p:sp>
        <p:nvSpPr>
          <p:cNvPr id="9" name="Text 6"/>
          <p:cNvSpPr/>
          <p:nvPr/>
        </p:nvSpPr>
        <p:spPr>
          <a:xfrm>
            <a:off x="7909560" y="3383280"/>
            <a:ext cx="3474720" cy="548640"/>
          </a:xfrm>
          <a:prstGeom prst="rect">
            <a:avLst/>
          </a:prstGeom>
          <a:noFill/>
          <a:ln/>
        </p:spPr>
        <p:txBody>
          <a:bodyPr wrap="square" lIns="0" tIns="0" rIns="0" bIns="0" rtlCol="0" anchor="ctr"/>
          <a:lstStyle/>
          <a:p>
            <a:pPr indent="0" marL="0">
              <a:lnSpc>
                <a:spcPts val="1400"/>
              </a:lnSpc>
              <a:buNone/>
            </a:pPr>
            <a:r>
              <a:rPr lang="en-US" sz="1150" dirty="0">
                <a:solidFill>
                  <a:srgbClr val="5B6675"/>
                </a:solidFill>
                <a:latin typeface="Calibri" pitchFamily="34" charset="0"/>
                <a:ea typeface="Calibri" pitchFamily="34" charset="-122"/>
                <a:cs typeface="Calibri" pitchFamily="34" charset="-120"/>
              </a:rPr>
              <a:t>faster generation on the small model, 1 → 4 threads</a:t>
            </a:r>
            <a:endParaRPr lang="en-US" sz="1150" dirty="0"/>
          </a:p>
        </p:txBody>
      </p:sp>
      <p:sp>
        <p:nvSpPr>
          <p:cNvPr id="10" name="Shape 7"/>
          <p:cNvSpPr/>
          <p:nvPr/>
        </p:nvSpPr>
        <p:spPr>
          <a:xfrm>
            <a:off x="7909560" y="4023360"/>
            <a:ext cx="3474720" cy="0"/>
          </a:xfrm>
          <a:prstGeom prst="line">
            <a:avLst/>
          </a:prstGeom>
          <a:noFill/>
          <a:ln w="12700">
            <a:solidFill>
              <a:srgbClr val="E3E8EC"/>
            </a:solidFill>
            <a:prstDash val="solid"/>
          </a:ln>
        </p:spPr>
      </p:sp>
      <p:sp>
        <p:nvSpPr>
          <p:cNvPr id="11" name="Text 8"/>
          <p:cNvSpPr/>
          <p:nvPr/>
        </p:nvSpPr>
        <p:spPr>
          <a:xfrm>
            <a:off x="7909560" y="4206240"/>
            <a:ext cx="3474720" cy="1554480"/>
          </a:xfrm>
          <a:prstGeom prst="rect">
            <a:avLst/>
          </a:prstGeom>
          <a:noFill/>
          <a:ln/>
        </p:spPr>
        <p:txBody>
          <a:bodyPr wrap="square" lIns="0" tIns="0" rIns="0" bIns="0" rtlCol="0" anchor="ctr"/>
          <a:lstStyle/>
          <a:p>
            <a:pPr indent="0" marL="0">
              <a:lnSpc>
                <a:spcPts val="1650"/>
              </a:lnSpc>
              <a:buNone/>
            </a:pPr>
            <a:r>
              <a:rPr lang="en-US" sz="1250" dirty="0">
                <a:solidFill>
                  <a:srgbClr val="1B2430"/>
                </a:solidFill>
                <a:latin typeface="Calibri" pitchFamily="34" charset="0"/>
                <a:ea typeface="Calibri" pitchFamily="34" charset="-122"/>
                <a:cs typeface="Calibri" pitchFamily="34" charset="-120"/>
              </a:rPr>
              <a:t>A single thread running the 7B model already saturates the Jetson's ~25 GB/s memory bandwidth — nothing left for more threads to use.</a:t>
            </a:r>
            <a:endParaRPr lang="en-US" sz="1250" dirty="0"/>
          </a:p>
        </p:txBody>
      </p:sp>
      <p:sp>
        <p:nvSpPr>
          <p:cNvPr id="12" name="Text 9"/>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FINDING 3</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Flash Attention is a regression on CPU at long context</a:t>
            </a:r>
            <a:endParaRPr lang="en-US" sz="3000" dirty="0"/>
          </a:p>
        </p:txBody>
      </p:sp>
      <p:graphicFrame>
        <p:nvGraphicFramePr>
          <p:cNvPr id="4" name="Chart 0" descr=""/>
          <p:cNvGraphicFramePr/>
          <p:nvPr/>
        </p:nvGraphicFramePr>
        <p:xfrm>
          <a:off x="548640" y="1508760"/>
          <a:ext cx="6675120" cy="42062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508760"/>
            <a:ext cx="4206240" cy="4206240"/>
          </a:xfrm>
          <a:prstGeom prst="roundRect">
            <a:avLst>
              <a:gd name="adj" fmla="val 1739"/>
            </a:avLst>
          </a:prstGeom>
          <a:solidFill>
            <a:srgbClr val="162447"/>
          </a:solidFill>
          <a:ln/>
        </p:spPr>
      </p:sp>
      <p:sp>
        <p:nvSpPr>
          <p:cNvPr id="6" name="Text 3"/>
          <p:cNvSpPr/>
          <p:nvPr/>
        </p:nvSpPr>
        <p:spPr>
          <a:xfrm>
            <a:off x="7680960" y="1737360"/>
            <a:ext cx="3566160" cy="914400"/>
          </a:xfrm>
          <a:prstGeom prst="rect">
            <a:avLst/>
          </a:prstGeom>
          <a:noFill/>
          <a:ln/>
        </p:spPr>
        <p:txBody>
          <a:bodyPr wrap="square" lIns="0" tIns="0" rIns="0" bIns="0" rtlCol="0" anchor="ctr"/>
          <a:lstStyle/>
          <a:p>
            <a:pPr indent="0" marL="0">
              <a:buNone/>
            </a:pPr>
            <a:r>
              <a:rPr lang="en-US" sz="4600" b="1" dirty="0">
                <a:solidFill>
                  <a:srgbClr val="E8A33D"/>
                </a:solidFill>
                <a:latin typeface="Cambria" pitchFamily="34" charset="0"/>
                <a:ea typeface="Cambria" pitchFamily="34" charset="-122"/>
                <a:cs typeface="Cambria" pitchFamily="34" charset="-120"/>
              </a:rPr>
              <a:t>-68%</a:t>
            </a:r>
            <a:endParaRPr lang="en-US" sz="4600" dirty="0"/>
          </a:p>
        </p:txBody>
      </p:sp>
      <p:sp>
        <p:nvSpPr>
          <p:cNvPr id="7" name="Text 4"/>
          <p:cNvSpPr/>
          <p:nvPr/>
        </p:nvSpPr>
        <p:spPr>
          <a:xfrm>
            <a:off x="7680960" y="2606040"/>
            <a:ext cx="3566160" cy="77724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generation throughput at 15K-token context when Flash Attention is enabled</a:t>
            </a:r>
            <a:endParaRPr lang="en-US" sz="1300" dirty="0"/>
          </a:p>
        </p:txBody>
      </p:sp>
      <p:sp>
        <p:nvSpPr>
          <p:cNvPr id="8" name="Shape 5"/>
          <p:cNvSpPr/>
          <p:nvPr/>
        </p:nvSpPr>
        <p:spPr>
          <a:xfrm>
            <a:off x="7680960" y="3474720"/>
            <a:ext cx="3566160" cy="0"/>
          </a:xfrm>
          <a:prstGeom prst="line">
            <a:avLst/>
          </a:prstGeom>
          <a:noFill/>
          <a:ln w="12700">
            <a:solidFill>
              <a:srgbClr val="1F8A9E"/>
            </a:solidFill>
            <a:prstDash val="solid"/>
          </a:ln>
        </p:spPr>
      </p:sp>
      <p:sp>
        <p:nvSpPr>
          <p:cNvPr id="9" name="Text 6"/>
          <p:cNvSpPr/>
          <p:nvPr/>
        </p:nvSpPr>
        <p:spPr>
          <a:xfrm>
            <a:off x="7680960" y="3657600"/>
            <a:ext cx="3566160" cy="1097280"/>
          </a:xfrm>
          <a:prstGeom prst="rect">
            <a:avLst/>
          </a:prstGeom>
          <a:noFill/>
          <a:ln/>
        </p:spPr>
        <p:txBody>
          <a:bodyPr wrap="square" lIns="0" tIns="0" rIns="0" bIns="0" rtlCol="0" anchor="ctr"/>
          <a:lstStyle/>
          <a:p>
            <a:pPr indent="0" marL="0">
              <a:lnSpc>
                <a:spcPts val="1550"/>
              </a:lnSpc>
              <a:buNone/>
            </a:pPr>
            <a:r>
              <a:rPr lang="en-US" sz="1200" dirty="0">
                <a:solidFill>
                  <a:srgbClr val="DCEFF2"/>
                </a:solidFill>
                <a:latin typeface="Calibri" pitchFamily="34" charset="0"/>
                <a:ea typeface="Calibri" pitchFamily="34" charset="-122"/>
                <a:cs typeface="Calibri" pitchFamily="34" charset="-120"/>
              </a:rPr>
              <a:t>GPU cache tiers make Flash Attention pay off. This CPU's data already fits in L3 — there's little slow-memory traffic to save, so only the restructuring cost remains.</a:t>
            </a:r>
            <a:endParaRPr lang="en-US" sz="1200" dirty="0"/>
          </a:p>
        </p:txBody>
      </p:sp>
      <p:sp>
        <p:nvSpPr>
          <p:cNvPr id="10" name="Text 7"/>
          <p:cNvSpPr/>
          <p:nvPr/>
        </p:nvSpPr>
        <p:spPr>
          <a:xfrm>
            <a:off x="7680960" y="4892040"/>
            <a:ext cx="3566160" cy="640080"/>
          </a:xfrm>
          <a:prstGeom prst="rect">
            <a:avLst/>
          </a:prstGeom>
          <a:noFill/>
          <a:ln/>
        </p:spPr>
        <p:txBody>
          <a:bodyPr wrap="square" lIns="0" tIns="0" rIns="0" bIns="0" rtlCol="0" anchor="ctr"/>
          <a:lstStyle/>
          <a:p>
            <a:pPr indent="0" marL="0">
              <a:lnSpc>
                <a:spcPts val="1550"/>
              </a:lnSpc>
              <a:buNone/>
            </a:pPr>
            <a:r>
              <a:rPr lang="en-US" sz="1200" b="1" i="1" dirty="0">
                <a:solidFill>
                  <a:srgbClr val="FFFFFF"/>
                </a:solidFill>
                <a:latin typeface="Calibri" pitchFamily="34" charset="0"/>
                <a:ea typeface="Calibri" pitchFamily="34" charset="-122"/>
                <a:cs typeface="Calibri" pitchFamily="34" charset="-120"/>
              </a:rPr>
              <a:t>Recommendation: use -fa 0 on CPU with long prompts.</a:t>
            </a:r>
            <a:endParaRPr lang="en-US" sz="1200" dirty="0"/>
          </a:p>
        </p:txBody>
      </p:sp>
      <p:sp>
        <p:nvSpPr>
          <p:cNvPr id="11" name="Text 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FINDING 4</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KV-cache quantization is not a free lunch</a:t>
            </a:r>
            <a:endParaRPr lang="en-US" sz="3000" dirty="0"/>
          </a:p>
        </p:txBody>
      </p:sp>
      <p:graphicFrame>
        <p:nvGraphicFramePr>
          <p:cNvPr id="4" name="Chart 0" descr=""/>
          <p:cNvGraphicFramePr/>
          <p:nvPr/>
        </p:nvGraphicFramePr>
        <p:xfrm>
          <a:off x="548640" y="1508760"/>
          <a:ext cx="6675120" cy="42062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508760"/>
            <a:ext cx="4206240" cy="4206240"/>
          </a:xfrm>
          <a:prstGeom prst="roundRect">
            <a:avLst>
              <a:gd name="adj" fmla="val 1739"/>
            </a:avLst>
          </a:prstGeom>
          <a:solidFill>
            <a:srgbClr val="FFFFFF"/>
          </a:solidFill>
          <a:ln w="12700">
            <a:solidFill>
              <a:srgbClr val="E3E8EC"/>
            </a:solidFill>
            <a:prstDash val="solid"/>
          </a:ln>
        </p:spPr>
      </p:sp>
      <p:sp>
        <p:nvSpPr>
          <p:cNvPr id="6" name="Text 3"/>
          <p:cNvSpPr/>
          <p:nvPr/>
        </p:nvSpPr>
        <p:spPr>
          <a:xfrm>
            <a:off x="7680960" y="1737360"/>
            <a:ext cx="3566160" cy="640080"/>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4× SLOWER</a:t>
            </a:r>
            <a:endParaRPr lang="en-US" sz="3000" dirty="0"/>
          </a:p>
        </p:txBody>
      </p:sp>
      <p:sp>
        <p:nvSpPr>
          <p:cNvPr id="7" name="Text 4"/>
          <p:cNvSpPr/>
          <p:nvPr/>
        </p:nvSpPr>
        <p:spPr>
          <a:xfrm>
            <a:off x="7680960" y="2286000"/>
            <a:ext cx="3566160" cy="822960"/>
          </a:xfrm>
          <a:prstGeom prst="rect">
            <a:avLst/>
          </a:prstGeom>
          <a:noFill/>
          <a:ln/>
        </p:spPr>
        <p:txBody>
          <a:bodyPr wrap="square" lIns="0" tIns="0" rIns="0" bIns="0" rtlCol="0" anchor="ctr"/>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for prompt processing at medium context length — for a supposedly ‘lighter’ cache</a:t>
            </a:r>
            <a:endParaRPr lang="en-US" sz="1300" dirty="0"/>
          </a:p>
        </p:txBody>
      </p:sp>
      <p:sp>
        <p:nvSpPr>
          <p:cNvPr id="8" name="Shape 5"/>
          <p:cNvSpPr/>
          <p:nvPr/>
        </p:nvSpPr>
        <p:spPr>
          <a:xfrm>
            <a:off x="7680960" y="3200400"/>
            <a:ext cx="3566160" cy="0"/>
          </a:xfrm>
          <a:prstGeom prst="line">
            <a:avLst/>
          </a:prstGeom>
          <a:noFill/>
          <a:ln w="12700">
            <a:solidFill>
              <a:srgbClr val="E3E8EC"/>
            </a:solidFill>
            <a:prstDash val="solid"/>
          </a:ln>
        </p:spPr>
      </p:sp>
      <p:sp>
        <p:nvSpPr>
          <p:cNvPr id="9" name="Text 6"/>
          <p:cNvSpPr/>
          <p:nvPr/>
        </p:nvSpPr>
        <p:spPr>
          <a:xfrm>
            <a:off x="7680960" y="3383280"/>
            <a:ext cx="3566160" cy="914400"/>
          </a:xfrm>
          <a:prstGeom prst="rect">
            <a:avLst/>
          </a:prstGeom>
          <a:noFill/>
          <a:ln/>
        </p:spPr>
        <p:txBody>
          <a:bodyPr wrap="square" lIns="0" tIns="0" rIns="0" bIns="0" rtlCol="0" anchor="ctr"/>
          <a:lstStyle/>
          <a:p>
            <a:pPr indent="0" marL="0">
              <a:lnSpc>
                <a:spcPts val="1650"/>
              </a:lnSpc>
              <a:buNone/>
            </a:pPr>
            <a:r>
              <a:rPr lang="en-US" sz="1250" dirty="0">
                <a:solidFill>
                  <a:srgbClr val="1B2430"/>
                </a:solidFill>
                <a:latin typeface="Calibri" pitchFamily="34" charset="0"/>
                <a:ea typeface="Calibri" pitchFamily="34" charset="-122"/>
                <a:cs typeface="Calibri" pitchFamily="34" charset="-120"/>
              </a:rPr>
              <a:t>Every quantized-KV configuration tested was slower than the f16 baseline, and the gap widened with context length.</a:t>
            </a:r>
            <a:endParaRPr lang="en-US" sz="1250" dirty="0"/>
          </a:p>
        </p:txBody>
      </p:sp>
      <p:sp>
        <p:nvSpPr>
          <p:cNvPr id="10" name="Text 7"/>
          <p:cNvSpPr/>
          <p:nvPr/>
        </p:nvSpPr>
        <p:spPr>
          <a:xfrm>
            <a:off x="7680960" y="4343400"/>
            <a:ext cx="3566160" cy="1280160"/>
          </a:xfrm>
          <a:prstGeom prst="rect">
            <a:avLst/>
          </a:prstGeom>
          <a:noFill/>
          <a:ln/>
        </p:spPr>
        <p:txBody>
          <a:bodyPr wrap="square" lIns="0" tIns="0" rIns="0" bIns="0" rtlCol="0" anchor="ctr"/>
          <a:lstStyle/>
          <a:p>
            <a:pPr indent="0" marL="0">
              <a:lnSpc>
                <a:spcPts val="1550"/>
              </a:lnSpc>
              <a:buNone/>
            </a:pPr>
            <a:r>
              <a:rPr lang="en-US" sz="1200" i="1" dirty="0">
                <a:solidFill>
                  <a:srgbClr val="5B6675"/>
                </a:solidFill>
                <a:latin typeface="Calibri" pitchFamily="34" charset="0"/>
                <a:ea typeface="Calibri" pitchFamily="34" charset="-122"/>
                <a:cs typeface="Calibri" pitchFamily="34" charset="-120"/>
              </a:rPr>
              <a:t>Why: dequantizing a cached value costs CPU cycles. On a compute-rich chip, that cost outweighs the memory saved — this configuration is compute-bound, not memory-bound.</a:t>
            </a:r>
            <a:endParaRPr lang="en-US" sz="1200" dirty="0"/>
          </a:p>
        </p:txBody>
      </p:sp>
      <p:sp>
        <p:nvSpPr>
          <p:cNvPr id="11" name="Text 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FINDING 5</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Quantization format is not just bit-width</a:t>
            </a:r>
            <a:endParaRPr lang="en-US" sz="3000" dirty="0"/>
          </a:p>
        </p:txBody>
      </p:sp>
      <p:graphicFrame>
        <p:nvGraphicFramePr>
          <p:cNvPr id="4" name="Chart 0" descr=""/>
          <p:cNvGraphicFramePr/>
          <p:nvPr/>
        </p:nvGraphicFramePr>
        <p:xfrm>
          <a:off x="548640" y="1508760"/>
          <a:ext cx="6675120" cy="42062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508760"/>
            <a:ext cx="4206240" cy="4206240"/>
          </a:xfrm>
          <a:prstGeom prst="roundRect">
            <a:avLst>
              <a:gd name="adj" fmla="val 1739"/>
            </a:avLst>
          </a:prstGeom>
          <a:solidFill>
            <a:srgbClr val="162447"/>
          </a:solidFill>
          <a:ln/>
        </p:spPr>
      </p:sp>
      <p:sp>
        <p:nvSpPr>
          <p:cNvPr id="6" name="Text 3"/>
          <p:cNvSpPr/>
          <p:nvPr/>
        </p:nvSpPr>
        <p:spPr>
          <a:xfrm>
            <a:off x="7680960" y="1737360"/>
            <a:ext cx="3566160" cy="822960"/>
          </a:xfrm>
          <a:prstGeom prst="rect">
            <a:avLst/>
          </a:prstGeom>
          <a:noFill/>
          <a:ln/>
        </p:spPr>
        <p:txBody>
          <a:bodyPr wrap="square" lIns="0" tIns="0" rIns="0" bIns="0" rtlCol="0" anchor="ctr"/>
          <a:lstStyle/>
          <a:p>
            <a:pPr indent="0" marL="0">
              <a:buNone/>
            </a:pPr>
            <a:r>
              <a:rPr lang="en-US" sz="4400" b="1" dirty="0">
                <a:solidFill>
                  <a:srgbClr val="E8A33D"/>
                </a:solidFill>
                <a:latin typeface="Cambria" pitchFamily="34" charset="0"/>
                <a:ea typeface="Cambria" pitchFamily="34" charset="-122"/>
                <a:cs typeface="Cambria" pitchFamily="34" charset="-120"/>
              </a:rPr>
              <a:t>3.6×</a:t>
            </a:r>
            <a:endParaRPr lang="en-US" sz="4400" dirty="0"/>
          </a:p>
        </p:txBody>
      </p:sp>
      <p:sp>
        <p:nvSpPr>
          <p:cNvPr id="7" name="Text 4"/>
          <p:cNvSpPr/>
          <p:nvPr/>
        </p:nvSpPr>
        <p:spPr>
          <a:xfrm>
            <a:off x="7680960" y="2514600"/>
            <a:ext cx="3566160" cy="82296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faster: Q4_0 vs. Q4_K_M — identical 4-bit width, same model, same chip</a:t>
            </a:r>
            <a:endParaRPr lang="en-US" sz="1300" dirty="0"/>
          </a:p>
        </p:txBody>
      </p:sp>
      <p:sp>
        <p:nvSpPr>
          <p:cNvPr id="8" name="Shape 5"/>
          <p:cNvSpPr/>
          <p:nvPr/>
        </p:nvSpPr>
        <p:spPr>
          <a:xfrm>
            <a:off x="7680960" y="3383280"/>
            <a:ext cx="3566160" cy="0"/>
          </a:xfrm>
          <a:prstGeom prst="line">
            <a:avLst/>
          </a:prstGeom>
          <a:noFill/>
          <a:ln w="12700">
            <a:solidFill>
              <a:srgbClr val="1F8A9E"/>
            </a:solidFill>
            <a:prstDash val="solid"/>
          </a:ln>
        </p:spPr>
      </p:sp>
      <p:sp>
        <p:nvSpPr>
          <p:cNvPr id="9" name="Text 6"/>
          <p:cNvSpPr/>
          <p:nvPr/>
        </p:nvSpPr>
        <p:spPr>
          <a:xfrm>
            <a:off x="7680960" y="3566160"/>
            <a:ext cx="3566160" cy="914400"/>
          </a:xfrm>
          <a:prstGeom prst="rect">
            <a:avLst/>
          </a:prstGeom>
          <a:noFill/>
          <a:ln/>
        </p:spPr>
        <p:txBody>
          <a:bodyPr wrap="square" lIns="0" tIns="0" rIns="0" bIns="0" rtlCol="0" anchor="ctr"/>
          <a:lstStyle/>
          <a:p>
            <a:pPr indent="0" marL="0">
              <a:lnSpc>
                <a:spcPts val="1650"/>
              </a:lnSpc>
              <a:buNone/>
            </a:pPr>
            <a:r>
              <a:rPr lang="en-US" sz="1250" dirty="0">
                <a:solidFill>
                  <a:srgbClr val="DCEFF2"/>
                </a:solidFill>
                <a:latin typeface="Calibri" pitchFamily="34" charset="0"/>
                <a:ea typeface="Calibri" pitchFamily="34" charset="-122"/>
                <a:cs typeface="Calibri" pitchFamily="34" charset="-120"/>
              </a:rPr>
              <a:t>Q3_K_M (3-bit, smaller) is even slower than Q4_K_M (4-bit). Bit-width alone doesn't predict speed.</a:t>
            </a:r>
            <a:endParaRPr lang="en-US" sz="1250" dirty="0"/>
          </a:p>
        </p:txBody>
      </p:sp>
      <p:sp>
        <p:nvSpPr>
          <p:cNvPr id="10" name="Text 7"/>
          <p:cNvSpPr/>
          <p:nvPr/>
        </p:nvSpPr>
        <p:spPr>
          <a:xfrm>
            <a:off x="7680960" y="4572000"/>
            <a:ext cx="3566160" cy="1051560"/>
          </a:xfrm>
          <a:prstGeom prst="rect">
            <a:avLst/>
          </a:prstGeom>
          <a:noFill/>
          <a:ln/>
        </p:spPr>
        <p:txBody>
          <a:bodyPr wrap="square" lIns="0" tIns="0" rIns="0" bIns="0" rtlCol="0" anchor="ctr"/>
          <a:lstStyle/>
          <a:p>
            <a:pPr indent="0" marL="0">
              <a:lnSpc>
                <a:spcPts val="1500"/>
              </a:lnSpc>
              <a:buNone/>
            </a:pPr>
            <a:r>
              <a:rPr lang="en-US" sz="1150" i="1" dirty="0">
                <a:solidFill>
                  <a:srgbClr val="C9D6E3"/>
                </a:solidFill>
                <a:latin typeface="Calibri" pitchFamily="34" charset="0"/>
                <a:ea typeface="Calibri" pitchFamily="34" charset="-122"/>
                <a:cs typeface="Calibri" pitchFamily="34" charset="-120"/>
              </a:rPr>
              <a:t>Legacy layouts (Q4_0) map cleanly to fast CPU instructions; newer K-quants pack bits more cleverly but cost more to unpack — costly on chips without AVX-512/VNNI.</a:t>
            </a:r>
            <a:endParaRPr lang="en-US" sz="1150" dirty="0"/>
          </a:p>
        </p:txBody>
      </p:sp>
      <p:sp>
        <p:nvSpPr>
          <p:cNvPr id="11" name="Text 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THE CENTRAL HYPOTHESIS</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The MoE bandwidth argument — motivated, not confirmed</a:t>
            </a:r>
            <a:endParaRPr lang="en-US" sz="3000" dirty="0"/>
          </a:p>
        </p:txBody>
      </p:sp>
      <p:sp>
        <p:nvSpPr>
          <p:cNvPr id="4" name="Text 2"/>
          <p:cNvSpPr/>
          <p:nvPr/>
        </p:nvSpPr>
        <p:spPr>
          <a:xfrm>
            <a:off x="548640" y="1600200"/>
            <a:ext cx="2743200" cy="274320"/>
          </a:xfrm>
          <a:prstGeom prst="rect">
            <a:avLst/>
          </a:prstGeom>
          <a:noFill/>
          <a:ln/>
        </p:spPr>
        <p:txBody>
          <a:bodyPr wrap="square" lIns="0" tIns="0" rIns="0" bIns="0" rtlCol="0" anchor="ctr"/>
          <a:lstStyle/>
          <a:p>
            <a:pPr indent="0" marL="0">
              <a:buNone/>
            </a:pPr>
            <a:r>
              <a:rPr lang="en-US" sz="1200" b="1" dirty="0">
                <a:solidFill>
                  <a:srgbClr val="1F3A63"/>
                </a:solidFill>
                <a:latin typeface="Calibri" pitchFamily="34" charset="0"/>
                <a:ea typeface="Calibri" pitchFamily="34" charset="-122"/>
                <a:cs typeface="Calibri" pitchFamily="34" charset="-120"/>
              </a:rPr>
              <a:t>DENSE MODEL</a:t>
            </a:r>
            <a:endParaRPr lang="en-US" sz="1200" dirty="0"/>
          </a:p>
        </p:txBody>
      </p:sp>
      <p:sp>
        <p:nvSpPr>
          <p:cNvPr id="5" name="Shape 3"/>
          <p:cNvSpPr/>
          <p:nvPr/>
        </p:nvSpPr>
        <p:spPr>
          <a:xfrm>
            <a:off x="548640" y="1965960"/>
            <a:ext cx="457200" cy="384048"/>
          </a:xfrm>
          <a:prstGeom prst="roundRect">
            <a:avLst>
              <a:gd name="adj" fmla="val 11905"/>
            </a:avLst>
          </a:prstGeom>
          <a:solidFill>
            <a:srgbClr val="1F3A63"/>
          </a:solidFill>
          <a:ln/>
        </p:spPr>
      </p:sp>
      <p:sp>
        <p:nvSpPr>
          <p:cNvPr id="6" name="Shape 4"/>
          <p:cNvSpPr/>
          <p:nvPr/>
        </p:nvSpPr>
        <p:spPr>
          <a:xfrm>
            <a:off x="1115568" y="1965960"/>
            <a:ext cx="457200" cy="384048"/>
          </a:xfrm>
          <a:prstGeom prst="roundRect">
            <a:avLst>
              <a:gd name="adj" fmla="val 11905"/>
            </a:avLst>
          </a:prstGeom>
          <a:solidFill>
            <a:srgbClr val="1F3A63"/>
          </a:solidFill>
          <a:ln/>
        </p:spPr>
      </p:sp>
      <p:sp>
        <p:nvSpPr>
          <p:cNvPr id="7" name="Shape 5"/>
          <p:cNvSpPr/>
          <p:nvPr/>
        </p:nvSpPr>
        <p:spPr>
          <a:xfrm>
            <a:off x="1682496" y="1965960"/>
            <a:ext cx="457200" cy="384048"/>
          </a:xfrm>
          <a:prstGeom prst="roundRect">
            <a:avLst>
              <a:gd name="adj" fmla="val 11905"/>
            </a:avLst>
          </a:prstGeom>
          <a:solidFill>
            <a:srgbClr val="1F3A63"/>
          </a:solidFill>
          <a:ln/>
        </p:spPr>
      </p:sp>
      <p:sp>
        <p:nvSpPr>
          <p:cNvPr id="8" name="Shape 6"/>
          <p:cNvSpPr/>
          <p:nvPr/>
        </p:nvSpPr>
        <p:spPr>
          <a:xfrm>
            <a:off x="2249424" y="1965960"/>
            <a:ext cx="457200" cy="384048"/>
          </a:xfrm>
          <a:prstGeom prst="roundRect">
            <a:avLst>
              <a:gd name="adj" fmla="val 11905"/>
            </a:avLst>
          </a:prstGeom>
          <a:solidFill>
            <a:srgbClr val="1F3A63"/>
          </a:solidFill>
          <a:ln/>
        </p:spPr>
      </p:sp>
      <p:sp>
        <p:nvSpPr>
          <p:cNvPr id="9" name="Shape 7"/>
          <p:cNvSpPr/>
          <p:nvPr/>
        </p:nvSpPr>
        <p:spPr>
          <a:xfrm>
            <a:off x="548640" y="2468880"/>
            <a:ext cx="457200" cy="384048"/>
          </a:xfrm>
          <a:prstGeom prst="roundRect">
            <a:avLst>
              <a:gd name="adj" fmla="val 11905"/>
            </a:avLst>
          </a:prstGeom>
          <a:solidFill>
            <a:srgbClr val="1F3A63"/>
          </a:solidFill>
          <a:ln/>
        </p:spPr>
      </p:sp>
      <p:sp>
        <p:nvSpPr>
          <p:cNvPr id="10" name="Shape 8"/>
          <p:cNvSpPr/>
          <p:nvPr/>
        </p:nvSpPr>
        <p:spPr>
          <a:xfrm>
            <a:off x="1115568" y="2468880"/>
            <a:ext cx="457200" cy="384048"/>
          </a:xfrm>
          <a:prstGeom prst="roundRect">
            <a:avLst>
              <a:gd name="adj" fmla="val 11905"/>
            </a:avLst>
          </a:prstGeom>
          <a:solidFill>
            <a:srgbClr val="1F3A63"/>
          </a:solidFill>
          <a:ln/>
        </p:spPr>
      </p:sp>
      <p:sp>
        <p:nvSpPr>
          <p:cNvPr id="11" name="Shape 9"/>
          <p:cNvSpPr/>
          <p:nvPr/>
        </p:nvSpPr>
        <p:spPr>
          <a:xfrm>
            <a:off x="1682496" y="2468880"/>
            <a:ext cx="457200" cy="384048"/>
          </a:xfrm>
          <a:prstGeom prst="roundRect">
            <a:avLst>
              <a:gd name="adj" fmla="val 11905"/>
            </a:avLst>
          </a:prstGeom>
          <a:solidFill>
            <a:srgbClr val="1F3A63"/>
          </a:solidFill>
          <a:ln/>
        </p:spPr>
      </p:sp>
      <p:sp>
        <p:nvSpPr>
          <p:cNvPr id="12" name="Shape 10"/>
          <p:cNvSpPr/>
          <p:nvPr/>
        </p:nvSpPr>
        <p:spPr>
          <a:xfrm>
            <a:off x="2249424" y="2468880"/>
            <a:ext cx="457200" cy="384048"/>
          </a:xfrm>
          <a:prstGeom prst="roundRect">
            <a:avLst>
              <a:gd name="adj" fmla="val 11905"/>
            </a:avLst>
          </a:prstGeom>
          <a:solidFill>
            <a:srgbClr val="1F3A63"/>
          </a:solidFill>
          <a:ln/>
        </p:spPr>
      </p:sp>
      <p:sp>
        <p:nvSpPr>
          <p:cNvPr id="13" name="Text 11"/>
          <p:cNvSpPr/>
          <p:nvPr/>
        </p:nvSpPr>
        <p:spPr>
          <a:xfrm>
            <a:off x="548640" y="3108960"/>
            <a:ext cx="2926080" cy="731520"/>
          </a:xfrm>
          <a:prstGeom prst="rect">
            <a:avLst/>
          </a:prstGeom>
          <a:noFill/>
          <a:ln/>
        </p:spPr>
        <p:txBody>
          <a:bodyPr wrap="square" lIns="0" tIns="0" rIns="0" bIns="0" rtlCol="0" anchor="ctr"/>
          <a:lstStyle/>
          <a:p>
            <a:pPr indent="0" marL="0">
              <a:lnSpc>
                <a:spcPts val="1500"/>
              </a:lnSpc>
              <a:buNone/>
            </a:pPr>
            <a:r>
              <a:rPr lang="en-US" sz="1150" dirty="0">
                <a:solidFill>
                  <a:srgbClr val="5B6675"/>
                </a:solidFill>
                <a:latin typeface="Calibri" pitchFamily="34" charset="0"/>
                <a:ea typeface="Calibri" pitchFamily="34" charset="-122"/>
                <a:cs typeface="Calibri" pitchFamily="34" charset="-120"/>
              </a:rPr>
              <a:t>Every block reads on every token → full weight set streamed per word</a:t>
            </a:r>
            <a:endParaRPr lang="en-US" sz="1150" dirty="0"/>
          </a:p>
        </p:txBody>
      </p:sp>
      <p:sp>
        <p:nvSpPr>
          <p:cNvPr id="14" name="Shape 12"/>
          <p:cNvSpPr/>
          <p:nvPr/>
        </p:nvSpPr>
        <p:spPr>
          <a:xfrm>
            <a:off x="3794760" y="2286000"/>
            <a:ext cx="640080" cy="365760"/>
          </a:xfrm>
          <a:prstGeom prst="rightArrow">
            <a:avLst/>
          </a:prstGeom>
          <a:solidFill>
            <a:srgbClr val="D7DEE5"/>
          </a:solidFill>
          <a:ln/>
        </p:spPr>
      </p:sp>
      <p:sp>
        <p:nvSpPr>
          <p:cNvPr id="15" name="Text 13"/>
          <p:cNvSpPr/>
          <p:nvPr/>
        </p:nvSpPr>
        <p:spPr>
          <a:xfrm>
            <a:off x="4663440" y="1600200"/>
            <a:ext cx="3291840" cy="274320"/>
          </a:xfrm>
          <a:prstGeom prst="rect">
            <a:avLst/>
          </a:prstGeom>
          <a:noFill/>
          <a:ln/>
        </p:spPr>
        <p:txBody>
          <a:bodyPr wrap="square" lIns="0" tIns="0" rIns="0" bIns="0" rtlCol="0" anchor="ctr"/>
          <a:lstStyle/>
          <a:p>
            <a:pPr indent="0" marL="0">
              <a:buNone/>
            </a:pPr>
            <a:r>
              <a:rPr lang="en-US" sz="1200" b="1" dirty="0">
                <a:solidFill>
                  <a:srgbClr val="1F3A63"/>
                </a:solidFill>
                <a:latin typeface="Calibri" pitchFamily="34" charset="0"/>
                <a:ea typeface="Calibri" pitchFamily="34" charset="-122"/>
                <a:cs typeface="Calibri" pitchFamily="34" charset="-120"/>
              </a:rPr>
              <a:t>MIXTURE-OF-EXPERTS MODEL</a:t>
            </a:r>
            <a:endParaRPr lang="en-US" sz="1200" dirty="0"/>
          </a:p>
        </p:txBody>
      </p:sp>
      <p:sp>
        <p:nvSpPr>
          <p:cNvPr id="16" name="Shape 14"/>
          <p:cNvSpPr/>
          <p:nvPr/>
        </p:nvSpPr>
        <p:spPr>
          <a:xfrm>
            <a:off x="4663440" y="1965960"/>
            <a:ext cx="457200" cy="384048"/>
          </a:xfrm>
          <a:prstGeom prst="roundRect">
            <a:avLst>
              <a:gd name="adj" fmla="val 11905"/>
            </a:avLst>
          </a:prstGeom>
          <a:solidFill>
            <a:srgbClr val="E3E8EC"/>
          </a:solidFill>
          <a:ln/>
        </p:spPr>
      </p:sp>
      <p:sp>
        <p:nvSpPr>
          <p:cNvPr id="17" name="Shape 15"/>
          <p:cNvSpPr/>
          <p:nvPr/>
        </p:nvSpPr>
        <p:spPr>
          <a:xfrm>
            <a:off x="5230368" y="1965960"/>
            <a:ext cx="457200" cy="384048"/>
          </a:xfrm>
          <a:prstGeom prst="roundRect">
            <a:avLst>
              <a:gd name="adj" fmla="val 11905"/>
            </a:avLst>
          </a:prstGeom>
          <a:solidFill>
            <a:srgbClr val="E8A33D"/>
          </a:solidFill>
          <a:ln/>
        </p:spPr>
      </p:sp>
      <p:sp>
        <p:nvSpPr>
          <p:cNvPr id="18" name="Shape 16"/>
          <p:cNvSpPr/>
          <p:nvPr/>
        </p:nvSpPr>
        <p:spPr>
          <a:xfrm>
            <a:off x="5797296" y="1965960"/>
            <a:ext cx="457200" cy="384048"/>
          </a:xfrm>
          <a:prstGeom prst="roundRect">
            <a:avLst>
              <a:gd name="adj" fmla="val 11905"/>
            </a:avLst>
          </a:prstGeom>
          <a:solidFill>
            <a:srgbClr val="E3E8EC"/>
          </a:solidFill>
          <a:ln/>
        </p:spPr>
      </p:sp>
      <p:sp>
        <p:nvSpPr>
          <p:cNvPr id="19" name="Shape 17"/>
          <p:cNvSpPr/>
          <p:nvPr/>
        </p:nvSpPr>
        <p:spPr>
          <a:xfrm>
            <a:off x="6364224" y="1965960"/>
            <a:ext cx="457200" cy="384048"/>
          </a:xfrm>
          <a:prstGeom prst="roundRect">
            <a:avLst>
              <a:gd name="adj" fmla="val 11905"/>
            </a:avLst>
          </a:prstGeom>
          <a:solidFill>
            <a:srgbClr val="E3E8EC"/>
          </a:solidFill>
          <a:ln/>
        </p:spPr>
      </p:sp>
      <p:sp>
        <p:nvSpPr>
          <p:cNvPr id="20" name="Shape 18"/>
          <p:cNvSpPr/>
          <p:nvPr/>
        </p:nvSpPr>
        <p:spPr>
          <a:xfrm>
            <a:off x="4663440" y="2468880"/>
            <a:ext cx="457200" cy="384048"/>
          </a:xfrm>
          <a:prstGeom prst="roundRect">
            <a:avLst>
              <a:gd name="adj" fmla="val 11905"/>
            </a:avLst>
          </a:prstGeom>
          <a:solidFill>
            <a:srgbClr val="E3E8EC"/>
          </a:solidFill>
          <a:ln/>
        </p:spPr>
      </p:sp>
      <p:sp>
        <p:nvSpPr>
          <p:cNvPr id="21" name="Shape 19"/>
          <p:cNvSpPr/>
          <p:nvPr/>
        </p:nvSpPr>
        <p:spPr>
          <a:xfrm>
            <a:off x="5230368" y="2468880"/>
            <a:ext cx="457200" cy="384048"/>
          </a:xfrm>
          <a:prstGeom prst="roundRect">
            <a:avLst>
              <a:gd name="adj" fmla="val 11905"/>
            </a:avLst>
          </a:prstGeom>
          <a:solidFill>
            <a:srgbClr val="E8A33D"/>
          </a:solidFill>
          <a:ln/>
        </p:spPr>
      </p:sp>
      <p:sp>
        <p:nvSpPr>
          <p:cNvPr id="22" name="Shape 20"/>
          <p:cNvSpPr/>
          <p:nvPr/>
        </p:nvSpPr>
        <p:spPr>
          <a:xfrm>
            <a:off x="5797296" y="2468880"/>
            <a:ext cx="457200" cy="384048"/>
          </a:xfrm>
          <a:prstGeom prst="roundRect">
            <a:avLst>
              <a:gd name="adj" fmla="val 11905"/>
            </a:avLst>
          </a:prstGeom>
          <a:solidFill>
            <a:srgbClr val="E3E8EC"/>
          </a:solidFill>
          <a:ln/>
        </p:spPr>
      </p:sp>
      <p:sp>
        <p:nvSpPr>
          <p:cNvPr id="23" name="Shape 21"/>
          <p:cNvSpPr/>
          <p:nvPr/>
        </p:nvSpPr>
        <p:spPr>
          <a:xfrm>
            <a:off x="6364224" y="2468880"/>
            <a:ext cx="457200" cy="384048"/>
          </a:xfrm>
          <a:prstGeom prst="roundRect">
            <a:avLst>
              <a:gd name="adj" fmla="val 11905"/>
            </a:avLst>
          </a:prstGeom>
          <a:solidFill>
            <a:srgbClr val="E3E8EC"/>
          </a:solidFill>
          <a:ln/>
        </p:spPr>
      </p:sp>
      <p:sp>
        <p:nvSpPr>
          <p:cNvPr id="24" name="Text 22"/>
          <p:cNvSpPr/>
          <p:nvPr/>
        </p:nvSpPr>
        <p:spPr>
          <a:xfrm>
            <a:off x="4663440" y="3108960"/>
            <a:ext cx="3291840" cy="731520"/>
          </a:xfrm>
          <a:prstGeom prst="rect">
            <a:avLst/>
          </a:prstGeom>
          <a:noFill/>
          <a:ln/>
        </p:spPr>
        <p:txBody>
          <a:bodyPr wrap="square" lIns="0" tIns="0" rIns="0" bIns="0" rtlCol="0" anchor="ctr"/>
          <a:lstStyle/>
          <a:p>
            <a:pPr indent="0" marL="0">
              <a:lnSpc>
                <a:spcPts val="1500"/>
              </a:lnSpc>
              <a:buNone/>
            </a:pPr>
            <a:r>
              <a:rPr lang="en-US" sz="1150" dirty="0">
                <a:solidFill>
                  <a:srgbClr val="5B6675"/>
                </a:solidFill>
                <a:latin typeface="Calibri" pitchFamily="34" charset="0"/>
                <a:ea typeface="Calibri" pitchFamily="34" charset="-122"/>
                <a:cs typeface="Calibri" pitchFamily="34" charset="-120"/>
              </a:rPr>
              <a:t>Router activates only a few experts → a fraction of weights streamed per word</a:t>
            </a:r>
            <a:endParaRPr lang="en-US" sz="1150" dirty="0"/>
          </a:p>
        </p:txBody>
      </p:sp>
      <p:sp>
        <p:nvSpPr>
          <p:cNvPr id="25" name="Shape 23"/>
          <p:cNvSpPr/>
          <p:nvPr/>
        </p:nvSpPr>
        <p:spPr>
          <a:xfrm>
            <a:off x="8229600" y="1508760"/>
            <a:ext cx="3429000" cy="4206240"/>
          </a:xfrm>
          <a:prstGeom prst="roundRect">
            <a:avLst>
              <a:gd name="adj" fmla="val 2133"/>
            </a:avLst>
          </a:prstGeom>
          <a:solidFill>
            <a:srgbClr val="162447"/>
          </a:solidFill>
          <a:ln/>
        </p:spPr>
      </p:sp>
      <p:sp>
        <p:nvSpPr>
          <p:cNvPr id="26" name="Text 24"/>
          <p:cNvSpPr/>
          <p:nvPr/>
        </p:nvSpPr>
        <p:spPr>
          <a:xfrm>
            <a:off x="8503920" y="1737360"/>
            <a:ext cx="2926080" cy="457200"/>
          </a:xfrm>
          <a:prstGeom prst="rect">
            <a:avLst/>
          </a:prstGeom>
          <a:noFill/>
          <a:ln/>
        </p:spPr>
        <p:txBody>
          <a:bodyPr wrap="square" lIns="0" tIns="0" rIns="0" bIns="0" rtlCol="0" anchor="ctr"/>
          <a:lstStyle/>
          <a:p>
            <a:pPr indent="0" marL="0">
              <a:lnSpc>
                <a:spcPts val="1400"/>
              </a:lnSpc>
              <a:buNone/>
            </a:pPr>
            <a:r>
              <a:rPr lang="en-US" sz="1100" b="1" spc="100" kern="0" dirty="0">
                <a:solidFill>
                  <a:srgbClr val="E8A33D"/>
                </a:solidFill>
                <a:latin typeface="Calibri" pitchFamily="34" charset="0"/>
                <a:ea typeface="Calibri" pitchFamily="34" charset="-122"/>
                <a:cs typeface="Calibri" pitchFamily="34" charset="-120"/>
              </a:rPr>
              <a:t>UNTESTED ON OUR HARDWARE</a:t>
            </a:r>
            <a:endParaRPr lang="en-US" sz="1100" dirty="0"/>
          </a:p>
        </p:txBody>
      </p:sp>
      <p:sp>
        <p:nvSpPr>
          <p:cNvPr id="27" name="Text 25"/>
          <p:cNvSpPr/>
          <p:nvPr/>
        </p:nvSpPr>
        <p:spPr>
          <a:xfrm>
            <a:off x="8503920" y="2240280"/>
            <a:ext cx="2926080" cy="731520"/>
          </a:xfrm>
          <a:prstGeom prst="rect">
            <a:avLst/>
          </a:prstGeom>
          <a:noFill/>
          <a:ln/>
        </p:spPr>
        <p:txBody>
          <a:bodyPr wrap="square" lIns="0" tIns="0" rIns="0" bIns="0" rtlCol="0" anchor="ctr"/>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No MoE benchmark phase finished before time ran out on any device.</a:t>
            </a:r>
            <a:endParaRPr lang="en-US" sz="1250" dirty="0"/>
          </a:p>
        </p:txBody>
      </p:sp>
      <p:sp>
        <p:nvSpPr>
          <p:cNvPr id="28" name="Shape 26"/>
          <p:cNvSpPr/>
          <p:nvPr/>
        </p:nvSpPr>
        <p:spPr>
          <a:xfrm>
            <a:off x="8503920" y="3063240"/>
            <a:ext cx="2926080" cy="0"/>
          </a:xfrm>
          <a:prstGeom prst="line">
            <a:avLst/>
          </a:prstGeom>
          <a:noFill/>
          <a:ln w="12700">
            <a:solidFill>
              <a:srgbClr val="1F8A9E"/>
            </a:solidFill>
            <a:prstDash val="solid"/>
          </a:ln>
        </p:spPr>
      </p:sp>
      <p:sp>
        <p:nvSpPr>
          <p:cNvPr id="29" name="Text 27"/>
          <p:cNvSpPr/>
          <p:nvPr/>
        </p:nvSpPr>
        <p:spPr>
          <a:xfrm>
            <a:off x="8503920" y="3246120"/>
            <a:ext cx="292608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4.51 tok/s</a:t>
            </a:r>
            <a:endParaRPr lang="en-US" sz="2200" dirty="0"/>
          </a:p>
        </p:txBody>
      </p:sp>
      <p:sp>
        <p:nvSpPr>
          <p:cNvPr id="30" name="Text 28"/>
          <p:cNvSpPr/>
          <p:nvPr/>
        </p:nvSpPr>
        <p:spPr>
          <a:xfrm>
            <a:off x="8503920" y="3703320"/>
            <a:ext cx="2926080" cy="1828800"/>
          </a:xfrm>
          <a:prstGeom prst="rect">
            <a:avLst/>
          </a:prstGeom>
          <a:noFill/>
          <a:ln/>
        </p:spPr>
        <p:txBody>
          <a:bodyPr wrap="square" lIns="0" tIns="0" rIns="0" bIns="0" rtlCol="0" anchor="ctr"/>
          <a:lstStyle/>
          <a:p>
            <a:pPr indent="0" marL="0">
              <a:lnSpc>
                <a:spcPts val="1500"/>
              </a:lnSpc>
              <a:buNone/>
            </a:pPr>
            <a:r>
              <a:rPr lang="en-US" sz="1150" i="1" dirty="0">
                <a:solidFill>
                  <a:srgbClr val="DCEFF2"/>
                </a:solidFill>
                <a:latin typeface="Calibri" pitchFamily="34" charset="0"/>
                <a:ea typeface="Calibri" pitchFamily="34" charset="-122"/>
                <a:cs typeface="Calibri" pitchFamily="34" charset="-120"/>
              </a:rPr>
              <a:t>671B-param MoE model, 64-core Xeon server (external, third-party) — directionally consistent, ~80× larger than our staged models</a:t>
            </a:r>
            <a:endParaRPr lang="en-US" sz="1150" dirty="0"/>
          </a:p>
        </p:txBody>
      </p:sp>
      <p:sp>
        <p:nvSpPr>
          <p:cNvPr id="31" name="Text 29"/>
          <p:cNvSpPr/>
          <p:nvPr/>
        </p:nvSpPr>
        <p:spPr>
          <a:xfrm>
            <a:off x="548640" y="4114800"/>
            <a:ext cx="7406640" cy="1463040"/>
          </a:xfrm>
          <a:prstGeom prst="rect">
            <a:avLst/>
          </a:prstGeom>
          <a:noFill/>
          <a:ln/>
        </p:spPr>
        <p:txBody>
          <a:bodyPr wrap="square" lIns="0" tIns="0" rIns="0" bIns="0" rtlCol="0" anchor="ctr"/>
          <a:lstStyle/>
          <a:p>
            <a:pPr indent="0" marL="0">
              <a:lnSpc>
                <a:spcPts val="1800"/>
              </a:lnSpc>
              <a:buNone/>
            </a:pPr>
            <a:r>
              <a:rPr lang="en-US" sz="1300" i="1" dirty="0">
                <a:solidFill>
                  <a:srgbClr val="5B6675"/>
                </a:solidFill>
                <a:latin typeface="Calibri" pitchFamily="34" charset="0"/>
                <a:ea typeface="Calibri" pitchFamily="34" charset="-122"/>
                <a:cs typeface="Calibri" pitchFamily="34" charset="-120"/>
              </a:rPr>
              <a:t>This is a hypothesis derived from measured dense-model bandwidth mechanics — the clearest next experiment for this line of work, not a result.</a:t>
            </a:r>
            <a:endParaRPr lang="en-US" sz="1300" dirty="0"/>
          </a:p>
        </p:txBody>
      </p:sp>
      <p:sp>
        <p:nvSpPr>
          <p:cNvPr id="32" name="Text 30"/>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UNIFYING THE EFFECTS</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A roofline model with USL thread scaling</a:t>
            </a:r>
            <a:endParaRPr lang="en-US" sz="3000" dirty="0"/>
          </a:p>
        </p:txBody>
      </p:sp>
      <p:sp>
        <p:nvSpPr>
          <p:cNvPr id="4" name="Shape 2"/>
          <p:cNvSpPr/>
          <p:nvPr/>
        </p:nvSpPr>
        <p:spPr>
          <a:xfrm>
            <a:off x="548640" y="1554480"/>
            <a:ext cx="5577840" cy="1920240"/>
          </a:xfrm>
          <a:prstGeom prst="roundRect">
            <a:avLst>
              <a:gd name="adj" fmla="val 3810"/>
            </a:avLst>
          </a:prstGeom>
          <a:solidFill>
            <a:srgbClr val="FFFFFF"/>
          </a:solidFill>
          <a:ln w="12700">
            <a:solidFill>
              <a:srgbClr val="E3E8EC"/>
            </a:solidFill>
            <a:prstDash val="solid"/>
          </a:ln>
        </p:spPr>
      </p:sp>
      <p:sp>
        <p:nvSpPr>
          <p:cNvPr id="5" name="Text 3"/>
          <p:cNvSpPr/>
          <p:nvPr/>
        </p:nvSpPr>
        <p:spPr>
          <a:xfrm>
            <a:off x="822960" y="1737360"/>
            <a:ext cx="5120640" cy="365760"/>
          </a:xfrm>
          <a:prstGeom prst="rect">
            <a:avLst/>
          </a:prstGeom>
          <a:noFill/>
          <a:ln/>
        </p:spPr>
        <p:txBody>
          <a:bodyPr wrap="square" lIns="0" tIns="0" rIns="0" bIns="0" rtlCol="0" anchor="ctr"/>
          <a:lstStyle/>
          <a:p>
            <a:pPr indent="0" marL="0">
              <a:buNone/>
            </a:pPr>
            <a:r>
              <a:rPr lang="en-US" sz="1250" b="1" dirty="0">
                <a:solidFill>
                  <a:srgbClr val="1F8A9E"/>
                </a:solidFill>
                <a:latin typeface="Calibri" pitchFamily="34" charset="0"/>
                <a:ea typeface="Calibri" pitchFamily="34" charset="-122"/>
                <a:cs typeface="Calibri" pitchFamily="34" charset="-120"/>
              </a:rPr>
              <a:t>Generation throughput = the lesser of…</a:t>
            </a:r>
            <a:endParaRPr lang="en-US" sz="1250" dirty="0"/>
          </a:p>
        </p:txBody>
      </p:sp>
      <p:sp>
        <p:nvSpPr>
          <p:cNvPr id="6" name="Text 4"/>
          <p:cNvSpPr/>
          <p:nvPr/>
        </p:nvSpPr>
        <p:spPr>
          <a:xfrm>
            <a:off x="822960" y="2148840"/>
            <a:ext cx="5120640" cy="365760"/>
          </a:xfrm>
          <a:prstGeom prst="rect">
            <a:avLst/>
          </a:prstGeom>
          <a:noFill/>
          <a:ln/>
        </p:spPr>
        <p:txBody>
          <a:bodyPr wrap="square" lIns="0" tIns="0" rIns="0" bIns="0" rtlCol="0" anchor="ctr"/>
          <a:lstStyle/>
          <a:p>
            <a:pPr indent="0" marL="0">
              <a:buNone/>
            </a:pPr>
            <a:r>
              <a:rPr lang="en-US" sz="1500" dirty="0">
                <a:solidFill>
                  <a:srgbClr val="162447"/>
                </a:solidFill>
                <a:latin typeface="Cambria" pitchFamily="34" charset="0"/>
                <a:ea typeface="Cambria" pitchFamily="34" charset="-122"/>
                <a:cs typeface="Cambria" pitchFamily="34" charset="-120"/>
              </a:rPr>
              <a:t>USL-scaled compute curve</a:t>
            </a:r>
            <a:endParaRPr lang="en-US" sz="1500" dirty="0"/>
          </a:p>
        </p:txBody>
      </p:sp>
      <p:sp>
        <p:nvSpPr>
          <p:cNvPr id="7" name="Text 5"/>
          <p:cNvSpPr/>
          <p:nvPr/>
        </p:nvSpPr>
        <p:spPr>
          <a:xfrm>
            <a:off x="822960" y="2606040"/>
            <a:ext cx="5120640" cy="777240"/>
          </a:xfrm>
          <a:prstGeom prst="rect">
            <a:avLst/>
          </a:prstGeom>
          <a:noFill/>
          <a:ln/>
        </p:spPr>
        <p:txBody>
          <a:bodyPr wrap="square" lIns="0" tIns="0" rIns="0" bIns="0" rtlCol="0" anchor="ctr"/>
          <a:lstStyle/>
          <a:p>
            <a:pPr indent="0" marL="0">
              <a:lnSpc>
                <a:spcPts val="1900"/>
              </a:lnSpc>
              <a:buNone/>
            </a:pPr>
            <a:r>
              <a:rPr lang="en-US" sz="1500" dirty="0">
                <a:solidFill>
                  <a:srgbClr val="162447"/>
                </a:solidFill>
                <a:latin typeface="Cambria" pitchFamily="34" charset="0"/>
                <a:ea typeface="Cambria" pitchFamily="34" charset="-122"/>
                <a:cs typeface="Cambria" pitchFamily="34" charset="-120"/>
              </a:rPr>
              <a:t>a hard bandwidth ceiling: effective bandwidth ÷ bytes streamed per token</a:t>
            </a:r>
            <a:endParaRPr lang="en-US" sz="1500" dirty="0"/>
          </a:p>
        </p:txBody>
      </p:sp>
      <p:sp>
        <p:nvSpPr>
          <p:cNvPr id="8" name="Text 6"/>
          <p:cNvSpPr/>
          <p:nvPr/>
        </p:nvSpPr>
        <p:spPr>
          <a:xfrm>
            <a:off x="822960" y="3246120"/>
            <a:ext cx="5120640" cy="182880"/>
          </a:xfrm>
          <a:prstGeom prst="rect">
            <a:avLst/>
          </a:prstGeom>
          <a:noFill/>
          <a:ln/>
        </p:spPr>
        <p:txBody>
          <a:bodyPr wrap="square" lIns="0" tIns="0" rIns="0" bIns="0" rtlCol="0" anchor="ctr"/>
          <a:lstStyle/>
          <a:p>
            <a:pPr indent="0" marL="0">
              <a:buNone/>
            </a:pPr>
            <a:r>
              <a:rPr lang="en-US" sz="1150" i="1" dirty="0">
                <a:solidFill>
                  <a:srgbClr val="5B6675"/>
                </a:solidFill>
                <a:latin typeface="Calibri" pitchFamily="34" charset="0"/>
                <a:ea typeface="Calibri" pitchFamily="34" charset="-122"/>
                <a:cs typeface="Calibri" pitchFamily="34" charset="-120"/>
              </a:rPr>
              <a:t>Whichever constraint binds first is what you observe.</a:t>
            </a:r>
            <a:endParaRPr lang="en-US" sz="1150" dirty="0"/>
          </a:p>
        </p:txBody>
      </p:sp>
      <p:sp>
        <p:nvSpPr>
          <p:cNvPr id="9" name="Shape 7"/>
          <p:cNvSpPr/>
          <p:nvPr/>
        </p:nvSpPr>
        <p:spPr>
          <a:xfrm>
            <a:off x="548640" y="3657600"/>
            <a:ext cx="5577840" cy="2057400"/>
          </a:xfrm>
          <a:prstGeom prst="roundRect">
            <a:avLst>
              <a:gd name="adj" fmla="val 3556"/>
            </a:avLst>
          </a:prstGeom>
          <a:solidFill>
            <a:srgbClr val="FFFFFF"/>
          </a:solidFill>
          <a:ln w="12700">
            <a:solidFill>
              <a:srgbClr val="E3E8EC"/>
            </a:solidFill>
            <a:prstDash val="solid"/>
          </a:ln>
        </p:spPr>
      </p:sp>
      <p:sp>
        <p:nvSpPr>
          <p:cNvPr id="10" name="Text 8"/>
          <p:cNvSpPr/>
          <p:nvPr/>
        </p:nvSpPr>
        <p:spPr>
          <a:xfrm>
            <a:off x="822960" y="3840480"/>
            <a:ext cx="5120640" cy="320040"/>
          </a:xfrm>
          <a:prstGeom prst="rect">
            <a:avLst/>
          </a:prstGeom>
          <a:noFill/>
          <a:ln/>
        </p:spPr>
        <p:txBody>
          <a:bodyPr wrap="square" lIns="0" tIns="0" rIns="0" bIns="0" rtlCol="0" anchor="ctr"/>
          <a:lstStyle/>
          <a:p>
            <a:pPr indent="0" marL="0">
              <a:buNone/>
            </a:pPr>
            <a:r>
              <a:rPr lang="en-US" sz="1250" b="1" dirty="0">
                <a:solidFill>
                  <a:srgbClr val="1F8A9E"/>
                </a:solidFill>
                <a:latin typeface="Calibri" pitchFamily="34" charset="0"/>
                <a:ea typeface="Calibri" pitchFamily="34" charset="-122"/>
                <a:cs typeface="Calibri" pitchFamily="34" charset="-120"/>
              </a:rPr>
              <a:t>Bytes streamed per token</a:t>
            </a:r>
            <a:endParaRPr lang="en-US" sz="1250" dirty="0"/>
          </a:p>
        </p:txBody>
      </p:sp>
      <p:sp>
        <p:nvSpPr>
          <p:cNvPr id="11" name="Text 9"/>
          <p:cNvSpPr/>
          <p:nvPr/>
        </p:nvSpPr>
        <p:spPr>
          <a:xfrm>
            <a:off x="822960" y="4224528"/>
            <a:ext cx="5120640" cy="365760"/>
          </a:xfrm>
          <a:prstGeom prst="rect">
            <a:avLst/>
          </a:prstGeom>
          <a:noFill/>
          <a:ln/>
        </p:spPr>
        <p:txBody>
          <a:bodyPr wrap="square" lIns="0" tIns="0" rIns="0" bIns="0" rtlCol="0" anchor="ctr"/>
          <a:lstStyle/>
          <a:p>
            <a:pPr indent="0" marL="0">
              <a:buNone/>
            </a:pPr>
            <a:r>
              <a:rPr lang="en-US" sz="1350" dirty="0">
                <a:solidFill>
                  <a:srgbClr val="1B2430"/>
                </a:solidFill>
                <a:latin typeface="Calibri" pitchFamily="34" charset="0"/>
                <a:ea typeface="Calibri" pitchFamily="34" charset="-122"/>
                <a:cs typeface="Calibri" pitchFamily="34" charset="-120"/>
              </a:rPr>
              <a:t>Dense:  full quantized model size</a:t>
            </a:r>
            <a:endParaRPr lang="en-US" sz="1350" dirty="0"/>
          </a:p>
        </p:txBody>
      </p:sp>
      <p:sp>
        <p:nvSpPr>
          <p:cNvPr id="12" name="Text 10"/>
          <p:cNvSpPr/>
          <p:nvPr/>
        </p:nvSpPr>
        <p:spPr>
          <a:xfrm>
            <a:off x="822960" y="4590288"/>
            <a:ext cx="5120640" cy="365760"/>
          </a:xfrm>
          <a:prstGeom prst="rect">
            <a:avLst/>
          </a:prstGeom>
          <a:noFill/>
          <a:ln/>
        </p:spPr>
        <p:txBody>
          <a:bodyPr wrap="square" lIns="0" tIns="0" rIns="0" bIns="0" rtlCol="0" anchor="ctr"/>
          <a:lstStyle/>
          <a:p>
            <a:pPr indent="0" marL="0">
              <a:buNone/>
            </a:pPr>
            <a:r>
              <a:rPr lang="en-US" sz="1350" dirty="0">
                <a:solidFill>
                  <a:srgbClr val="1B2430"/>
                </a:solidFill>
                <a:latin typeface="Calibri" pitchFamily="34" charset="0"/>
                <a:ea typeface="Calibri" pitchFamily="34" charset="-122"/>
                <a:cs typeface="Calibri" pitchFamily="34" charset="-120"/>
              </a:rPr>
              <a:t>MoE:  selected experts + shared layers only</a:t>
            </a:r>
            <a:endParaRPr lang="en-US" sz="1350" dirty="0"/>
          </a:p>
        </p:txBody>
      </p:sp>
      <p:sp>
        <p:nvSpPr>
          <p:cNvPr id="13" name="Text 11"/>
          <p:cNvSpPr/>
          <p:nvPr/>
        </p:nvSpPr>
        <p:spPr>
          <a:xfrm>
            <a:off x="822960" y="4983480"/>
            <a:ext cx="5120640" cy="640080"/>
          </a:xfrm>
          <a:prstGeom prst="rect">
            <a:avLst/>
          </a:prstGeom>
          <a:noFill/>
          <a:ln/>
        </p:spPr>
        <p:txBody>
          <a:bodyPr wrap="square" lIns="0" tIns="0" rIns="0" bIns="0" rtlCol="0" anchor="ctr"/>
          <a:lstStyle/>
          <a:p>
            <a:pPr indent="0" marL="0">
              <a:lnSpc>
                <a:spcPts val="1550"/>
              </a:lnSpc>
              <a:buNone/>
            </a:pPr>
            <a:r>
              <a:rPr lang="en-US" sz="1200" i="1" dirty="0">
                <a:solidFill>
                  <a:srgbClr val="5B6675"/>
                </a:solidFill>
                <a:latin typeface="Calibri" pitchFamily="34" charset="0"/>
                <a:ea typeface="Calibri" pitchFamily="34" charset="-122"/>
                <a:cs typeface="Calibri" pitchFamily="34" charset="-120"/>
              </a:rPr>
              <a:t>→ MoE throughput ceiling scales with total⁄active parameter ratio whenever generation is bandwidth-bound.</a:t>
            </a:r>
            <a:endParaRPr lang="en-US" sz="1200" dirty="0"/>
          </a:p>
        </p:txBody>
      </p:sp>
      <p:sp>
        <p:nvSpPr>
          <p:cNvPr id="14" name="Shape 12"/>
          <p:cNvSpPr/>
          <p:nvPr/>
        </p:nvSpPr>
        <p:spPr>
          <a:xfrm>
            <a:off x="6400800" y="1554480"/>
            <a:ext cx="5257800" cy="4160520"/>
          </a:xfrm>
          <a:prstGeom prst="roundRect">
            <a:avLst>
              <a:gd name="adj" fmla="val 1758"/>
            </a:avLst>
          </a:prstGeom>
          <a:solidFill>
            <a:srgbClr val="162447"/>
          </a:solidFill>
          <a:ln/>
        </p:spPr>
      </p:sp>
      <p:sp>
        <p:nvSpPr>
          <p:cNvPr id="15" name="Text 13"/>
          <p:cNvSpPr/>
          <p:nvPr/>
        </p:nvSpPr>
        <p:spPr>
          <a:xfrm>
            <a:off x="6675120" y="1737360"/>
            <a:ext cx="4663440" cy="320040"/>
          </a:xfrm>
          <a:prstGeom prst="rect">
            <a:avLst/>
          </a:prstGeom>
          <a:noFill/>
          <a:ln/>
        </p:spPr>
        <p:txBody>
          <a:bodyPr wrap="square" lIns="0" tIns="0" rIns="0" bIns="0" rtlCol="0" anchor="ctr"/>
          <a:lstStyle/>
          <a:p>
            <a:pPr indent="0" marL="0">
              <a:buNone/>
            </a:pPr>
            <a:r>
              <a:rPr lang="en-US" sz="1100" b="1" spc="100" kern="0" dirty="0">
                <a:solidFill>
                  <a:srgbClr val="E8A33D"/>
                </a:solidFill>
                <a:latin typeface="Calibri" pitchFamily="34" charset="0"/>
                <a:ea typeface="Calibri" pitchFamily="34" charset="-122"/>
                <a:cs typeface="Calibri" pitchFamily="34" charset="-120"/>
              </a:rPr>
              <a:t>WORKED EXAMPLE — RYZEN 5600H, 6 THREADS</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675120" y="2148840"/>
          <a:ext cx="4709160" cy="1051560"/>
        </p:xfrm>
        <a:graphic>
          <a:graphicData uri="http://schemas.openxmlformats.org/drawingml/2006/table">
            <a:tbl>
              <a:tblPr/>
              <a:tblGrid>
                <a:gridCol w="1691640"/>
                <a:gridCol w="1188720"/>
                <a:gridCol w="1188720"/>
                <a:gridCol w="640080"/>
              </a:tblGrid>
              <a:tr h="350520">
                <a:tc>
                  <a:txBody>
                    <a:bodyPr/>
                    <a:lstStyle/>
                    <a:p>
                      <a:pPr indent="0" marL="0">
                        <a:buNone/>
                      </a:pP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solidFill>
                      <a:srgbClr val="1F3A63"/>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Predicted</a:t>
                      </a: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solidFill>
                      <a:srgbClr val="1F3A63"/>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Measured</a:t>
                      </a: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solidFill>
                      <a:srgbClr val="1F3A63"/>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solidFill>
                      <a:srgbClr val="1F3A63"/>
                    </a:solidFill>
                  </a:tcPr>
                </a:tc>
              </a:tr>
              <a:tr h="350520">
                <a:tc>
                  <a:txBody>
                    <a:bodyPr/>
                    <a:lstStyle/>
                    <a:p>
                      <a:pPr indent="0" marL="0">
                        <a:buNone/>
                      </a:pPr>
                      <a:r>
                        <a:rPr lang="en-US" sz="1250" dirty="0">
                          <a:solidFill>
                            <a:srgbClr val="FFFFFF"/>
                          </a:solidFill>
                          <a:latin typeface="Calibri" pitchFamily="34" charset="0"/>
                          <a:ea typeface="Calibri" pitchFamily="34" charset="-122"/>
                          <a:cs typeface="Calibri" pitchFamily="34" charset="-120"/>
                        </a:rPr>
                        <a:t>Prefill (pp)</a:t>
                      </a: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tcPr>
                </a:tc>
                <a:tc>
                  <a:txBody>
                    <a:bodyPr/>
                    <a:lstStyle/>
                    <a:p>
                      <a:pPr algn="ctr" indent="0" marL="0">
                        <a:buNone/>
                      </a:pPr>
                      <a:r>
                        <a:rPr lang="en-US" sz="1250" dirty="0">
                          <a:solidFill>
                            <a:srgbClr val="FFFFFF"/>
                          </a:solidFill>
                          <a:latin typeface="Calibri" pitchFamily="34" charset="0"/>
                          <a:ea typeface="Calibri" pitchFamily="34" charset="-122"/>
                          <a:cs typeface="Calibri" pitchFamily="34" charset="-120"/>
                        </a:rPr>
                        <a:t>26.2 tok/s</a:t>
                      </a: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tcPr>
                </a:tc>
                <a:tc>
                  <a:txBody>
                    <a:bodyPr/>
                    <a:lstStyle/>
                    <a:p>
                      <a:pPr algn="ctr" indent="0" marL="0">
                        <a:buNone/>
                      </a:pPr>
                      <a:r>
                        <a:rPr lang="en-US" sz="1250" dirty="0">
                          <a:solidFill>
                            <a:srgbClr val="FFFFFF"/>
                          </a:solidFill>
                          <a:latin typeface="Calibri" pitchFamily="34" charset="0"/>
                          <a:ea typeface="Calibri" pitchFamily="34" charset="-122"/>
                          <a:cs typeface="Calibri" pitchFamily="34" charset="-120"/>
                        </a:rPr>
                        <a:t>25.15 tok/s</a:t>
                      </a: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tcPr>
                </a:tc>
                <a:tc>
                  <a:txBody>
                    <a:bodyPr/>
                    <a:lstStyle/>
                    <a:p>
                      <a:pPr algn="ctr" indent="0" marL="0">
                        <a:buNone/>
                      </a:pPr>
                      <a:r>
                        <a:rPr lang="en-US" sz="1250" b="1" dirty="0">
                          <a:solidFill>
                            <a:srgbClr val="1F8A9E"/>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tcPr>
                </a:tc>
              </a:tr>
              <a:tr h="350520">
                <a:tc>
                  <a:txBody>
                    <a:bodyPr/>
                    <a:lstStyle/>
                    <a:p>
                      <a:pPr indent="0" marL="0">
                        <a:buNone/>
                      </a:pPr>
                      <a:r>
                        <a:rPr lang="en-US" sz="1250" dirty="0">
                          <a:solidFill>
                            <a:srgbClr val="FFFFFF"/>
                          </a:solidFill>
                          <a:latin typeface="Calibri" pitchFamily="34" charset="0"/>
                          <a:ea typeface="Calibri" pitchFamily="34" charset="-122"/>
                          <a:cs typeface="Calibri" pitchFamily="34" charset="-120"/>
                        </a:rPr>
                        <a:t>Generation (tg)</a:t>
                      </a: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tcPr>
                </a:tc>
                <a:tc>
                  <a:txBody>
                    <a:bodyPr/>
                    <a:lstStyle/>
                    <a:p>
                      <a:pPr algn="ctr" indent="0" marL="0">
                        <a:buNone/>
                      </a:pPr>
                      <a:r>
                        <a:rPr lang="en-US" sz="1250" dirty="0">
                          <a:solidFill>
                            <a:srgbClr val="FFFFFF"/>
                          </a:solidFill>
                          <a:latin typeface="Calibri" pitchFamily="34" charset="0"/>
                          <a:ea typeface="Calibri" pitchFamily="34" charset="-122"/>
                          <a:cs typeface="Calibri" pitchFamily="34" charset="-120"/>
                        </a:rPr>
                        <a:t>8.12 tok/s</a:t>
                      </a: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tcPr>
                </a:tc>
                <a:tc>
                  <a:txBody>
                    <a:bodyPr/>
                    <a:lstStyle/>
                    <a:p>
                      <a:pPr algn="ctr" indent="0" marL="0">
                        <a:buNone/>
                      </a:pPr>
                      <a:r>
                        <a:rPr lang="en-US" sz="1250" dirty="0">
                          <a:solidFill>
                            <a:srgbClr val="FFFFFF"/>
                          </a:solidFill>
                          <a:latin typeface="Calibri" pitchFamily="34" charset="0"/>
                          <a:ea typeface="Calibri" pitchFamily="34" charset="-122"/>
                          <a:cs typeface="Calibri" pitchFamily="34" charset="-120"/>
                        </a:rPr>
                        <a:t>6.90 tok/s</a:t>
                      </a: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tcPr>
                </a:tc>
                <a:tc>
                  <a:txBody>
                    <a:bodyPr/>
                    <a:lstStyle/>
                    <a:p>
                      <a:pPr algn="ctr" indent="0" marL="0">
                        <a:buNone/>
                      </a:pPr>
                      <a:r>
                        <a:rPr lang="en-US" sz="1250" b="1" dirty="0">
                          <a:solidFill>
                            <a:srgbClr val="E8A33D"/>
                          </a:solidFill>
                          <a:latin typeface="Calibri" pitchFamily="34" charset="0"/>
                          <a:ea typeface="Calibri" pitchFamily="34" charset="-122"/>
                          <a:cs typeface="Calibri" pitchFamily="34" charset="-120"/>
                        </a:rPr>
                        <a:t>18%</a:t>
                      </a:r>
                      <a:endParaRPr lang="en-US" sz="1250" dirty="0">
                        <a:latin typeface="Calibri" charset="0"/>
                        <a:ea typeface="Calibri" charset="0"/>
                        <a:cs typeface="Calibri" charset="0"/>
                      </a:endParaRPr>
                    </a:p>
                  </a:txBody>
                  <a:tcPr marL="91440" marR="91440" marT="45720" marB="45720" anchor="ctr">
                    <a:lnL w="12700" cap="flat" cmpd="sng" algn="ctr">
                      <a:solidFill>
                        <a:srgbClr val="2C4066"/>
                      </a:solidFill>
                      <a:prstDash val="solid"/>
                      <a:round/>
                      <a:headEnd type="none" w="med" len="med"/>
                      <a:tailEnd type="none" w="med" len="med"/>
                    </a:lnL>
                    <a:lnR w="12700" cap="flat" cmpd="sng" algn="ctr">
                      <a:solidFill>
                        <a:srgbClr val="2C4066"/>
                      </a:solidFill>
                      <a:prstDash val="solid"/>
                      <a:round/>
                      <a:headEnd type="none" w="med" len="med"/>
                      <a:tailEnd type="none" w="med" len="med"/>
                    </a:lnR>
                    <a:lnT w="12700" cap="flat" cmpd="sng" algn="ctr">
                      <a:solidFill>
                        <a:srgbClr val="2C4066"/>
                      </a:solidFill>
                      <a:prstDash val="solid"/>
                      <a:round/>
                      <a:headEnd type="none" w="med" len="med"/>
                      <a:tailEnd type="none" w="med" len="med"/>
                    </a:lnT>
                    <a:lnB w="12700" cap="flat" cmpd="sng" algn="ctr">
                      <a:solidFill>
                        <a:srgbClr val="2C4066"/>
                      </a:solidFill>
                      <a:prstDash val="solid"/>
                      <a:round/>
                      <a:headEnd type="none" w="med" len="med"/>
                      <a:tailEnd type="none" w="med" len="med"/>
                    </a:lnB>
                  </a:tcPr>
                </a:tc>
              </a:tr>
            </a:tbl>
          </a:graphicData>
        </a:graphic>
      </p:graphicFrame>
      <p:sp>
        <p:nvSpPr>
          <p:cNvPr id="17" name="Text 14"/>
          <p:cNvSpPr/>
          <p:nvPr/>
        </p:nvSpPr>
        <p:spPr>
          <a:xfrm>
            <a:off x="6675120" y="3429000"/>
            <a:ext cx="4663440" cy="320040"/>
          </a:xfrm>
          <a:prstGeom prst="rect">
            <a:avLst/>
          </a:prstGeom>
          <a:noFill/>
          <a:ln/>
        </p:spPr>
        <p:txBody>
          <a:bodyPr wrap="square" lIns="0" tIns="0" rIns="0" bIns="0" rtlCol="0" anchor="ctr"/>
          <a:lstStyle/>
          <a:p>
            <a:pPr indent="0" marL="0">
              <a:buNone/>
            </a:pPr>
            <a:r>
              <a:rPr lang="en-US" sz="1150" b="1" dirty="0">
                <a:solidFill>
                  <a:srgbClr val="DCEFF2"/>
                </a:solidFill>
                <a:latin typeface="Calibri" pitchFamily="34" charset="0"/>
                <a:ea typeface="Calibri" pitchFamily="34" charset="-122"/>
                <a:cs typeface="Calibri" pitchFamily="34" charset="-120"/>
              </a:rPr>
              <a:t>Calibration inputs (from just 5 measurements):</a:t>
            </a:r>
            <a:endParaRPr lang="en-US" sz="1150" dirty="0"/>
          </a:p>
        </p:txBody>
      </p:sp>
      <p:sp>
        <p:nvSpPr>
          <p:cNvPr id="18" name="Text 15"/>
          <p:cNvSpPr/>
          <p:nvPr/>
        </p:nvSpPr>
        <p:spPr>
          <a:xfrm>
            <a:off x="6675120" y="3749040"/>
            <a:ext cx="4709160" cy="1828800"/>
          </a:xfrm>
          <a:prstGeom prst="rect">
            <a:avLst/>
          </a:prstGeom>
          <a:noFill/>
          <a:ln/>
        </p:spPr>
        <p:txBody>
          <a:bodyPr wrap="square" lIns="0" tIns="0" rIns="0" bIns="0" rtlCol="0" anchor="ctr"/>
          <a:lstStyle/>
          <a:p>
            <a:pPr indent="0" marL="0">
              <a:lnSpc>
                <a:spcPts val="1700"/>
              </a:lnSpc>
              <a:buNone/>
            </a:pPr>
            <a:r>
              <a:rPr lang="en-US" sz="1200" dirty="0">
                <a:solidFill>
                  <a:srgbClr val="FFFFFF"/>
                </a:solidFill>
                <a:latin typeface="Calibri" pitchFamily="34" charset="0"/>
                <a:ea typeface="Calibri" pitchFamily="34" charset="-122"/>
                <a:cs typeface="Calibri" pitchFamily="34" charset="-120"/>
              </a:rPr>
              <a:t>•  Single-thread baselines: P₁=7.81, G₁=3.95 tok/s</a:t>
            </a:r>
            <a:endParaRPr lang="en-US" sz="1200" dirty="0"/>
          </a:p>
          <a:p>
            <a:pPr indent="0" marL="0">
              <a:lnSpc>
                <a:spcPts val="1700"/>
              </a:lnSpc>
              <a:buNone/>
            </a:pPr>
            <a:r>
              <a:rPr lang="en-US" sz="1200" dirty="0">
                <a:solidFill>
                  <a:srgbClr val="FFFFFF"/>
                </a:solidFill>
                <a:latin typeface="Calibri" pitchFamily="34" charset="0"/>
                <a:ea typeface="Calibri" pitchFamily="34" charset="-122"/>
                <a:cs typeface="Calibri" pitchFamily="34" charset="-120"/>
              </a:rPr>
              <a:t>•  USL contention fit from the thread sweep</a:t>
            </a:r>
            <a:endParaRPr lang="en-US" sz="1200" dirty="0"/>
          </a:p>
          <a:p>
            <a:pPr indent="0" marL="0">
              <a:lnSpc>
                <a:spcPts val="1700"/>
              </a:lnSpc>
              <a:buNone/>
            </a:pPr>
            <a:r>
              <a:rPr lang="en-US" sz="1200" dirty="0">
                <a:solidFill>
                  <a:srgbClr val="FFFFFF"/>
                </a:solidFill>
                <a:latin typeface="Calibri" pitchFamily="34" charset="0"/>
                <a:ea typeface="Calibri" pitchFamily="34" charset="-122"/>
                <a:cs typeface="Calibri" pitchFamily="34" charset="-120"/>
              </a:rPr>
              <a:t>•  Effective bandwidth backed out: ~41 GB/s (~80% of the 51 GB/s theoretical peak — consistent with sustained, not burst, bandwidth)</a:t>
            </a:r>
            <a:endParaRPr lang="en-US" sz="1200" dirty="0"/>
          </a:p>
        </p:txBody>
      </p:sp>
      <p:sp>
        <p:nvSpPr>
          <p:cNvPr id="19" name="Text 1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TURNING THE MODEL INTO ADVICE</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Practical deployment recommendations</a:t>
            </a:r>
            <a:endParaRPr lang="en-US" sz="3000" dirty="0"/>
          </a:p>
        </p:txBody>
      </p:sp>
      <p:sp>
        <p:nvSpPr>
          <p:cNvPr id="4" name="Shape 2"/>
          <p:cNvSpPr/>
          <p:nvPr/>
        </p:nvSpPr>
        <p:spPr>
          <a:xfrm>
            <a:off x="548640" y="1600200"/>
            <a:ext cx="5349240" cy="1417320"/>
          </a:xfrm>
          <a:prstGeom prst="roundRect">
            <a:avLst>
              <a:gd name="adj" fmla="val 5161"/>
            </a:avLst>
          </a:prstGeom>
          <a:solidFill>
            <a:srgbClr val="FFFFFF"/>
          </a:solidFill>
          <a:ln w="12700">
            <a:solidFill>
              <a:srgbClr val="E3E8EC"/>
            </a:solidFill>
            <a:prstDash val="solid"/>
          </a:ln>
        </p:spPr>
      </p:sp>
      <p:sp>
        <p:nvSpPr>
          <p:cNvPr id="5" name="Shape 3"/>
          <p:cNvSpPr/>
          <p:nvPr/>
        </p:nvSpPr>
        <p:spPr>
          <a:xfrm>
            <a:off x="777240" y="1828800"/>
            <a:ext cx="457200" cy="457200"/>
          </a:xfrm>
          <a:prstGeom prst="roundRect">
            <a:avLst>
              <a:gd name="adj" fmla="val 50000"/>
            </a:avLst>
          </a:prstGeom>
          <a:solidFill>
            <a:srgbClr val="1F8A9E"/>
          </a:solidFill>
          <a:ln/>
        </p:spPr>
      </p:sp>
      <p:sp>
        <p:nvSpPr>
          <p:cNvPr id="6" name="Text 4"/>
          <p:cNvSpPr/>
          <p:nvPr/>
        </p:nvSpPr>
        <p:spPr>
          <a:xfrm>
            <a:off x="7772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17320" y="1764792"/>
            <a:ext cx="4297680" cy="685800"/>
          </a:xfrm>
          <a:prstGeom prst="rect">
            <a:avLst/>
          </a:prstGeom>
          <a:noFill/>
          <a:ln/>
        </p:spPr>
        <p:txBody>
          <a:bodyPr wrap="square" lIns="0" tIns="0" rIns="0" bIns="0" rtlCol="0" anchor="ctr"/>
          <a:lstStyle/>
          <a:p>
            <a:pPr indent="0" marL="0">
              <a:lnSpc>
                <a:spcPts val="1550"/>
              </a:lnSpc>
              <a:buNone/>
            </a:pPr>
            <a:r>
              <a:rPr lang="en-US" sz="1300" b="1" dirty="0">
                <a:solidFill>
                  <a:srgbClr val="162447"/>
                </a:solidFill>
                <a:latin typeface="Calibri" pitchFamily="34" charset="0"/>
                <a:ea typeface="Calibri" pitchFamily="34" charset="-122"/>
                <a:cs typeface="Calibri" pitchFamily="34" charset="-120"/>
              </a:rPr>
              <a:t>Disable Flash Attention at long context</a:t>
            </a:r>
            <a:endParaRPr lang="en-US" sz="1300" dirty="0"/>
          </a:p>
        </p:txBody>
      </p:sp>
      <p:sp>
        <p:nvSpPr>
          <p:cNvPr id="8" name="Text 6"/>
          <p:cNvSpPr/>
          <p:nvPr/>
        </p:nvSpPr>
        <p:spPr>
          <a:xfrm>
            <a:off x="1417320" y="2423160"/>
            <a:ext cx="4297680" cy="502920"/>
          </a:xfrm>
          <a:prstGeom prst="rect">
            <a:avLst/>
          </a:prstGeom>
          <a:noFill/>
          <a:ln/>
        </p:spPr>
        <p:txBody>
          <a:bodyPr wrap="square" lIns="0" tIns="0" rIns="0" bIns="0" rtlCol="0" anchor="ctr"/>
          <a:lstStyle/>
          <a:p>
            <a:pPr indent="0" marL="0">
              <a:lnSpc>
                <a:spcPts val="1350"/>
              </a:lnSpc>
              <a:buNone/>
            </a:pPr>
            <a:r>
              <a:rPr lang="en-US" sz="1050" dirty="0">
                <a:solidFill>
                  <a:srgbClr val="5B6675"/>
                </a:solidFill>
                <a:latin typeface="Calibri" pitchFamily="34" charset="0"/>
                <a:ea typeface="Calibri" pitchFamily="34" charset="-122"/>
                <a:cs typeface="Calibri" pitchFamily="34" charset="-120"/>
              </a:rPr>
              <a:t>Many front-ends default to -fa 1, which is harmful on CPU.</a:t>
            </a:r>
            <a:endParaRPr lang="en-US" sz="1050" dirty="0"/>
          </a:p>
        </p:txBody>
      </p:sp>
      <p:sp>
        <p:nvSpPr>
          <p:cNvPr id="9" name="Shape 7"/>
          <p:cNvSpPr/>
          <p:nvPr/>
        </p:nvSpPr>
        <p:spPr>
          <a:xfrm>
            <a:off x="548640" y="3200400"/>
            <a:ext cx="5349240" cy="1417320"/>
          </a:xfrm>
          <a:prstGeom prst="roundRect">
            <a:avLst>
              <a:gd name="adj" fmla="val 5161"/>
            </a:avLst>
          </a:prstGeom>
          <a:solidFill>
            <a:srgbClr val="FFFFFF"/>
          </a:solidFill>
          <a:ln w="12700">
            <a:solidFill>
              <a:srgbClr val="E3E8EC"/>
            </a:solidFill>
            <a:prstDash val="solid"/>
          </a:ln>
        </p:spPr>
      </p:sp>
      <p:sp>
        <p:nvSpPr>
          <p:cNvPr id="10" name="Shape 8"/>
          <p:cNvSpPr/>
          <p:nvPr/>
        </p:nvSpPr>
        <p:spPr>
          <a:xfrm>
            <a:off x="777240" y="3429000"/>
            <a:ext cx="457200" cy="457200"/>
          </a:xfrm>
          <a:prstGeom prst="roundRect">
            <a:avLst>
              <a:gd name="adj" fmla="val 50000"/>
            </a:avLst>
          </a:prstGeom>
          <a:solidFill>
            <a:srgbClr val="1F8A9E"/>
          </a:solidFill>
          <a:ln/>
        </p:spPr>
      </p:sp>
      <p:sp>
        <p:nvSpPr>
          <p:cNvPr id="11" name="Text 9"/>
          <p:cNvSpPr/>
          <p:nvPr/>
        </p:nvSpPr>
        <p:spPr>
          <a:xfrm>
            <a:off x="777240" y="3429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17320" y="3364992"/>
            <a:ext cx="4297680" cy="685800"/>
          </a:xfrm>
          <a:prstGeom prst="rect">
            <a:avLst/>
          </a:prstGeom>
          <a:noFill/>
          <a:ln/>
        </p:spPr>
        <p:txBody>
          <a:bodyPr wrap="square" lIns="0" tIns="0" rIns="0" bIns="0" rtlCol="0" anchor="ctr"/>
          <a:lstStyle/>
          <a:p>
            <a:pPr indent="0" marL="0">
              <a:lnSpc>
                <a:spcPts val="1550"/>
              </a:lnSpc>
              <a:buNone/>
            </a:pPr>
            <a:r>
              <a:rPr lang="en-US" sz="1300" b="1" dirty="0">
                <a:solidFill>
                  <a:srgbClr val="162447"/>
                </a:solidFill>
                <a:latin typeface="Calibri" pitchFamily="34" charset="0"/>
                <a:ea typeface="Calibri" pitchFamily="34" charset="-122"/>
                <a:cs typeface="Calibri" pitchFamily="34" charset="-120"/>
              </a:rPr>
              <a:t>Don't quantize the KV cache on compute-rich CPUs</a:t>
            </a:r>
            <a:endParaRPr lang="en-US" sz="1300" dirty="0"/>
          </a:p>
        </p:txBody>
      </p:sp>
      <p:sp>
        <p:nvSpPr>
          <p:cNvPr id="13" name="Text 11"/>
          <p:cNvSpPr/>
          <p:nvPr/>
        </p:nvSpPr>
        <p:spPr>
          <a:xfrm>
            <a:off x="1417320" y="4023360"/>
            <a:ext cx="4297680" cy="502920"/>
          </a:xfrm>
          <a:prstGeom prst="rect">
            <a:avLst/>
          </a:prstGeom>
          <a:noFill/>
          <a:ln/>
        </p:spPr>
        <p:txBody>
          <a:bodyPr wrap="square" lIns="0" tIns="0" rIns="0" bIns="0" rtlCol="0" anchor="ctr"/>
          <a:lstStyle/>
          <a:p>
            <a:pPr indent="0" marL="0">
              <a:lnSpc>
                <a:spcPts val="1350"/>
              </a:lnSpc>
              <a:buNone/>
            </a:pPr>
            <a:r>
              <a:rPr lang="en-US" sz="1050" dirty="0">
                <a:solidFill>
                  <a:srgbClr val="5B6675"/>
                </a:solidFill>
                <a:latin typeface="Calibri" pitchFamily="34" charset="0"/>
                <a:ea typeface="Calibri" pitchFamily="34" charset="-122"/>
                <a:cs typeface="Calibri" pitchFamily="34" charset="-120"/>
              </a:rPr>
              <a:t>Use -ctk f16 -ctv f16 unless truly bandwidth-starved.</a:t>
            </a:r>
            <a:endParaRPr lang="en-US" sz="1050" dirty="0"/>
          </a:p>
        </p:txBody>
      </p:sp>
      <p:sp>
        <p:nvSpPr>
          <p:cNvPr id="14" name="Shape 12"/>
          <p:cNvSpPr/>
          <p:nvPr/>
        </p:nvSpPr>
        <p:spPr>
          <a:xfrm>
            <a:off x="548640" y="4800600"/>
            <a:ext cx="5349240" cy="1417320"/>
          </a:xfrm>
          <a:prstGeom prst="roundRect">
            <a:avLst>
              <a:gd name="adj" fmla="val 5161"/>
            </a:avLst>
          </a:prstGeom>
          <a:solidFill>
            <a:srgbClr val="FFFFFF"/>
          </a:solidFill>
          <a:ln w="12700">
            <a:solidFill>
              <a:srgbClr val="E3E8EC"/>
            </a:solidFill>
            <a:prstDash val="solid"/>
          </a:ln>
        </p:spPr>
      </p:sp>
      <p:sp>
        <p:nvSpPr>
          <p:cNvPr id="15" name="Shape 13"/>
          <p:cNvSpPr/>
          <p:nvPr/>
        </p:nvSpPr>
        <p:spPr>
          <a:xfrm>
            <a:off x="777240" y="5029200"/>
            <a:ext cx="457200" cy="457200"/>
          </a:xfrm>
          <a:prstGeom prst="roundRect">
            <a:avLst>
              <a:gd name="adj" fmla="val 50000"/>
            </a:avLst>
          </a:prstGeom>
          <a:solidFill>
            <a:srgbClr val="1F8A9E"/>
          </a:solidFill>
          <a:ln/>
        </p:spPr>
      </p:sp>
      <p:sp>
        <p:nvSpPr>
          <p:cNvPr id="16" name="Text 14"/>
          <p:cNvSpPr/>
          <p:nvPr/>
        </p:nvSpPr>
        <p:spPr>
          <a:xfrm>
            <a:off x="777240" y="5029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17320" y="4965192"/>
            <a:ext cx="4297680" cy="685800"/>
          </a:xfrm>
          <a:prstGeom prst="rect">
            <a:avLst/>
          </a:prstGeom>
          <a:noFill/>
          <a:ln/>
        </p:spPr>
        <p:txBody>
          <a:bodyPr wrap="square" lIns="0" tIns="0" rIns="0" bIns="0" rtlCol="0" anchor="ctr"/>
          <a:lstStyle/>
          <a:p>
            <a:pPr indent="0" marL="0">
              <a:lnSpc>
                <a:spcPts val="1550"/>
              </a:lnSpc>
              <a:buNone/>
            </a:pPr>
            <a:r>
              <a:rPr lang="en-US" sz="1300" b="1" dirty="0">
                <a:solidFill>
                  <a:srgbClr val="162447"/>
                </a:solidFill>
                <a:latin typeface="Calibri" pitchFamily="34" charset="0"/>
                <a:ea typeface="Calibri" pitchFamily="34" charset="-122"/>
                <a:cs typeface="Calibri" pitchFamily="34" charset="-120"/>
              </a:rPr>
              <a:t>Set threads to the physical core count</a:t>
            </a:r>
            <a:endParaRPr lang="en-US" sz="1300" dirty="0"/>
          </a:p>
        </p:txBody>
      </p:sp>
      <p:sp>
        <p:nvSpPr>
          <p:cNvPr id="18" name="Text 16"/>
          <p:cNvSpPr/>
          <p:nvPr/>
        </p:nvSpPr>
        <p:spPr>
          <a:xfrm>
            <a:off x="1417320" y="5623560"/>
            <a:ext cx="4297680" cy="502920"/>
          </a:xfrm>
          <a:prstGeom prst="rect">
            <a:avLst/>
          </a:prstGeom>
          <a:noFill/>
          <a:ln/>
        </p:spPr>
        <p:txBody>
          <a:bodyPr wrap="square" lIns="0" tIns="0" rIns="0" bIns="0" rtlCol="0" anchor="ctr"/>
          <a:lstStyle/>
          <a:p>
            <a:pPr indent="0" marL="0">
              <a:lnSpc>
                <a:spcPts val="1350"/>
              </a:lnSpc>
              <a:buNone/>
            </a:pPr>
            <a:r>
              <a:rPr lang="en-US" sz="1050" dirty="0">
                <a:solidFill>
                  <a:srgbClr val="5B6675"/>
                </a:solidFill>
                <a:latin typeface="Calibri" pitchFamily="34" charset="0"/>
                <a:ea typeface="Calibri" pitchFamily="34" charset="-122"/>
                <a:cs typeface="Calibri" pitchFamily="34" charset="-120"/>
              </a:rPr>
              <a:t>Hyperthreads help prefill little and hurt generation.</a:t>
            </a:r>
            <a:endParaRPr lang="en-US" sz="1050" dirty="0"/>
          </a:p>
        </p:txBody>
      </p:sp>
      <p:sp>
        <p:nvSpPr>
          <p:cNvPr id="19" name="Shape 17"/>
          <p:cNvSpPr/>
          <p:nvPr/>
        </p:nvSpPr>
        <p:spPr>
          <a:xfrm>
            <a:off x="6263640" y="1600200"/>
            <a:ext cx="5349240" cy="1417320"/>
          </a:xfrm>
          <a:prstGeom prst="roundRect">
            <a:avLst>
              <a:gd name="adj" fmla="val 5161"/>
            </a:avLst>
          </a:prstGeom>
          <a:solidFill>
            <a:srgbClr val="FFFFFF"/>
          </a:solidFill>
          <a:ln w="12700">
            <a:solidFill>
              <a:srgbClr val="E3E8EC"/>
            </a:solidFill>
            <a:prstDash val="solid"/>
          </a:ln>
        </p:spPr>
      </p:sp>
      <p:sp>
        <p:nvSpPr>
          <p:cNvPr id="20" name="Shape 18"/>
          <p:cNvSpPr/>
          <p:nvPr/>
        </p:nvSpPr>
        <p:spPr>
          <a:xfrm>
            <a:off x="6492240" y="1828800"/>
            <a:ext cx="457200" cy="457200"/>
          </a:xfrm>
          <a:prstGeom prst="roundRect">
            <a:avLst>
              <a:gd name="adj" fmla="val 50000"/>
            </a:avLst>
          </a:prstGeom>
          <a:solidFill>
            <a:srgbClr val="1F8A9E"/>
          </a:solidFill>
          <a:ln/>
        </p:spPr>
      </p:sp>
      <p:sp>
        <p:nvSpPr>
          <p:cNvPr id="21" name="Text 19"/>
          <p:cNvSpPr/>
          <p:nvPr/>
        </p:nvSpPr>
        <p:spPr>
          <a:xfrm>
            <a:off x="64922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7132320" y="1764792"/>
            <a:ext cx="4297680" cy="685800"/>
          </a:xfrm>
          <a:prstGeom prst="rect">
            <a:avLst/>
          </a:prstGeom>
          <a:noFill/>
          <a:ln/>
        </p:spPr>
        <p:txBody>
          <a:bodyPr wrap="square" lIns="0" tIns="0" rIns="0" bIns="0" rtlCol="0" anchor="ctr"/>
          <a:lstStyle/>
          <a:p>
            <a:pPr indent="0" marL="0">
              <a:lnSpc>
                <a:spcPts val="1550"/>
              </a:lnSpc>
              <a:buNone/>
            </a:pPr>
            <a:r>
              <a:rPr lang="en-US" sz="1300" b="1" dirty="0">
                <a:solidFill>
                  <a:srgbClr val="162447"/>
                </a:solidFill>
                <a:latin typeface="Calibri" pitchFamily="34" charset="0"/>
                <a:ea typeface="Calibri" pitchFamily="34" charset="-122"/>
                <a:cs typeface="Calibri" pitchFamily="34" charset="-120"/>
              </a:rPr>
              <a:t>Consider -t 1 on bandwidth-starved chips</a:t>
            </a:r>
            <a:endParaRPr lang="en-US" sz="1300" dirty="0"/>
          </a:p>
        </p:txBody>
      </p:sp>
      <p:sp>
        <p:nvSpPr>
          <p:cNvPr id="23" name="Text 21"/>
          <p:cNvSpPr/>
          <p:nvPr/>
        </p:nvSpPr>
        <p:spPr>
          <a:xfrm>
            <a:off x="7132320" y="2423160"/>
            <a:ext cx="4297680" cy="502920"/>
          </a:xfrm>
          <a:prstGeom prst="rect">
            <a:avLst/>
          </a:prstGeom>
          <a:noFill/>
          <a:ln/>
        </p:spPr>
        <p:txBody>
          <a:bodyPr wrap="square" lIns="0" tIns="0" rIns="0" bIns="0" rtlCol="0" anchor="ctr"/>
          <a:lstStyle/>
          <a:p>
            <a:pPr indent="0" marL="0">
              <a:lnSpc>
                <a:spcPts val="1350"/>
              </a:lnSpc>
              <a:buNone/>
            </a:pPr>
            <a:r>
              <a:rPr lang="en-US" sz="1050" dirty="0">
                <a:solidFill>
                  <a:srgbClr val="5B6675"/>
                </a:solidFill>
                <a:latin typeface="Calibri" pitchFamily="34" charset="0"/>
                <a:ea typeface="Calibri" pitchFamily="34" charset="-122"/>
                <a:cs typeface="Calibri" pitchFamily="34" charset="-120"/>
              </a:rPr>
              <a:t>Retrograde scaling means more threads can mean less speed.</a:t>
            </a:r>
            <a:endParaRPr lang="en-US" sz="1050" dirty="0"/>
          </a:p>
        </p:txBody>
      </p:sp>
      <p:sp>
        <p:nvSpPr>
          <p:cNvPr id="24" name="Shape 22"/>
          <p:cNvSpPr/>
          <p:nvPr/>
        </p:nvSpPr>
        <p:spPr>
          <a:xfrm>
            <a:off x="6263640" y="3200400"/>
            <a:ext cx="5349240" cy="1417320"/>
          </a:xfrm>
          <a:prstGeom prst="roundRect">
            <a:avLst>
              <a:gd name="adj" fmla="val 5161"/>
            </a:avLst>
          </a:prstGeom>
          <a:solidFill>
            <a:srgbClr val="FFFFFF"/>
          </a:solidFill>
          <a:ln w="12700">
            <a:solidFill>
              <a:srgbClr val="E3E8EC"/>
            </a:solidFill>
            <a:prstDash val="solid"/>
          </a:ln>
        </p:spPr>
      </p:sp>
      <p:sp>
        <p:nvSpPr>
          <p:cNvPr id="25" name="Shape 23"/>
          <p:cNvSpPr/>
          <p:nvPr/>
        </p:nvSpPr>
        <p:spPr>
          <a:xfrm>
            <a:off x="6492240" y="3429000"/>
            <a:ext cx="457200" cy="457200"/>
          </a:xfrm>
          <a:prstGeom prst="roundRect">
            <a:avLst>
              <a:gd name="adj" fmla="val 50000"/>
            </a:avLst>
          </a:prstGeom>
          <a:solidFill>
            <a:srgbClr val="1F8A9E"/>
          </a:solidFill>
          <a:ln/>
        </p:spPr>
      </p:sp>
      <p:sp>
        <p:nvSpPr>
          <p:cNvPr id="26" name="Text 24"/>
          <p:cNvSpPr/>
          <p:nvPr/>
        </p:nvSpPr>
        <p:spPr>
          <a:xfrm>
            <a:off x="6492240" y="3429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7" name="Text 25"/>
          <p:cNvSpPr/>
          <p:nvPr/>
        </p:nvSpPr>
        <p:spPr>
          <a:xfrm>
            <a:off x="7132320" y="3364992"/>
            <a:ext cx="4297680" cy="685800"/>
          </a:xfrm>
          <a:prstGeom prst="rect">
            <a:avLst/>
          </a:prstGeom>
          <a:noFill/>
          <a:ln/>
        </p:spPr>
        <p:txBody>
          <a:bodyPr wrap="square" lIns="0" tIns="0" rIns="0" bIns="0" rtlCol="0" anchor="ctr"/>
          <a:lstStyle/>
          <a:p>
            <a:pPr indent="0" marL="0">
              <a:lnSpc>
                <a:spcPts val="1550"/>
              </a:lnSpc>
              <a:buNone/>
            </a:pPr>
            <a:r>
              <a:rPr lang="en-US" sz="1300" b="1" dirty="0">
                <a:solidFill>
                  <a:srgbClr val="162447"/>
                </a:solidFill>
                <a:latin typeface="Calibri" pitchFamily="34" charset="0"/>
                <a:ea typeface="Calibri" pitchFamily="34" charset="-122"/>
                <a:cs typeface="Calibri" pitchFamily="34" charset="-120"/>
              </a:rPr>
              <a:t>Prefer legacy formats on pre-AVX-512 CPUs</a:t>
            </a:r>
            <a:endParaRPr lang="en-US" sz="1300" dirty="0"/>
          </a:p>
        </p:txBody>
      </p:sp>
      <p:sp>
        <p:nvSpPr>
          <p:cNvPr id="28" name="Text 26"/>
          <p:cNvSpPr/>
          <p:nvPr/>
        </p:nvSpPr>
        <p:spPr>
          <a:xfrm>
            <a:off x="7132320" y="4023360"/>
            <a:ext cx="4297680" cy="502920"/>
          </a:xfrm>
          <a:prstGeom prst="rect">
            <a:avLst/>
          </a:prstGeom>
          <a:noFill/>
          <a:ln/>
        </p:spPr>
        <p:txBody>
          <a:bodyPr wrap="square" lIns="0" tIns="0" rIns="0" bIns="0" rtlCol="0" anchor="ctr"/>
          <a:lstStyle/>
          <a:p>
            <a:pPr indent="0" marL="0">
              <a:lnSpc>
                <a:spcPts val="1350"/>
              </a:lnSpc>
              <a:buNone/>
            </a:pPr>
            <a:r>
              <a:rPr lang="en-US" sz="1050" dirty="0">
                <a:solidFill>
                  <a:srgbClr val="5B6675"/>
                </a:solidFill>
                <a:latin typeface="Calibri" pitchFamily="34" charset="0"/>
                <a:ea typeface="Calibri" pitchFamily="34" charset="-122"/>
                <a:cs typeface="Calibri" pitchFamily="34" charset="-120"/>
              </a:rPr>
              <a:t>Q4_0 over Q4_K_M when speed outweighs quality needs.</a:t>
            </a:r>
            <a:endParaRPr lang="en-US" sz="1050" dirty="0"/>
          </a:p>
        </p:txBody>
      </p:sp>
      <p:sp>
        <p:nvSpPr>
          <p:cNvPr id="29" name="Shape 27"/>
          <p:cNvSpPr/>
          <p:nvPr/>
        </p:nvSpPr>
        <p:spPr>
          <a:xfrm>
            <a:off x="6263640" y="4800600"/>
            <a:ext cx="5349240" cy="1417320"/>
          </a:xfrm>
          <a:prstGeom prst="roundRect">
            <a:avLst>
              <a:gd name="adj" fmla="val 5161"/>
            </a:avLst>
          </a:prstGeom>
          <a:solidFill>
            <a:srgbClr val="FFFFFF"/>
          </a:solidFill>
          <a:ln w="12700">
            <a:solidFill>
              <a:srgbClr val="E3E8EC"/>
            </a:solidFill>
            <a:prstDash val="solid"/>
          </a:ln>
        </p:spPr>
      </p:sp>
      <p:sp>
        <p:nvSpPr>
          <p:cNvPr id="30" name="Shape 28"/>
          <p:cNvSpPr/>
          <p:nvPr/>
        </p:nvSpPr>
        <p:spPr>
          <a:xfrm>
            <a:off x="6492240" y="5029200"/>
            <a:ext cx="457200" cy="457200"/>
          </a:xfrm>
          <a:prstGeom prst="roundRect">
            <a:avLst>
              <a:gd name="adj" fmla="val 50000"/>
            </a:avLst>
          </a:prstGeom>
          <a:solidFill>
            <a:srgbClr val="E8A33D"/>
          </a:solidFill>
          <a:ln/>
        </p:spPr>
      </p:sp>
      <p:sp>
        <p:nvSpPr>
          <p:cNvPr id="31" name="Text 29"/>
          <p:cNvSpPr/>
          <p:nvPr/>
        </p:nvSpPr>
        <p:spPr>
          <a:xfrm>
            <a:off x="6492240" y="5029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32" name="Text 30"/>
          <p:cNvSpPr/>
          <p:nvPr/>
        </p:nvSpPr>
        <p:spPr>
          <a:xfrm>
            <a:off x="7132320" y="4965192"/>
            <a:ext cx="4297680" cy="685800"/>
          </a:xfrm>
          <a:prstGeom prst="rect">
            <a:avLst/>
          </a:prstGeom>
          <a:noFill/>
          <a:ln/>
        </p:spPr>
        <p:txBody>
          <a:bodyPr wrap="square" lIns="0" tIns="0" rIns="0" bIns="0" rtlCol="0" anchor="ctr"/>
          <a:lstStyle/>
          <a:p>
            <a:pPr indent="0" marL="0">
              <a:lnSpc>
                <a:spcPts val="1550"/>
              </a:lnSpc>
              <a:buNone/>
            </a:pPr>
            <a:r>
              <a:rPr lang="en-US" sz="1300" b="1" dirty="0">
                <a:solidFill>
                  <a:srgbClr val="162447"/>
                </a:solidFill>
                <a:latin typeface="Calibri" pitchFamily="34" charset="0"/>
                <a:ea typeface="Calibri" pitchFamily="34" charset="-122"/>
                <a:cs typeface="Calibri" pitchFamily="34" charset="-120"/>
              </a:rPr>
              <a:t>Favor MoE on bandwidth-starved hardware — provisionally</a:t>
            </a:r>
            <a:endParaRPr lang="en-US" sz="1300" dirty="0"/>
          </a:p>
        </p:txBody>
      </p:sp>
      <p:sp>
        <p:nvSpPr>
          <p:cNvPr id="33" name="Text 31"/>
          <p:cNvSpPr/>
          <p:nvPr/>
        </p:nvSpPr>
        <p:spPr>
          <a:xfrm>
            <a:off x="7132320" y="5623560"/>
            <a:ext cx="4297680" cy="502920"/>
          </a:xfrm>
          <a:prstGeom prst="rect">
            <a:avLst/>
          </a:prstGeom>
          <a:noFill/>
          <a:ln/>
        </p:spPr>
        <p:txBody>
          <a:bodyPr wrap="square" lIns="0" tIns="0" rIns="0" bIns="0" rtlCol="0" anchor="ctr"/>
          <a:lstStyle/>
          <a:p>
            <a:pPr indent="0" marL="0">
              <a:lnSpc>
                <a:spcPts val="1350"/>
              </a:lnSpc>
              <a:buNone/>
            </a:pPr>
            <a:r>
              <a:rPr lang="en-US" sz="1050" dirty="0">
                <a:solidFill>
                  <a:srgbClr val="5B6675"/>
                </a:solidFill>
                <a:latin typeface="Calibri" pitchFamily="34" charset="0"/>
                <a:ea typeface="Calibri" pitchFamily="34" charset="-122"/>
                <a:cs typeface="Calibri" pitchFamily="34" charset="-120"/>
              </a:rPr>
              <a:t>A strong hypothesis to test yourself, not a settled rule.</a:t>
            </a:r>
            <a:endParaRPr lang="en-US" sz="1050" dirty="0"/>
          </a:p>
        </p:txBody>
      </p:sp>
      <p:sp>
        <p:nvSpPr>
          <p:cNvPr id="34" name="Text 32"/>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DISCUSSION</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The honest scope of this thesis</a:t>
            </a:r>
            <a:endParaRPr lang="en-US" sz="3000" dirty="0"/>
          </a:p>
        </p:txBody>
      </p:sp>
      <p:sp>
        <p:nvSpPr>
          <p:cNvPr id="4" name="Shape 2"/>
          <p:cNvSpPr/>
          <p:nvPr/>
        </p:nvSpPr>
        <p:spPr>
          <a:xfrm>
            <a:off x="548640" y="1600200"/>
            <a:ext cx="11064240" cy="1234440"/>
          </a:xfrm>
          <a:prstGeom prst="roundRect">
            <a:avLst>
              <a:gd name="adj" fmla="val 5926"/>
            </a:avLst>
          </a:prstGeom>
          <a:solidFill>
            <a:srgbClr val="FFFFFF"/>
          </a:solidFill>
          <a:ln w="12700">
            <a:solidFill>
              <a:srgbClr val="E3E8EC"/>
            </a:solidFill>
            <a:prstDash val="solid"/>
          </a:ln>
        </p:spPr>
      </p:sp>
      <p:sp>
        <p:nvSpPr>
          <p:cNvPr id="5" name="Shape 3"/>
          <p:cNvSpPr/>
          <p:nvPr/>
        </p:nvSpPr>
        <p:spPr>
          <a:xfrm>
            <a:off x="822960" y="2034540"/>
            <a:ext cx="365760" cy="365760"/>
          </a:xfrm>
          <a:prstGeom prst="ellipse">
            <a:avLst/>
          </a:prstGeom>
          <a:solidFill>
            <a:srgbClr val="E8A33D"/>
          </a:solidFill>
          <a:ln/>
        </p:spPr>
      </p:sp>
      <p:sp>
        <p:nvSpPr>
          <p:cNvPr id="6" name="Text 4"/>
          <p:cNvSpPr/>
          <p:nvPr/>
        </p:nvSpPr>
        <p:spPr>
          <a:xfrm>
            <a:off x="822960" y="2034540"/>
            <a:ext cx="365760" cy="365760"/>
          </a:xfrm>
          <a:prstGeom prst="rect">
            <a:avLst/>
          </a:prstGeom>
          <a:noFill/>
          <a:ln/>
        </p:spPr>
        <p:txBody>
          <a:bodyPr wrap="square" lIns="0" tIns="0" rIns="0" bIns="0" rtlCol="0" anchor="ctr"/>
          <a:lstStyle/>
          <a:p>
            <a:pPr algn="ctr" indent="0" marL="0">
              <a:buNone/>
            </a:pPr>
            <a:r>
              <a:rPr lang="en-US" sz="1400" b="1" dirty="0">
                <a:solidFill>
                  <a:srgbClr val="162447"/>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417320" y="1737360"/>
            <a:ext cx="2743200" cy="914400"/>
          </a:xfrm>
          <a:prstGeom prst="rect">
            <a:avLst/>
          </a:prstGeom>
          <a:noFill/>
          <a:ln/>
        </p:spPr>
        <p:txBody>
          <a:bodyPr wrap="square" lIns="0" tIns="0" rIns="0" bIns="0" rtlCol="0" anchor="ctr"/>
          <a:lstStyle/>
          <a:p>
            <a:pPr indent="0" marL="0">
              <a:lnSpc>
                <a:spcPts val="1800"/>
              </a:lnSpc>
              <a:buNone/>
            </a:pPr>
            <a:r>
              <a:rPr lang="en-US" sz="1500" b="1" dirty="0">
                <a:solidFill>
                  <a:srgbClr val="162447"/>
                </a:solidFill>
                <a:latin typeface="Cambria" pitchFamily="34" charset="0"/>
                <a:ea typeface="Cambria" pitchFamily="34" charset="-122"/>
                <a:cs typeface="Cambria" pitchFamily="34" charset="-120"/>
              </a:rPr>
              <a:t>Calibrated, not derived</a:t>
            </a:r>
            <a:endParaRPr lang="en-US" sz="1500" dirty="0"/>
          </a:p>
        </p:txBody>
      </p:sp>
      <p:sp>
        <p:nvSpPr>
          <p:cNvPr id="8" name="Text 6"/>
          <p:cNvSpPr/>
          <p:nvPr/>
        </p:nvSpPr>
        <p:spPr>
          <a:xfrm>
            <a:off x="4297680" y="1737360"/>
            <a:ext cx="7040880" cy="96012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σ, κ, and effective bandwidth are fit per-device from local measurements — not regressed against raw hardware specs. This delivers a cheaper calibration (~6 measurements vs. a full grid search), not a way to skip it.</a:t>
            </a:r>
            <a:endParaRPr lang="en-US" sz="1200" dirty="0"/>
          </a:p>
        </p:txBody>
      </p:sp>
      <p:sp>
        <p:nvSpPr>
          <p:cNvPr id="9" name="Shape 7"/>
          <p:cNvSpPr/>
          <p:nvPr/>
        </p:nvSpPr>
        <p:spPr>
          <a:xfrm>
            <a:off x="548640" y="3017520"/>
            <a:ext cx="11064240" cy="1234440"/>
          </a:xfrm>
          <a:prstGeom prst="roundRect">
            <a:avLst>
              <a:gd name="adj" fmla="val 5926"/>
            </a:avLst>
          </a:prstGeom>
          <a:solidFill>
            <a:srgbClr val="FFFFFF"/>
          </a:solidFill>
          <a:ln w="12700">
            <a:solidFill>
              <a:srgbClr val="E3E8EC"/>
            </a:solidFill>
            <a:prstDash val="solid"/>
          </a:ln>
        </p:spPr>
      </p:sp>
      <p:sp>
        <p:nvSpPr>
          <p:cNvPr id="10" name="Shape 8"/>
          <p:cNvSpPr/>
          <p:nvPr/>
        </p:nvSpPr>
        <p:spPr>
          <a:xfrm>
            <a:off x="822960" y="3451860"/>
            <a:ext cx="365760" cy="365760"/>
          </a:xfrm>
          <a:prstGeom prst="ellipse">
            <a:avLst/>
          </a:prstGeom>
          <a:solidFill>
            <a:srgbClr val="E8A33D"/>
          </a:solidFill>
          <a:ln/>
        </p:spPr>
      </p:sp>
      <p:sp>
        <p:nvSpPr>
          <p:cNvPr id="11" name="Text 9"/>
          <p:cNvSpPr/>
          <p:nvPr/>
        </p:nvSpPr>
        <p:spPr>
          <a:xfrm>
            <a:off x="822960" y="3451860"/>
            <a:ext cx="365760" cy="365760"/>
          </a:xfrm>
          <a:prstGeom prst="rect">
            <a:avLst/>
          </a:prstGeom>
          <a:noFill/>
          <a:ln/>
        </p:spPr>
        <p:txBody>
          <a:bodyPr wrap="square" lIns="0" tIns="0" rIns="0" bIns="0" rtlCol="0" anchor="ctr"/>
          <a:lstStyle/>
          <a:p>
            <a:pPr algn="ctr" indent="0" marL="0">
              <a:buNone/>
            </a:pPr>
            <a:r>
              <a:rPr lang="en-US" sz="1400" b="1" dirty="0">
                <a:solidFill>
                  <a:srgbClr val="162447"/>
                </a:solidFill>
                <a:latin typeface="Cambria" pitchFamily="34" charset="0"/>
                <a:ea typeface="Cambria" pitchFamily="34" charset="-122"/>
                <a:cs typeface="Cambria" pitchFamily="34" charset="-120"/>
              </a:rPr>
              <a:t>2</a:t>
            </a:r>
            <a:endParaRPr lang="en-US" sz="1400" dirty="0"/>
          </a:p>
        </p:txBody>
      </p:sp>
      <p:sp>
        <p:nvSpPr>
          <p:cNvPr id="12" name="Text 10"/>
          <p:cNvSpPr/>
          <p:nvPr/>
        </p:nvSpPr>
        <p:spPr>
          <a:xfrm>
            <a:off x="1417320" y="3154680"/>
            <a:ext cx="2743200" cy="914400"/>
          </a:xfrm>
          <a:prstGeom prst="rect">
            <a:avLst/>
          </a:prstGeom>
          <a:noFill/>
          <a:ln/>
        </p:spPr>
        <p:txBody>
          <a:bodyPr wrap="square" lIns="0" tIns="0" rIns="0" bIns="0" rtlCol="0" anchor="ctr"/>
          <a:lstStyle/>
          <a:p>
            <a:pPr indent="0" marL="0">
              <a:lnSpc>
                <a:spcPts val="1800"/>
              </a:lnSpc>
              <a:buNone/>
            </a:pPr>
            <a:r>
              <a:rPr lang="en-US" sz="1500" b="1" dirty="0">
                <a:solidFill>
                  <a:srgbClr val="162447"/>
                </a:solidFill>
                <a:latin typeface="Cambria" pitchFamily="34" charset="0"/>
                <a:ea typeface="Cambria" pitchFamily="34" charset="-122"/>
                <a:cs typeface="Cambria" pitchFamily="34" charset="-120"/>
              </a:rPr>
              <a:t>MoE prediction is unconfirmed</a:t>
            </a:r>
            <a:endParaRPr lang="en-US" sz="1500" dirty="0"/>
          </a:p>
        </p:txBody>
      </p:sp>
      <p:sp>
        <p:nvSpPr>
          <p:cNvPr id="13" name="Text 11"/>
          <p:cNvSpPr/>
          <p:nvPr/>
        </p:nvSpPr>
        <p:spPr>
          <a:xfrm>
            <a:off x="4297680" y="3154680"/>
            <a:ext cx="7040880" cy="96012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The thesis's most consequential claim — MoE's structural advantage on bandwidth-starved CPUs — was never validated on our own hardware.</a:t>
            </a:r>
            <a:endParaRPr lang="en-US" sz="1200" dirty="0"/>
          </a:p>
        </p:txBody>
      </p:sp>
      <p:sp>
        <p:nvSpPr>
          <p:cNvPr id="14" name="Shape 12"/>
          <p:cNvSpPr/>
          <p:nvPr/>
        </p:nvSpPr>
        <p:spPr>
          <a:xfrm>
            <a:off x="548640" y="4434840"/>
            <a:ext cx="11064240" cy="1234440"/>
          </a:xfrm>
          <a:prstGeom prst="roundRect">
            <a:avLst>
              <a:gd name="adj" fmla="val 5926"/>
            </a:avLst>
          </a:prstGeom>
          <a:solidFill>
            <a:srgbClr val="FFFFFF"/>
          </a:solidFill>
          <a:ln w="12700">
            <a:solidFill>
              <a:srgbClr val="E3E8EC"/>
            </a:solidFill>
            <a:prstDash val="solid"/>
          </a:ln>
        </p:spPr>
      </p:sp>
      <p:sp>
        <p:nvSpPr>
          <p:cNvPr id="15" name="Shape 13"/>
          <p:cNvSpPr/>
          <p:nvPr/>
        </p:nvSpPr>
        <p:spPr>
          <a:xfrm>
            <a:off x="822960" y="4869180"/>
            <a:ext cx="365760" cy="365760"/>
          </a:xfrm>
          <a:prstGeom prst="ellipse">
            <a:avLst/>
          </a:prstGeom>
          <a:solidFill>
            <a:srgbClr val="E8A33D"/>
          </a:solidFill>
          <a:ln/>
        </p:spPr>
      </p:sp>
      <p:sp>
        <p:nvSpPr>
          <p:cNvPr id="16" name="Text 14"/>
          <p:cNvSpPr/>
          <p:nvPr/>
        </p:nvSpPr>
        <p:spPr>
          <a:xfrm>
            <a:off x="822960" y="4869180"/>
            <a:ext cx="365760" cy="365760"/>
          </a:xfrm>
          <a:prstGeom prst="rect">
            <a:avLst/>
          </a:prstGeom>
          <a:noFill/>
          <a:ln/>
        </p:spPr>
        <p:txBody>
          <a:bodyPr wrap="square" lIns="0" tIns="0" rIns="0" bIns="0" rtlCol="0" anchor="ctr"/>
          <a:lstStyle/>
          <a:p>
            <a:pPr algn="ctr" indent="0" marL="0">
              <a:buNone/>
            </a:pPr>
            <a:r>
              <a:rPr lang="en-US" sz="1400" b="1" dirty="0">
                <a:solidFill>
                  <a:srgbClr val="162447"/>
                </a:solidFill>
                <a:latin typeface="Cambria" pitchFamily="34" charset="0"/>
                <a:ea typeface="Cambria" pitchFamily="34" charset="-122"/>
                <a:cs typeface="Cambria" pitchFamily="34" charset="-120"/>
              </a:rPr>
              <a:t>3</a:t>
            </a:r>
            <a:endParaRPr lang="en-US" sz="1400" dirty="0"/>
          </a:p>
        </p:txBody>
      </p:sp>
      <p:sp>
        <p:nvSpPr>
          <p:cNvPr id="17" name="Text 15"/>
          <p:cNvSpPr/>
          <p:nvPr/>
        </p:nvSpPr>
        <p:spPr>
          <a:xfrm>
            <a:off x="1417320" y="4572000"/>
            <a:ext cx="2743200" cy="914400"/>
          </a:xfrm>
          <a:prstGeom prst="rect">
            <a:avLst/>
          </a:prstGeom>
          <a:noFill/>
          <a:ln/>
        </p:spPr>
        <p:txBody>
          <a:bodyPr wrap="square" lIns="0" tIns="0" rIns="0" bIns="0" rtlCol="0" anchor="ctr"/>
          <a:lstStyle/>
          <a:p>
            <a:pPr indent="0" marL="0">
              <a:lnSpc>
                <a:spcPts val="1800"/>
              </a:lnSpc>
              <a:buNone/>
            </a:pPr>
            <a:r>
              <a:rPr lang="en-US" sz="1500" b="1" dirty="0">
                <a:solidFill>
                  <a:srgbClr val="162447"/>
                </a:solidFill>
                <a:latin typeface="Cambria" pitchFamily="34" charset="0"/>
                <a:ea typeface="Cambria" pitchFamily="34" charset="-122"/>
                <a:cs typeface="Cambria" pitchFamily="34" charset="-120"/>
              </a:rPr>
              <a:t>Single inference engine</a:t>
            </a:r>
            <a:endParaRPr lang="en-US" sz="1500" dirty="0"/>
          </a:p>
        </p:txBody>
      </p:sp>
      <p:sp>
        <p:nvSpPr>
          <p:cNvPr id="18" name="Text 16"/>
          <p:cNvSpPr/>
          <p:nvPr/>
        </p:nvSpPr>
        <p:spPr>
          <a:xfrm>
            <a:off x="4297680" y="4572000"/>
            <a:ext cx="7040880" cy="96012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Every effect was measured on llama.cpp alone. We cannot yet separate genuine hardware/algorithm physics from this engine's specific kernel dispatch.</a:t>
            </a:r>
            <a:endParaRPr lang="en-US" sz="1200" dirty="0"/>
          </a:p>
        </p:txBody>
      </p:sp>
      <p:sp>
        <p:nvSpPr>
          <p:cNvPr id="19" name="Text 17"/>
          <p:cNvSpPr/>
          <p:nvPr/>
        </p:nvSpPr>
        <p:spPr>
          <a:xfrm>
            <a:off x="548640" y="5897880"/>
            <a:ext cx="11064240" cy="548640"/>
          </a:xfrm>
          <a:prstGeom prst="rect">
            <a:avLst/>
          </a:prstGeom>
          <a:noFill/>
          <a:ln/>
        </p:spPr>
        <p:txBody>
          <a:bodyPr wrap="square" lIns="0" tIns="0" rIns="0" bIns="0" rtlCol="0" anchor="ctr"/>
          <a:lstStyle/>
          <a:p>
            <a:pPr indent="0" marL="0">
              <a:lnSpc>
                <a:spcPts val="1600"/>
              </a:lnSpc>
              <a:buNone/>
            </a:pPr>
            <a:r>
              <a:rPr lang="en-US" sz="1250" i="1" dirty="0">
                <a:solidFill>
                  <a:srgbClr val="1F8A9E"/>
                </a:solidFill>
                <a:latin typeface="Calibri" pitchFamily="34" charset="0"/>
                <a:ea typeface="Calibri" pitchFamily="34" charset="-122"/>
                <a:cs typeface="Calibri" pitchFamily="34" charset="-120"/>
              </a:rPr>
              <a:t>Every effect reported is a real, reproducible measurement — these limitations bound what can be claimed, not the validity of what was measured.</a:t>
            </a:r>
            <a:endParaRPr lang="en-US" sz="1250" dirty="0"/>
          </a:p>
        </p:txBody>
      </p:sp>
      <p:sp>
        <p:nvSpPr>
          <p:cNvPr id="20" name="Text 1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9"/>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lIns="0" tIns="0" rIns="0" bIns="0" rtlCol="0" anchor="ctr"/>
          <a:lstStyle/>
          <a:p>
            <a:pPr indent="0" marL="0">
              <a:buNone/>
            </a:pPr>
            <a:r>
              <a:rPr lang="en-US" sz="1200" b="1" spc="200" kern="0" dirty="0">
                <a:solidFill>
                  <a:srgbClr val="1F8A9E"/>
                </a:solidFill>
                <a:latin typeface="Calibri" pitchFamily="34" charset="0"/>
                <a:ea typeface="Calibri" pitchFamily="34" charset="-122"/>
                <a:cs typeface="Calibri" pitchFamily="34" charset="-120"/>
              </a:rPr>
              <a:t>WHERE THIS GOES NEXT</a:t>
            </a:r>
            <a:endParaRPr lang="en-US" sz="1200" dirty="0"/>
          </a:p>
        </p:txBody>
      </p:sp>
      <p:sp>
        <p:nvSpPr>
          <p:cNvPr id="3" name="Text 1"/>
          <p:cNvSpPr/>
          <p:nvPr/>
        </p:nvSpPr>
        <p:spPr>
          <a:xfrm>
            <a:off x="548640" y="685800"/>
            <a:ext cx="10607040" cy="822960"/>
          </a:xfrm>
          <a:prstGeom prst="rect">
            <a:avLst/>
          </a:prstGeom>
          <a:noFill/>
          <a:ln/>
        </p:spPr>
        <p:txBody>
          <a:bodyPr wrap="square" lIns="0" tIns="0" rIns="0" bIns="0" rtlCol="0" anchor="ctr"/>
          <a:lstStyle/>
          <a:p>
            <a:pPr indent="0" marL="0">
              <a:lnSpc>
                <a:spcPts val="3400"/>
              </a:lnSpc>
              <a:buNone/>
            </a:pPr>
            <a:r>
              <a:rPr lang="en-US" sz="3000" b="1" dirty="0">
                <a:solidFill>
                  <a:srgbClr val="162447"/>
                </a:solidFill>
                <a:latin typeface="Cambria" pitchFamily="34" charset="0"/>
                <a:ea typeface="Cambria" pitchFamily="34" charset="-122"/>
                <a:cs typeface="Cambria" pitchFamily="34" charset="-120"/>
              </a:rPr>
              <a:t>Future work</a:t>
            </a:r>
            <a:endParaRPr lang="en-US" sz="3000" dirty="0"/>
          </a:p>
        </p:txBody>
      </p:sp>
      <p:sp>
        <p:nvSpPr>
          <p:cNvPr id="4" name="Shape 2"/>
          <p:cNvSpPr/>
          <p:nvPr/>
        </p:nvSpPr>
        <p:spPr>
          <a:xfrm>
            <a:off x="548640" y="1554480"/>
            <a:ext cx="5440680" cy="4206240"/>
          </a:xfrm>
          <a:prstGeom prst="roundRect">
            <a:avLst>
              <a:gd name="adj" fmla="val 1739"/>
            </a:avLst>
          </a:prstGeom>
          <a:solidFill>
            <a:srgbClr val="FFFFFF"/>
          </a:solidFill>
          <a:ln w="12700">
            <a:solidFill>
              <a:srgbClr val="E3E8EC"/>
            </a:solidFill>
            <a:prstDash val="solid"/>
          </a:ln>
        </p:spPr>
      </p:sp>
      <p:sp>
        <p:nvSpPr>
          <p:cNvPr id="5" name="Text 3"/>
          <p:cNvSpPr/>
          <p:nvPr/>
        </p:nvSpPr>
        <p:spPr>
          <a:xfrm>
            <a:off x="822960" y="1783080"/>
            <a:ext cx="4572000" cy="320040"/>
          </a:xfrm>
          <a:prstGeom prst="rect">
            <a:avLst/>
          </a:prstGeom>
          <a:noFill/>
          <a:ln/>
        </p:spPr>
        <p:txBody>
          <a:bodyPr wrap="square" lIns="0" tIns="0" rIns="0" bIns="0" rtlCol="0" anchor="ctr"/>
          <a:lstStyle/>
          <a:p>
            <a:pPr indent="0" marL="0">
              <a:buNone/>
            </a:pPr>
            <a:r>
              <a:rPr lang="en-US" sz="1200" b="1" spc="150" kern="0" dirty="0">
                <a:solidFill>
                  <a:srgbClr val="1F8A9E"/>
                </a:solidFill>
                <a:latin typeface="Calibri" pitchFamily="34" charset="0"/>
                <a:ea typeface="Calibri" pitchFamily="34" charset="-122"/>
                <a:cs typeface="Calibri" pitchFamily="34" charset="-120"/>
              </a:rPr>
              <a:t>NEAR-TERM</a:t>
            </a:r>
            <a:endParaRPr lang="en-US" sz="1200" dirty="0"/>
          </a:p>
        </p:txBody>
      </p:sp>
      <p:sp>
        <p:nvSpPr>
          <p:cNvPr id="6" name="Shape 4"/>
          <p:cNvSpPr/>
          <p:nvPr/>
        </p:nvSpPr>
        <p:spPr>
          <a:xfrm>
            <a:off x="822960" y="2249424"/>
            <a:ext cx="91440" cy="91440"/>
          </a:xfrm>
          <a:prstGeom prst="ellipse">
            <a:avLst/>
          </a:prstGeom>
          <a:solidFill>
            <a:srgbClr val="1F8A9E"/>
          </a:solidFill>
          <a:ln/>
        </p:spPr>
      </p:sp>
      <p:sp>
        <p:nvSpPr>
          <p:cNvPr id="7" name="Text 5"/>
          <p:cNvSpPr/>
          <p:nvPr/>
        </p:nvSpPr>
        <p:spPr>
          <a:xfrm>
            <a:off x="1097280" y="2121408"/>
            <a:ext cx="4709160" cy="594360"/>
          </a:xfrm>
          <a:prstGeom prst="rect">
            <a:avLst/>
          </a:prstGeom>
          <a:noFill/>
          <a:ln/>
        </p:spPr>
        <p:txBody>
          <a:bodyPr wrap="square" lIns="0" tIns="0" rIns="0" bIns="0" rtlCol="0" anchor="ctr"/>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Expand the fleet: a working Raspberry Pi, an AVX-512 chip, Apple Silicon</a:t>
            </a:r>
            <a:endParaRPr lang="en-US" sz="1250" dirty="0"/>
          </a:p>
        </p:txBody>
      </p:sp>
      <p:sp>
        <p:nvSpPr>
          <p:cNvPr id="8" name="Shape 6"/>
          <p:cNvSpPr/>
          <p:nvPr/>
        </p:nvSpPr>
        <p:spPr>
          <a:xfrm>
            <a:off x="822960" y="2962656"/>
            <a:ext cx="91440" cy="91440"/>
          </a:xfrm>
          <a:prstGeom prst="ellipse">
            <a:avLst/>
          </a:prstGeom>
          <a:solidFill>
            <a:srgbClr val="1F8A9E"/>
          </a:solidFill>
          <a:ln/>
        </p:spPr>
      </p:sp>
      <p:sp>
        <p:nvSpPr>
          <p:cNvPr id="9" name="Text 7"/>
          <p:cNvSpPr/>
          <p:nvPr/>
        </p:nvSpPr>
        <p:spPr>
          <a:xfrm>
            <a:off x="1097280" y="2834640"/>
            <a:ext cx="4709160" cy="594360"/>
          </a:xfrm>
          <a:prstGeom prst="rect">
            <a:avLst/>
          </a:prstGeom>
          <a:noFill/>
          <a:ln/>
        </p:spPr>
        <p:txBody>
          <a:bodyPr wrap="square" lIns="0" tIns="0" rIns="0" bIns="0" rtlCol="0" anchor="ctr"/>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Run the staged MoE benchmarks to completion</a:t>
            </a:r>
            <a:endParaRPr lang="en-US" sz="1250" dirty="0"/>
          </a:p>
        </p:txBody>
      </p:sp>
      <p:sp>
        <p:nvSpPr>
          <p:cNvPr id="10" name="Shape 8"/>
          <p:cNvSpPr/>
          <p:nvPr/>
        </p:nvSpPr>
        <p:spPr>
          <a:xfrm>
            <a:off x="822960" y="3675888"/>
            <a:ext cx="91440" cy="91440"/>
          </a:xfrm>
          <a:prstGeom prst="ellipse">
            <a:avLst/>
          </a:prstGeom>
          <a:solidFill>
            <a:srgbClr val="1F8A9E"/>
          </a:solidFill>
          <a:ln/>
        </p:spPr>
      </p:sp>
      <p:sp>
        <p:nvSpPr>
          <p:cNvPr id="11" name="Text 9"/>
          <p:cNvSpPr/>
          <p:nvPr/>
        </p:nvSpPr>
        <p:spPr>
          <a:xfrm>
            <a:off x="1097280" y="3547872"/>
            <a:ext cx="4709160" cy="594360"/>
          </a:xfrm>
          <a:prstGeom prst="rect">
            <a:avLst/>
          </a:prstGeom>
          <a:noFill/>
          <a:ln/>
        </p:spPr>
        <p:txBody>
          <a:bodyPr wrap="square" lIns="0" tIns="0" rIns="0" bIns="0" rtlCol="0" anchor="ctr"/>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Replace literature perplexity numbers with local measurements</a:t>
            </a:r>
            <a:endParaRPr lang="en-US" sz="1250" dirty="0"/>
          </a:p>
        </p:txBody>
      </p:sp>
      <p:sp>
        <p:nvSpPr>
          <p:cNvPr id="12" name="Shape 10"/>
          <p:cNvSpPr/>
          <p:nvPr/>
        </p:nvSpPr>
        <p:spPr>
          <a:xfrm>
            <a:off x="822960" y="4389120"/>
            <a:ext cx="91440" cy="91440"/>
          </a:xfrm>
          <a:prstGeom prst="ellipse">
            <a:avLst/>
          </a:prstGeom>
          <a:solidFill>
            <a:srgbClr val="1F8A9E"/>
          </a:solidFill>
          <a:ln/>
        </p:spPr>
      </p:sp>
      <p:sp>
        <p:nvSpPr>
          <p:cNvPr id="13" name="Text 11"/>
          <p:cNvSpPr/>
          <p:nvPr/>
        </p:nvSpPr>
        <p:spPr>
          <a:xfrm>
            <a:off x="1097280" y="4261104"/>
            <a:ext cx="4709160" cy="594360"/>
          </a:xfrm>
          <a:prstGeom prst="rect">
            <a:avLst/>
          </a:prstGeom>
          <a:noFill/>
          <a:ln/>
        </p:spPr>
        <p:txBody>
          <a:bodyPr wrap="square" lIns="0" tIns="0" rIns="0" bIns="0" rtlCol="0" anchor="ctr"/>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Investigate CPU pinning and NUMA effects</a:t>
            </a:r>
            <a:endParaRPr lang="en-US" sz="1250" dirty="0"/>
          </a:p>
        </p:txBody>
      </p:sp>
      <p:sp>
        <p:nvSpPr>
          <p:cNvPr id="14" name="Shape 12"/>
          <p:cNvSpPr/>
          <p:nvPr/>
        </p:nvSpPr>
        <p:spPr>
          <a:xfrm>
            <a:off x="822960" y="5102352"/>
            <a:ext cx="91440" cy="91440"/>
          </a:xfrm>
          <a:prstGeom prst="ellipse">
            <a:avLst/>
          </a:prstGeom>
          <a:solidFill>
            <a:srgbClr val="1F8A9E"/>
          </a:solidFill>
          <a:ln/>
        </p:spPr>
      </p:sp>
      <p:sp>
        <p:nvSpPr>
          <p:cNvPr id="15" name="Text 13"/>
          <p:cNvSpPr/>
          <p:nvPr/>
        </p:nvSpPr>
        <p:spPr>
          <a:xfrm>
            <a:off x="1097280" y="4974336"/>
            <a:ext cx="4709160" cy="594360"/>
          </a:xfrm>
          <a:prstGeom prst="rect">
            <a:avLst/>
          </a:prstGeom>
          <a:noFill/>
          <a:ln/>
        </p:spPr>
        <p:txBody>
          <a:bodyPr wrap="square" lIns="0" tIns="0" rIns="0" bIns="0" rtlCol="0" anchor="ctr"/>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Test Flash Attention &amp; KV-cache quant on bandwidth-starved devices</a:t>
            </a:r>
            <a:endParaRPr lang="en-US" sz="1250" dirty="0"/>
          </a:p>
        </p:txBody>
      </p:sp>
      <p:sp>
        <p:nvSpPr>
          <p:cNvPr id="16" name="Shape 14"/>
          <p:cNvSpPr/>
          <p:nvPr/>
        </p:nvSpPr>
        <p:spPr>
          <a:xfrm>
            <a:off x="6172200" y="1554480"/>
            <a:ext cx="5440680" cy="4206240"/>
          </a:xfrm>
          <a:prstGeom prst="roundRect">
            <a:avLst>
              <a:gd name="adj" fmla="val 1739"/>
            </a:avLst>
          </a:prstGeom>
          <a:solidFill>
            <a:srgbClr val="162447"/>
          </a:solidFill>
          <a:ln/>
        </p:spPr>
      </p:sp>
      <p:sp>
        <p:nvSpPr>
          <p:cNvPr id="17" name="Text 15"/>
          <p:cNvSpPr/>
          <p:nvPr/>
        </p:nvSpPr>
        <p:spPr>
          <a:xfrm>
            <a:off x="6446520" y="1783080"/>
            <a:ext cx="4572000" cy="320040"/>
          </a:xfrm>
          <a:prstGeom prst="rect">
            <a:avLst/>
          </a:prstGeom>
          <a:noFill/>
          <a:ln/>
        </p:spPr>
        <p:txBody>
          <a:bodyPr wrap="square" lIns="0" tIns="0" rIns="0" bIns="0" rtlCol="0" anchor="ctr"/>
          <a:lstStyle/>
          <a:p>
            <a:pPr indent="0" marL="0">
              <a:buNone/>
            </a:pPr>
            <a:r>
              <a:rPr lang="en-US" sz="1200" b="1" spc="150" kern="0" dirty="0">
                <a:solidFill>
                  <a:srgbClr val="E8A33D"/>
                </a:solidFill>
                <a:latin typeface="Calibri" pitchFamily="34" charset="0"/>
                <a:ea typeface="Calibri" pitchFamily="34" charset="-122"/>
                <a:cs typeface="Calibri" pitchFamily="34" charset="-120"/>
              </a:rPr>
              <a:t>LONGER-TERM</a:t>
            </a:r>
            <a:endParaRPr lang="en-US" sz="1200" dirty="0"/>
          </a:p>
        </p:txBody>
      </p:sp>
      <p:sp>
        <p:nvSpPr>
          <p:cNvPr id="18" name="Shape 16"/>
          <p:cNvSpPr/>
          <p:nvPr/>
        </p:nvSpPr>
        <p:spPr>
          <a:xfrm>
            <a:off x="6446520" y="2249424"/>
            <a:ext cx="91440" cy="91440"/>
          </a:xfrm>
          <a:prstGeom prst="ellipse">
            <a:avLst/>
          </a:prstGeom>
          <a:solidFill>
            <a:srgbClr val="E8A33D"/>
          </a:solidFill>
          <a:ln/>
        </p:spPr>
      </p:sp>
      <p:sp>
        <p:nvSpPr>
          <p:cNvPr id="19" name="Text 17"/>
          <p:cNvSpPr/>
          <p:nvPr/>
        </p:nvSpPr>
        <p:spPr>
          <a:xfrm>
            <a:off x="6720840" y="2121408"/>
            <a:ext cx="4709160" cy="777240"/>
          </a:xfrm>
          <a:prstGeom prst="rect">
            <a:avLst/>
          </a:prstGeom>
          <a:noFill/>
          <a:ln/>
        </p:spPr>
        <p:txBody>
          <a:bodyPr wrap="square" lIns="0" tIns="0" rIns="0" bIns="0" rtlCol="0" anchor="ctr"/>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A true zero-shot predictor: specs in, calibration constants out — needs ~20–30 calibrated devices</a:t>
            </a:r>
            <a:endParaRPr lang="en-US" sz="1250" dirty="0"/>
          </a:p>
        </p:txBody>
      </p:sp>
      <p:sp>
        <p:nvSpPr>
          <p:cNvPr id="20" name="Shape 18"/>
          <p:cNvSpPr/>
          <p:nvPr/>
        </p:nvSpPr>
        <p:spPr>
          <a:xfrm>
            <a:off x="6446520" y="3118104"/>
            <a:ext cx="91440" cy="91440"/>
          </a:xfrm>
          <a:prstGeom prst="ellipse">
            <a:avLst/>
          </a:prstGeom>
          <a:solidFill>
            <a:srgbClr val="E8A33D"/>
          </a:solidFill>
          <a:ln/>
        </p:spPr>
      </p:sp>
      <p:sp>
        <p:nvSpPr>
          <p:cNvPr id="21" name="Text 19"/>
          <p:cNvSpPr/>
          <p:nvPr/>
        </p:nvSpPr>
        <p:spPr>
          <a:xfrm>
            <a:off x="6720840" y="2990088"/>
            <a:ext cx="4709160" cy="777240"/>
          </a:xfrm>
          <a:prstGeom prst="rect">
            <a:avLst/>
          </a:prstGeom>
          <a:noFill/>
          <a:ln/>
        </p:spPr>
        <p:txBody>
          <a:bodyPr wrap="square" lIns="0" tIns="0" rIns="0" bIns="0" rtlCol="0" anchor="ctr"/>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A living, community-contributed calibration dataset</a:t>
            </a:r>
            <a:endParaRPr lang="en-US" sz="1250" dirty="0"/>
          </a:p>
        </p:txBody>
      </p:sp>
      <p:sp>
        <p:nvSpPr>
          <p:cNvPr id="22" name="Shape 20"/>
          <p:cNvSpPr/>
          <p:nvPr/>
        </p:nvSpPr>
        <p:spPr>
          <a:xfrm>
            <a:off x="6446520" y="3986784"/>
            <a:ext cx="91440" cy="91440"/>
          </a:xfrm>
          <a:prstGeom prst="ellipse">
            <a:avLst/>
          </a:prstGeom>
          <a:solidFill>
            <a:srgbClr val="E8A33D"/>
          </a:solidFill>
          <a:ln/>
        </p:spPr>
      </p:sp>
      <p:sp>
        <p:nvSpPr>
          <p:cNvPr id="23" name="Text 21"/>
          <p:cNvSpPr/>
          <p:nvPr/>
        </p:nvSpPr>
        <p:spPr>
          <a:xfrm>
            <a:off x="6720840" y="3858768"/>
            <a:ext cx="4709160" cy="777240"/>
          </a:xfrm>
          <a:prstGeom prst="rect">
            <a:avLst/>
          </a:prstGeom>
          <a:noFill/>
          <a:ln/>
        </p:spPr>
        <p:txBody>
          <a:bodyPr wrap="square" lIns="0" tIns="0" rIns="0" bIns="0" rtlCol="0" anchor="ctr"/>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Extend from single-user batch-1 to concurrent, multi-user serving</a:t>
            </a:r>
            <a:endParaRPr lang="en-US" sz="1250" dirty="0"/>
          </a:p>
        </p:txBody>
      </p:sp>
      <p:sp>
        <p:nvSpPr>
          <p:cNvPr id="24" name="Shape 22"/>
          <p:cNvSpPr/>
          <p:nvPr/>
        </p:nvSpPr>
        <p:spPr>
          <a:xfrm>
            <a:off x="6446520" y="4855464"/>
            <a:ext cx="91440" cy="91440"/>
          </a:xfrm>
          <a:prstGeom prst="ellipse">
            <a:avLst/>
          </a:prstGeom>
          <a:solidFill>
            <a:srgbClr val="E8A33D"/>
          </a:solidFill>
          <a:ln/>
        </p:spPr>
      </p:sp>
      <p:sp>
        <p:nvSpPr>
          <p:cNvPr id="25" name="Text 23"/>
          <p:cNvSpPr/>
          <p:nvPr/>
        </p:nvSpPr>
        <p:spPr>
          <a:xfrm>
            <a:off x="6720840" y="4727448"/>
            <a:ext cx="4709160" cy="777240"/>
          </a:xfrm>
          <a:prstGeom prst="rect">
            <a:avLst/>
          </a:prstGeom>
          <a:noFill/>
          <a:ln/>
        </p:spPr>
        <p:txBody>
          <a:bodyPr wrap="square" lIns="0" tIns="0" rIns="0" bIns="0" rtlCol="0" anchor="ctr"/>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Generalize ‘bytes-per-token’ to pruning and speculative decoding</a:t>
            </a:r>
            <a:endParaRPr lang="en-US" sz="1250" dirty="0"/>
          </a:p>
        </p:txBody>
      </p:sp>
      <p:sp>
        <p:nvSpPr>
          <p:cNvPr id="26" name="Text 2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675"/>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2447"/>
        </a:solidFill>
      </p:bgPr>
    </p:bg>
    <p:spTree>
      <p:nvGrpSpPr>
        <p:cNvPr id="1" name=""/>
        <p:cNvGrpSpPr/>
        <p:nvPr/>
      </p:nvGrpSpPr>
      <p:grpSpPr>
        <a:xfrm>
          <a:off x="0" y="0"/>
          <a:ext cx="0" cy="0"/>
          <a:chOff x="0" y="0"/>
          <a:chExt cx="0" cy="0"/>
        </a:xfrm>
      </p:grpSpPr>
      <p:sp>
        <p:nvSpPr>
          <p:cNvPr id="2" name="Text 0"/>
          <p:cNvSpPr/>
          <p:nvPr/>
        </p:nvSpPr>
        <p:spPr>
          <a:xfrm>
            <a:off x="822960" y="640080"/>
            <a:ext cx="3657600" cy="365760"/>
          </a:xfrm>
          <a:prstGeom prst="rect">
            <a:avLst/>
          </a:prstGeom>
          <a:noFill/>
          <a:ln/>
        </p:spPr>
        <p:txBody>
          <a:bodyPr wrap="square" lIns="0" tIns="0" rIns="0" bIns="0" rtlCol="0" anchor="ctr"/>
          <a:lstStyle/>
          <a:p>
            <a:pPr indent="0" marL="0">
              <a:buNone/>
            </a:pPr>
            <a:r>
              <a:rPr lang="en-US" sz="1300" b="1" spc="300" kern="0" dirty="0">
                <a:solidFill>
                  <a:srgbClr val="E8A33D"/>
                </a:solidFill>
                <a:latin typeface="Calibri" pitchFamily="34" charset="0"/>
                <a:ea typeface="Calibri" pitchFamily="34" charset="-122"/>
                <a:cs typeface="Calibri" pitchFamily="34" charset="-120"/>
              </a:rPr>
              <a:t>CONCLUSION</a:t>
            </a:r>
            <a:endParaRPr lang="en-US" sz="1300" dirty="0"/>
          </a:p>
        </p:txBody>
      </p:sp>
      <p:sp>
        <p:nvSpPr>
          <p:cNvPr id="3" name="Text 1"/>
          <p:cNvSpPr/>
          <p:nvPr/>
        </p:nvSpPr>
        <p:spPr>
          <a:xfrm>
            <a:off x="822960" y="1051560"/>
            <a:ext cx="1024128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Four effects, one model, six recommendations</a:t>
            </a:r>
            <a:endParaRPr lang="en-US" sz="3000" dirty="0"/>
          </a:p>
        </p:txBody>
      </p:sp>
      <p:sp>
        <p:nvSpPr>
          <p:cNvPr id="4" name="Shape 2"/>
          <p:cNvSpPr/>
          <p:nvPr/>
        </p:nvSpPr>
        <p:spPr>
          <a:xfrm>
            <a:off x="822960" y="2221992"/>
            <a:ext cx="109728" cy="109728"/>
          </a:xfrm>
          <a:prstGeom prst="ellipse">
            <a:avLst/>
          </a:prstGeom>
          <a:solidFill>
            <a:srgbClr val="1F8A9E"/>
          </a:solidFill>
          <a:ln/>
        </p:spPr>
      </p:sp>
      <p:sp>
        <p:nvSpPr>
          <p:cNvPr id="5" name="Text 3"/>
          <p:cNvSpPr/>
          <p:nvPr/>
        </p:nvSpPr>
        <p:spPr>
          <a:xfrm>
            <a:off x="1143000" y="2075688"/>
            <a:ext cx="978408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Compute-bound prefill saturates near the physical core count</a:t>
            </a:r>
            <a:endParaRPr lang="en-US" sz="1500" dirty="0"/>
          </a:p>
        </p:txBody>
      </p:sp>
      <p:sp>
        <p:nvSpPr>
          <p:cNvPr id="6" name="Shape 4"/>
          <p:cNvSpPr/>
          <p:nvPr/>
        </p:nvSpPr>
        <p:spPr>
          <a:xfrm>
            <a:off x="822960" y="2788920"/>
            <a:ext cx="109728" cy="109728"/>
          </a:xfrm>
          <a:prstGeom prst="ellipse">
            <a:avLst/>
          </a:prstGeom>
          <a:solidFill>
            <a:srgbClr val="1F8A9E"/>
          </a:solidFill>
          <a:ln/>
        </p:spPr>
      </p:sp>
      <p:sp>
        <p:nvSpPr>
          <p:cNvPr id="7" name="Text 5"/>
          <p:cNvSpPr/>
          <p:nvPr/>
        </p:nvSpPr>
        <p:spPr>
          <a:xfrm>
            <a:off x="1143000" y="2642616"/>
            <a:ext cx="978408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Memory-bound generation can retrograde as threads are added</a:t>
            </a:r>
            <a:endParaRPr lang="en-US" sz="1500" dirty="0"/>
          </a:p>
        </p:txBody>
      </p:sp>
      <p:sp>
        <p:nvSpPr>
          <p:cNvPr id="8" name="Shape 6"/>
          <p:cNvSpPr/>
          <p:nvPr/>
        </p:nvSpPr>
        <p:spPr>
          <a:xfrm>
            <a:off x="822960" y="3355848"/>
            <a:ext cx="109728" cy="109728"/>
          </a:xfrm>
          <a:prstGeom prst="ellipse">
            <a:avLst/>
          </a:prstGeom>
          <a:solidFill>
            <a:srgbClr val="1F8A9E"/>
          </a:solidFill>
          <a:ln/>
        </p:spPr>
      </p:sp>
      <p:sp>
        <p:nvSpPr>
          <p:cNvPr id="9" name="Text 7"/>
          <p:cNvSpPr/>
          <p:nvPr/>
        </p:nvSpPr>
        <p:spPr>
          <a:xfrm>
            <a:off x="1143000" y="3209544"/>
            <a:ext cx="978408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Quantization choices flip sign depending on device and context</a:t>
            </a:r>
            <a:endParaRPr lang="en-US" sz="1500" dirty="0"/>
          </a:p>
        </p:txBody>
      </p:sp>
      <p:sp>
        <p:nvSpPr>
          <p:cNvPr id="10" name="Shape 8"/>
          <p:cNvSpPr/>
          <p:nvPr/>
        </p:nvSpPr>
        <p:spPr>
          <a:xfrm>
            <a:off x="822960" y="3922776"/>
            <a:ext cx="109728" cy="109728"/>
          </a:xfrm>
          <a:prstGeom prst="ellipse">
            <a:avLst/>
          </a:prstGeom>
          <a:solidFill>
            <a:srgbClr val="1F8A9E"/>
          </a:solidFill>
          <a:ln/>
        </p:spPr>
      </p:sp>
      <p:sp>
        <p:nvSpPr>
          <p:cNvPr id="11" name="Text 9"/>
          <p:cNvSpPr/>
          <p:nvPr/>
        </p:nvSpPr>
        <p:spPr>
          <a:xfrm>
            <a:off x="1143000" y="3776472"/>
            <a:ext cx="978408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Flash Attention is a regression on CPU at long context</a:t>
            </a:r>
            <a:endParaRPr lang="en-US" sz="1500" dirty="0"/>
          </a:p>
        </p:txBody>
      </p:sp>
      <p:sp>
        <p:nvSpPr>
          <p:cNvPr id="12" name="Shape 10"/>
          <p:cNvSpPr/>
          <p:nvPr/>
        </p:nvSpPr>
        <p:spPr>
          <a:xfrm>
            <a:off x="822960" y="4617720"/>
            <a:ext cx="10515600" cy="0"/>
          </a:xfrm>
          <a:prstGeom prst="line">
            <a:avLst/>
          </a:prstGeom>
          <a:noFill/>
          <a:ln w="12700">
            <a:solidFill>
              <a:srgbClr val="2C4066"/>
            </a:solidFill>
            <a:prstDash val="solid"/>
          </a:ln>
        </p:spPr>
      </p:sp>
      <p:sp>
        <p:nvSpPr>
          <p:cNvPr id="13" name="Text 11"/>
          <p:cNvSpPr/>
          <p:nvPr/>
        </p:nvSpPr>
        <p:spPr>
          <a:xfrm>
            <a:off x="822960" y="4800600"/>
            <a:ext cx="10515600" cy="1005840"/>
          </a:xfrm>
          <a:prstGeom prst="rect">
            <a:avLst/>
          </a:prstGeom>
          <a:noFill/>
          <a:ln/>
        </p:spPr>
        <p:txBody>
          <a:bodyPr wrap="square" lIns="0" tIns="0" rIns="0" bIns="0" rtlCol="0" anchor="ctr"/>
          <a:lstStyle/>
          <a:p>
            <a:pPr indent="0" marL="0">
              <a:lnSpc>
                <a:spcPts val="1800"/>
              </a:lnSpc>
              <a:buNone/>
            </a:pPr>
            <a:r>
              <a:rPr lang="en-US" sz="1350" i="1" dirty="0">
                <a:solidFill>
                  <a:srgbClr val="DCEFF2"/>
                </a:solidFill>
                <a:latin typeface="Calibri" pitchFamily="34" charset="0"/>
                <a:ea typeface="Calibri" pitchFamily="34" charset="-122"/>
                <a:cs typeface="Calibri" pitchFamily="34" charset="-120"/>
              </a:rPr>
              <a:t>The roofline model predicts measured Ryzen throughput within 4–18% from five calibration points. Its most interesting prediction — MoE's structural advantage on bandwidth-starved CPUs — remains the clearest next step.</a:t>
            </a:r>
            <a:endParaRPr lang="en-US" sz="1350" dirty="0"/>
          </a:p>
        </p:txBody>
      </p:sp>
      <p:sp>
        <p:nvSpPr>
          <p:cNvPr id="14" name="Text 12"/>
          <p:cNvSpPr/>
          <p:nvPr/>
        </p:nvSpPr>
        <p:spPr>
          <a:xfrm>
            <a:off x="822960" y="5943600"/>
            <a:ext cx="7315200" cy="36576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Interactive calculator: yassine-hattay.github.io/LLMs_inference_on_CPU</a:t>
            </a:r>
            <a:endParaRPr lang="en-US" sz="1150" dirty="0"/>
          </a:p>
        </p:txBody>
      </p:sp>
      <p:sp>
        <p:nvSpPr>
          <p:cNvPr id="15" name="Text 13"/>
          <p:cNvSpPr/>
          <p:nvPr/>
        </p:nvSpPr>
        <p:spPr>
          <a:xfrm>
            <a:off x="822960" y="6263640"/>
            <a:ext cx="73152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Thank you — questions welcome.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2026-08-25T08:11:08Z</dcterms:created>
  <dcterms:modified xsi:type="dcterms:W3CDTF">2026-08-25T08:11:08Z</dcterms:modified>
</cp:coreProperties>
</file>