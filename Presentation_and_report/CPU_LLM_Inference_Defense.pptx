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300" spc="-1" strike="noStrike">
                <a:solidFill>
                  <a:srgbClr val="162447"/>
                </a:solidFill>
                <a:latin typeface="Arial"/>
              </a:defRPr>
            </a:pPr>
            <a:r>
              <a:rPr b="0" sz="1300" spc="-1" strike="noStrike">
                <a:solidFill>
                  <a:srgbClr val="162447"/>
                </a:solidFill>
                <a:latin typeface="Arial"/>
              </a:rPr>
              <a:t>Ryzen 5600H: throughput vs thread count</a:t>
            </a:r>
          </a:p>
        </c:rich>
      </c:tx>
      <c:overlay val="0"/>
      <c:spPr>
        <a:noFill/>
        <a:ln w="0">
          <a:noFill/>
        </a:ln>
      </c:spPr>
    </c:title>
    <c:autoTitleDeleted val="0"/>
    <c:plotArea>
      <c:lineChart>
        <c:grouping val="standard"/>
        <c:varyColors val="0"/>
        <c:ser>
          <c:idx val="0"/>
          <c:order val="0"/>
          <c:tx>
            <c:strRef>
              <c:f>label 0</c:f>
              <c:strCache>
                <c:ptCount val="1"/>
                <c:pt idx="0">
                  <c:v>Prefill (pp512) — compute-bound</c:v>
                </c:pt>
              </c:strCache>
            </c:strRef>
          </c:tx>
          <c:spPr>
            <a:solidFill>
              <a:srgbClr val="1f8a9e"/>
            </a:solidFill>
            <a:ln w="38160">
              <a:solidFill>
                <a:srgbClr val="1f8a9e"/>
              </a:solidFill>
              <a:round/>
            </a:ln>
          </c:spPr>
          <c:marker>
            <c:symbol val="circle"/>
            <c:size val="7"/>
            <c:spPr>
              <a:solidFill>
                <a:srgbClr val="1f8a9e"/>
              </a:solidFill>
            </c:spPr>
          </c:marker>
          <c:dLbls>
            <c:txPr>
              <a:bodyPr wrap="square"/>
              <a:lstStyle/>
              <a:p>
                <a:pPr>
                  <a:defRPr b="0" sz="1200" spc="-1" strike="noStrike">
                    <a:solidFill>
                      <a:srgbClr val="1b2430"/>
                    </a:solidFill>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1</c:v>
                </c:pt>
                <c:pt idx="1">
                  <c:v>2</c:v>
                </c:pt>
                <c:pt idx="2">
                  <c:v>4</c:v>
                </c:pt>
                <c:pt idx="3">
                  <c:v>6</c:v>
                </c:pt>
                <c:pt idx="4">
                  <c:v>8</c:v>
                </c:pt>
              </c:strCache>
            </c:strRef>
          </c:cat>
          <c:val>
            <c:numRef>
              <c:f>0</c:f>
              <c:numCache>
                <c:formatCode>General</c:formatCode>
                <c:ptCount val="5"/>
                <c:pt idx="0">
                  <c:v>7.81</c:v>
                </c:pt>
                <c:pt idx="1">
                  <c:v>13.93</c:v>
                </c:pt>
                <c:pt idx="2">
                  <c:v>24.11</c:v>
                </c:pt>
                <c:pt idx="3">
                  <c:v>25.15</c:v>
                </c:pt>
                <c:pt idx="4">
                  <c:v>25.81</c:v>
                </c:pt>
              </c:numCache>
            </c:numRef>
          </c:val>
          <c:smooth val="0"/>
        </c:ser>
        <c:ser>
          <c:idx val="1"/>
          <c:order val="1"/>
          <c:tx>
            <c:strRef>
              <c:f>label 1</c:f>
              <c:strCache>
                <c:ptCount val="1"/>
                <c:pt idx="0">
                  <c:v>Generation (tg128) — memory-bound</c:v>
                </c:pt>
              </c:strCache>
            </c:strRef>
          </c:tx>
          <c:spPr>
            <a:solidFill>
              <a:srgbClr val="e8a33d"/>
            </a:solidFill>
            <a:ln w="38160">
              <a:solidFill>
                <a:srgbClr val="e8a33d"/>
              </a:solidFill>
              <a:round/>
            </a:ln>
          </c:spPr>
          <c:marker>
            <c:symbol val="circle"/>
            <c:size val="7"/>
            <c:spPr>
              <a:solidFill>
                <a:srgbClr val="e8a33d"/>
              </a:solidFill>
            </c:spPr>
          </c:marker>
          <c:dLbls>
            <c:txPr>
              <a:bodyPr wrap="square"/>
              <a:lstStyle/>
              <a:p>
                <a:pPr>
                  <a:defRPr b="0" sz="1200" spc="-1" strike="noStrike">
                    <a:solidFill>
                      <a:srgbClr val="1b2430"/>
                    </a:solidFill>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1</c:v>
                </c:pt>
                <c:pt idx="1">
                  <c:v>2</c:v>
                </c:pt>
                <c:pt idx="2">
                  <c:v>4</c:v>
                </c:pt>
                <c:pt idx="3">
                  <c:v>6</c:v>
                </c:pt>
                <c:pt idx="4">
                  <c:v>8</c:v>
                </c:pt>
              </c:strCache>
            </c:strRef>
          </c:cat>
          <c:val>
            <c:numRef>
              <c:f>1</c:f>
              <c:numCache>
                <c:formatCode>General</c:formatCode>
                <c:ptCount val="5"/>
                <c:pt idx="0">
                  <c:v>3.95</c:v>
                </c:pt>
                <c:pt idx="1">
                  <c:v>6.45</c:v>
                </c:pt>
                <c:pt idx="2">
                  <c:v>8.83</c:v>
                </c:pt>
                <c:pt idx="3">
                  <c:v>6.9</c:v>
                </c:pt>
                <c:pt idx="4">
                  <c:v>6.98</c:v>
                </c:pt>
              </c:numCache>
            </c:numRef>
          </c:val>
          <c:smooth val="0"/>
        </c:ser>
        <c:hiLowLines>
          <c:spPr>
            <a:ln w="0">
              <a:noFill/>
            </a:ln>
          </c:spPr>
        </c:hiLowLines>
        <c:marker val="1"/>
        <c:axId val="40231204"/>
        <c:axId val="91109827"/>
      </c:lineChart>
      <c:catAx>
        <c:axId val="40231204"/>
        <c:scaling>
          <c:orientation val="minMax"/>
        </c:scaling>
        <c:delete val="0"/>
        <c:axPos val="b"/>
        <c:title>
          <c:tx>
            <c:rich>
              <a:bodyPr rot="0"/>
              <a:lstStyle/>
              <a:p>
                <a:pPr>
                  <a:defRPr b="0" sz="1000" spc="-1" strike="noStrike">
                    <a:solidFill>
                      <a:srgbClr val="000000"/>
                    </a:solidFill>
                    <a:latin typeface="Arial"/>
                  </a:defRPr>
                </a:pPr>
                <a:r>
                  <a:rPr b="0" sz="1000" spc="-1" strike="noStrike">
                    <a:solidFill>
                      <a:srgbClr val="000000"/>
                    </a:solidFill>
                    <a:latin typeface="Arial"/>
                  </a:rPr>
                  <a:t>Threads</a:t>
                </a:r>
              </a:p>
            </c:rich>
          </c:tx>
          <c:overlay val="0"/>
          <c:spPr>
            <a:noFill/>
            <a:ln w="0">
              <a:noFill/>
            </a:ln>
          </c:spPr>
        </c:title>
        <c:numFmt formatCode="General" sourceLinked="0"/>
        <c:majorTickMark val="out"/>
        <c:minorTickMark val="none"/>
        <c:tickLblPos val="low"/>
        <c:spPr>
          <a:ln w="12600">
            <a:solidFill>
              <a:srgbClr val="888888"/>
            </a:solidFill>
            <a:round/>
          </a:ln>
        </c:spPr>
        <c:txPr>
          <a:bodyPr/>
          <a:lstStyle/>
          <a:p>
            <a:pPr>
              <a:defRPr b="0" sz="1100" spc="-1" strike="noStrike">
                <a:solidFill>
                  <a:srgbClr val="5b6675"/>
                </a:solidFill>
                <a:latin typeface="Arial"/>
              </a:defRPr>
            </a:pPr>
          </a:p>
        </c:txPr>
        <c:crossAx val="91109827"/>
        <c:crosses val="autoZero"/>
        <c:auto val="1"/>
        <c:lblAlgn val="ctr"/>
        <c:lblOffset val="100"/>
        <c:noMultiLvlLbl val="0"/>
      </c:catAx>
      <c:valAx>
        <c:axId val="91109827"/>
        <c:scaling>
          <c:orientation val="minMax"/>
        </c:scaling>
        <c:delete val="0"/>
        <c:axPos val="l"/>
        <c:majorGridlines>
          <c:spPr>
            <a:ln w="12600">
              <a:solidFill>
                <a:srgbClr val="e3e8ec"/>
              </a:solidFill>
              <a:round/>
            </a:ln>
          </c:spPr>
        </c:majorGridlines>
        <c:title>
          <c:tx>
            <c:rich>
              <a:bodyPr rot="-5400000"/>
              <a:lstStyle/>
              <a:p>
                <a:pPr>
                  <a:defRPr b="0" sz="1000" spc="-1" strike="noStrike">
                    <a:solidFill>
                      <a:srgbClr val="000000"/>
                    </a:solidFill>
                    <a:latin typeface="Arial"/>
                  </a:defRPr>
                </a:pPr>
                <a:r>
                  <a:rPr b="0" sz="1000" spc="-1" strike="noStrike">
                    <a:solidFill>
                      <a:srgbClr val="000000"/>
                    </a:solidFill>
                    <a:latin typeface="Arial"/>
                  </a:rPr>
                  <a:t>tokens / second</a:t>
                </a:r>
              </a:p>
            </c:rich>
          </c:tx>
          <c:overlay val="0"/>
          <c:spPr>
            <a:noFill/>
            <a:ln w="0">
              <a:noFill/>
            </a:ln>
          </c:spPr>
        </c:title>
        <c:numFmt formatCode="General" sourceLinked="0"/>
        <c:majorTickMark val="out"/>
        <c:minorTickMark val="none"/>
        <c:tickLblPos val="nextTo"/>
        <c:spPr>
          <a:ln w="12600">
            <a:solidFill>
              <a:srgbClr val="888888"/>
            </a:solidFill>
            <a:round/>
          </a:ln>
        </c:spPr>
        <c:txPr>
          <a:bodyPr/>
          <a:lstStyle/>
          <a:p>
            <a:pPr>
              <a:defRPr b="0" sz="1100" spc="-1" strike="noStrike">
                <a:solidFill>
                  <a:srgbClr val="5b6675"/>
                </a:solidFill>
                <a:latin typeface="Arial"/>
              </a:defRPr>
            </a:pPr>
          </a:p>
        </c:txPr>
        <c:crossAx val="40231204"/>
        <c:crosses val="autoZero"/>
        <c:crossBetween val="between"/>
      </c:valAx>
      <c:spPr>
        <a:noFill/>
        <a:ln w="0">
          <a:noFill/>
        </a:ln>
      </c:spPr>
    </c:plotArea>
    <c:legend>
      <c:legendPos val="b"/>
      <c:overlay val="0"/>
      <c:spPr>
        <a:noFill/>
        <a:ln w="0">
          <a:noFill/>
        </a:ln>
      </c:spPr>
      <c:txPr>
        <a:bodyPr/>
        <a:lstStyle/>
        <a:p>
          <a:pPr>
            <a:defRPr b="0" sz="1100" spc="-1" strike="noStrike">
              <a:solidFill>
                <a:srgbClr val="000000"/>
              </a:solidFill>
              <a:latin typeface="Calibri"/>
            </a:defRPr>
          </a:pPr>
        </a:p>
      </c:txPr>
    </c:legend>
    <c:plotVisOnly val="1"/>
    <c:dispBlanksAs val="span"/>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300" spc="-1" strike="noStrike">
                <a:solidFill>
                  <a:srgbClr val="162447"/>
                </a:solidFill>
                <a:latin typeface="Arial"/>
              </a:defRPr>
            </a:pPr>
            <a:r>
              <a:rPr b="0" sz="1300" spc="-1" strike="noStrike">
                <a:solidFill>
                  <a:srgbClr val="162447"/>
                </a:solidFill>
                <a:latin typeface="Arial"/>
              </a:rPr>
              <a:t>Jetson Nano: generation throughput (tg128)</a:t>
            </a:r>
          </a:p>
        </c:rich>
      </c:tx>
      <c:overlay val="0"/>
      <c:spPr>
        <a:noFill/>
        <a:ln w="0">
          <a:noFill/>
        </a:ln>
      </c:spPr>
    </c:title>
    <c:autoTitleDeleted val="0"/>
    <c:plotArea>
      <c:lineChart>
        <c:grouping val="standard"/>
        <c:varyColors val="0"/>
        <c:ser>
          <c:idx val="0"/>
          <c:order val="0"/>
          <c:tx>
            <c:strRef>
              <c:f>label 0</c:f>
              <c:strCache>
                <c:ptCount val="1"/>
                <c:pt idx="0">
                  <c:v>7B model — saturates memory bus alone</c:v>
                </c:pt>
              </c:strCache>
            </c:strRef>
          </c:tx>
          <c:spPr>
            <a:solidFill>
              <a:srgbClr val="e8a33d"/>
            </a:solidFill>
            <a:ln w="38160">
              <a:solidFill>
                <a:srgbClr val="e8a33d"/>
              </a:solidFill>
              <a:round/>
            </a:ln>
          </c:spPr>
          <c:marker>
            <c:symbol val="circle"/>
            <c:size val="7"/>
            <c:spPr>
              <a:solidFill>
                <a:srgbClr val="e8a33d"/>
              </a:solidFill>
            </c:spPr>
          </c:marker>
          <c:dLbls>
            <c:txPr>
              <a:bodyPr wrap="square"/>
              <a:lstStyle/>
              <a:p>
                <a:pPr>
                  <a:defRPr b="0" sz="1200" spc="-1" strike="noStrike">
                    <a:solidFill>
                      <a:srgbClr val="000000"/>
                    </a:solidFill>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1</c:v>
                </c:pt>
                <c:pt idx="1">
                  <c:v>2</c:v>
                </c:pt>
                <c:pt idx="2">
                  <c:v>4</c:v>
                </c:pt>
              </c:strCache>
            </c:strRef>
          </c:cat>
          <c:val>
            <c:numRef>
              <c:f>0</c:f>
              <c:numCache>
                <c:formatCode>General</c:formatCode>
                <c:ptCount val="3"/>
                <c:pt idx="0">
                  <c:v>0.041</c:v>
                </c:pt>
                <c:pt idx="1">
                  <c:v>0.038</c:v>
                </c:pt>
                <c:pt idx="2">
                  <c:v>0.039</c:v>
                </c:pt>
              </c:numCache>
            </c:numRef>
          </c:val>
          <c:smooth val="0"/>
        </c:ser>
        <c:ser>
          <c:idx val="1"/>
          <c:order val="1"/>
          <c:tx>
            <c:strRef>
              <c:f>label 1</c:f>
              <c:strCache>
                <c:ptCount val="1"/>
                <c:pt idx="0">
                  <c:v>1.5B model — room to scale</c:v>
                </c:pt>
              </c:strCache>
            </c:strRef>
          </c:tx>
          <c:spPr>
            <a:solidFill>
              <a:srgbClr val="1f8a9e"/>
            </a:solidFill>
            <a:ln w="38160">
              <a:solidFill>
                <a:srgbClr val="1f8a9e"/>
              </a:solidFill>
              <a:round/>
            </a:ln>
          </c:spPr>
          <c:marker>
            <c:symbol val="circle"/>
            <c:size val="7"/>
            <c:spPr>
              <a:solidFill>
                <a:srgbClr val="1f8a9e"/>
              </a:solidFill>
            </c:spPr>
          </c:marker>
          <c:dLbls>
            <c:txPr>
              <a:bodyPr wrap="square"/>
              <a:lstStyle/>
              <a:p>
                <a:pPr>
                  <a:defRPr b="0" sz="1200" spc="-1" strike="noStrike">
                    <a:solidFill>
                      <a:srgbClr val="000000"/>
                    </a:solidFill>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1</c:v>
                </c:pt>
                <c:pt idx="1">
                  <c:v>2</c:v>
                </c:pt>
                <c:pt idx="2">
                  <c:v>4</c:v>
                </c:pt>
              </c:strCache>
            </c:strRef>
          </c:cat>
          <c:val>
            <c:numRef>
              <c:f>1</c:f>
              <c:numCache>
                <c:formatCode>General</c:formatCode>
                <c:ptCount val="3"/>
                <c:pt idx="0">
                  <c:v>0.94</c:v>
                </c:pt>
                <c:pt idx="1">
                  <c:v>1.86</c:v>
                </c:pt>
                <c:pt idx="2">
                  <c:v>3.03</c:v>
                </c:pt>
              </c:numCache>
            </c:numRef>
          </c:val>
          <c:smooth val="0"/>
        </c:ser>
        <c:hiLowLines>
          <c:spPr>
            <a:ln w="0">
              <a:noFill/>
            </a:ln>
          </c:spPr>
        </c:hiLowLines>
        <c:marker val="1"/>
        <c:axId val="99149450"/>
        <c:axId val="6670533"/>
      </c:lineChart>
      <c:catAx>
        <c:axId val="99149450"/>
        <c:scaling>
          <c:orientation val="minMax"/>
        </c:scaling>
        <c:delete val="0"/>
        <c:axPos val="b"/>
        <c:title>
          <c:tx>
            <c:rich>
              <a:bodyPr rot="0"/>
              <a:lstStyle/>
              <a:p>
                <a:pPr>
                  <a:defRPr b="0" sz="1000" spc="-1" strike="noStrike">
                    <a:solidFill>
                      <a:srgbClr val="000000"/>
                    </a:solidFill>
                    <a:latin typeface="Arial"/>
                  </a:defRPr>
                </a:pPr>
                <a:r>
                  <a:rPr b="0" sz="1000" spc="-1" strike="noStrike">
                    <a:solidFill>
                      <a:srgbClr val="000000"/>
                    </a:solidFill>
                    <a:latin typeface="Arial"/>
                  </a:rPr>
                  <a:t>Threads</a:t>
                </a:r>
              </a:p>
            </c:rich>
          </c:tx>
          <c:overlay val="0"/>
          <c:spPr>
            <a:noFill/>
            <a:ln w="0">
              <a:noFill/>
            </a:ln>
          </c:spPr>
        </c:title>
        <c:numFmt formatCode="General" sourceLinked="0"/>
        <c:majorTickMark val="out"/>
        <c:minorTickMark val="none"/>
        <c:tickLblPos val="low"/>
        <c:spPr>
          <a:ln w="12600">
            <a:solidFill>
              <a:srgbClr val="888888"/>
            </a:solidFill>
            <a:round/>
          </a:ln>
        </c:spPr>
        <c:txPr>
          <a:bodyPr/>
          <a:lstStyle/>
          <a:p>
            <a:pPr>
              <a:defRPr b="0" sz="1100" spc="-1" strike="noStrike">
                <a:solidFill>
                  <a:srgbClr val="5b6675"/>
                </a:solidFill>
                <a:latin typeface="Arial"/>
              </a:defRPr>
            </a:pPr>
          </a:p>
        </c:txPr>
        <c:crossAx val="6670533"/>
        <c:crosses val="autoZero"/>
        <c:auto val="1"/>
        <c:lblAlgn val="ctr"/>
        <c:lblOffset val="100"/>
        <c:noMultiLvlLbl val="0"/>
      </c:catAx>
      <c:valAx>
        <c:axId val="6670533"/>
        <c:scaling>
          <c:orientation val="minMax"/>
        </c:scaling>
        <c:delete val="0"/>
        <c:axPos val="l"/>
        <c:majorGridlines>
          <c:spPr>
            <a:ln w="12600">
              <a:solidFill>
                <a:srgbClr val="e3e8ec"/>
              </a:solidFill>
              <a:round/>
            </a:ln>
          </c:spPr>
        </c:majorGridlines>
        <c:title>
          <c:tx>
            <c:rich>
              <a:bodyPr rot="-5400000"/>
              <a:lstStyle/>
              <a:p>
                <a:pPr>
                  <a:defRPr b="0" sz="1000" spc="-1" strike="noStrike">
                    <a:solidFill>
                      <a:srgbClr val="000000"/>
                    </a:solidFill>
                    <a:latin typeface="Arial"/>
                  </a:defRPr>
                </a:pPr>
                <a:r>
                  <a:rPr b="0" sz="1000" spc="-1" strike="noStrike">
                    <a:solidFill>
                      <a:srgbClr val="000000"/>
                    </a:solidFill>
                    <a:latin typeface="Arial"/>
                  </a:rPr>
                  <a:t>tokens / second</a:t>
                </a:r>
              </a:p>
            </c:rich>
          </c:tx>
          <c:overlay val="0"/>
          <c:spPr>
            <a:noFill/>
            <a:ln w="0">
              <a:noFill/>
            </a:ln>
          </c:spPr>
        </c:title>
        <c:numFmt formatCode="General" sourceLinked="0"/>
        <c:majorTickMark val="out"/>
        <c:minorTickMark val="none"/>
        <c:tickLblPos val="nextTo"/>
        <c:spPr>
          <a:ln w="12600">
            <a:solidFill>
              <a:srgbClr val="888888"/>
            </a:solidFill>
            <a:round/>
          </a:ln>
        </c:spPr>
        <c:txPr>
          <a:bodyPr/>
          <a:lstStyle/>
          <a:p>
            <a:pPr>
              <a:defRPr b="0" sz="1100" spc="-1" strike="noStrike">
                <a:solidFill>
                  <a:srgbClr val="5b6675"/>
                </a:solidFill>
                <a:latin typeface="Arial"/>
              </a:defRPr>
            </a:pPr>
          </a:p>
        </c:txPr>
        <c:crossAx val="99149450"/>
        <c:crosses val="autoZero"/>
        <c:crossBetween val="between"/>
      </c:valAx>
      <c:spPr>
        <a:noFill/>
        <a:ln w="0">
          <a:noFill/>
        </a:ln>
      </c:spPr>
    </c:plotArea>
    <c:legend>
      <c:legendPos val="b"/>
      <c:overlay val="0"/>
      <c:spPr>
        <a:noFill/>
        <a:ln w="0">
          <a:noFill/>
        </a:ln>
      </c:spPr>
      <c:txPr>
        <a:bodyPr/>
        <a:lstStyle/>
        <a:p>
          <a:pPr>
            <a:defRPr b="0" sz="1100" spc="-1" strike="noStrike">
              <a:solidFill>
                <a:srgbClr val="000000"/>
              </a:solidFill>
              <a:latin typeface="Calibri"/>
            </a:defRPr>
          </a:pPr>
        </a:p>
      </c:txPr>
    </c:legend>
    <c:plotVisOnly val="1"/>
    <c:dispBlanksAs val="span"/>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300" spc="-1" strike="noStrike">
                <a:solidFill>
                  <a:srgbClr val="162447"/>
                </a:solidFill>
                <a:latin typeface="Arial"/>
              </a:defRPr>
            </a:pPr>
            <a:r>
              <a:rPr b="0" sz="1300" spc="-1" strike="noStrike">
                <a:solidFill>
                  <a:srgbClr val="162447"/>
                </a:solidFill>
                <a:latin typeface="Arial"/>
              </a:rPr>
              <a:t>Ryzen 5600H, 1 thread — generation (tg128) tok/s</a:t>
            </a:r>
          </a:p>
        </c:rich>
      </c:tx>
      <c:overlay val="0"/>
      <c:spPr>
        <a:noFill/>
        <a:ln w="0">
          <a:noFill/>
        </a:ln>
      </c:spPr>
    </c:title>
    <c:autoTitleDeleted val="0"/>
    <c:plotArea>
      <c:barChart>
        <c:barDir val="col"/>
        <c:grouping val="clustered"/>
        <c:varyColors val="0"/>
        <c:ser>
          <c:idx val="0"/>
          <c:order val="0"/>
          <c:tx>
            <c:strRef>
              <c:f>label 0</c:f>
              <c:strCache>
                <c:ptCount val="1"/>
                <c:pt idx="0">
                  <c:v>Standard attention (fa=0)</c:v>
                </c:pt>
              </c:strCache>
            </c:strRef>
          </c:tx>
          <c:spPr>
            <a:solidFill>
              <a:srgbClr val="1f8a9e"/>
            </a:solidFill>
            <a:ln w="0">
              <a:noFill/>
            </a:ln>
          </c:spPr>
          <c:invertIfNegative val="0"/>
          <c:dLbls>
            <c:numFmt formatCode="0.00" sourceLinked="0"/>
            <c:txPr>
              <a:bodyPr wrap="square"/>
              <a:lstStyle/>
              <a:p>
                <a:pPr>
                  <a:defRPr b="0" sz="1000" spc="-1" strike="noStrike">
                    <a:solidFill>
                      <a:srgbClr val="1b2430"/>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0</c:v>
                </c:pt>
                <c:pt idx="1">
                  <c:v>3,584</c:v>
                </c:pt>
                <c:pt idx="2">
                  <c:v>15,872</c:v>
                </c:pt>
              </c:strCache>
            </c:strRef>
          </c:cat>
          <c:val>
            <c:numRef>
              <c:f>0</c:f>
              <c:numCache>
                <c:formatCode>General</c:formatCode>
                <c:ptCount val="3"/>
                <c:pt idx="0">
                  <c:v>3.95</c:v>
                </c:pt>
                <c:pt idx="1">
                  <c:v>3.31</c:v>
                </c:pt>
                <c:pt idx="2">
                  <c:v>2.09</c:v>
                </c:pt>
              </c:numCache>
            </c:numRef>
          </c:val>
        </c:ser>
        <c:ser>
          <c:idx val="1"/>
          <c:order val="1"/>
          <c:tx>
            <c:strRef>
              <c:f>label 1</c:f>
              <c:strCache>
                <c:ptCount val="1"/>
                <c:pt idx="0">
                  <c:v>Flash Attention (fa=1)</c:v>
                </c:pt>
              </c:strCache>
            </c:strRef>
          </c:tx>
          <c:spPr>
            <a:solidFill>
              <a:srgbClr val="e8a33d"/>
            </a:solidFill>
            <a:ln w="0">
              <a:noFill/>
            </a:ln>
          </c:spPr>
          <c:invertIfNegative val="0"/>
          <c:dLbls>
            <c:numFmt formatCode="0.00" sourceLinked="0"/>
            <c:txPr>
              <a:bodyPr wrap="square"/>
              <a:lstStyle/>
              <a:p>
                <a:pPr>
                  <a:defRPr b="0" sz="1000" spc="-1" strike="noStrike">
                    <a:solidFill>
                      <a:srgbClr val="1b2430"/>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0</c:v>
                </c:pt>
                <c:pt idx="1">
                  <c:v>3,584</c:v>
                </c:pt>
                <c:pt idx="2">
                  <c:v>15,872</c:v>
                </c:pt>
              </c:strCache>
            </c:strRef>
          </c:cat>
          <c:val>
            <c:numRef>
              <c:f>1</c:f>
              <c:numCache>
                <c:formatCode>General</c:formatCode>
                <c:ptCount val="3"/>
                <c:pt idx="0">
                  <c:v>3.97</c:v>
                </c:pt>
                <c:pt idx="1">
                  <c:v>2.73</c:v>
                </c:pt>
                <c:pt idx="2">
                  <c:v>0.67</c:v>
                </c:pt>
              </c:numCache>
            </c:numRef>
          </c:val>
        </c:ser>
        <c:gapWidth val="35"/>
        <c:overlap val="0"/>
        <c:axId val="80783167"/>
        <c:axId val="49350850"/>
      </c:barChart>
      <c:catAx>
        <c:axId val="80783167"/>
        <c:scaling>
          <c:orientation val="minMax"/>
        </c:scaling>
        <c:delete val="0"/>
        <c:axPos val="b"/>
        <c:title>
          <c:tx>
            <c:rich>
              <a:bodyPr rot="0"/>
              <a:lstStyle/>
              <a:p>
                <a:pPr>
                  <a:defRPr b="0" sz="1000" spc="-1" strike="noStrike">
                    <a:solidFill>
                      <a:srgbClr val="000000"/>
                    </a:solidFill>
                    <a:latin typeface="Arial"/>
                  </a:defRPr>
                </a:pPr>
                <a:r>
                  <a:rPr b="0" sz="1000" spc="-1" strike="noStrike">
                    <a:solidFill>
                      <a:srgbClr val="000000"/>
                    </a:solidFill>
                    <a:latin typeface="Arial"/>
                  </a:rPr>
                  <a:t>Context depth (tokens)</a:t>
                </a:r>
              </a:p>
            </c:rich>
          </c:tx>
          <c:overlay val="0"/>
          <c:spPr>
            <a:noFill/>
            <a:ln w="0">
              <a:noFill/>
            </a:ln>
          </c:spPr>
        </c:title>
        <c:numFmt formatCode="General" sourceLinked="0"/>
        <c:majorTickMark val="out"/>
        <c:minorTickMark val="none"/>
        <c:tickLblPos val="low"/>
        <c:spPr>
          <a:ln w="12600">
            <a:solidFill>
              <a:srgbClr val="888888"/>
            </a:solidFill>
            <a:round/>
          </a:ln>
        </c:spPr>
        <c:txPr>
          <a:bodyPr/>
          <a:lstStyle/>
          <a:p>
            <a:pPr>
              <a:defRPr b="0" sz="1100" spc="-1" strike="noStrike">
                <a:solidFill>
                  <a:srgbClr val="5b6675"/>
                </a:solidFill>
                <a:latin typeface="Arial"/>
              </a:defRPr>
            </a:pPr>
          </a:p>
        </c:txPr>
        <c:crossAx val="49350850"/>
        <c:crosses val="autoZero"/>
        <c:auto val="1"/>
        <c:lblAlgn val="ctr"/>
        <c:lblOffset val="100"/>
        <c:noMultiLvlLbl val="0"/>
      </c:catAx>
      <c:valAx>
        <c:axId val="49350850"/>
        <c:scaling>
          <c:orientation val="minMax"/>
        </c:scaling>
        <c:delete val="0"/>
        <c:axPos val="l"/>
        <c:majorGridlines>
          <c:spPr>
            <a:ln w="12600">
              <a:solidFill>
                <a:srgbClr val="e3e8ec"/>
              </a:solidFill>
              <a:round/>
            </a:ln>
          </c:spPr>
        </c:majorGridlines>
        <c:title>
          <c:tx>
            <c:rich>
              <a:bodyPr rot="-5400000"/>
              <a:lstStyle/>
              <a:p>
                <a:pPr>
                  <a:defRPr b="0" sz="1000" spc="-1" strike="noStrike">
                    <a:solidFill>
                      <a:srgbClr val="000000"/>
                    </a:solidFill>
                    <a:latin typeface="Arial"/>
                  </a:defRPr>
                </a:pPr>
                <a:r>
                  <a:rPr b="0" sz="1000" spc="-1" strike="noStrike">
                    <a:solidFill>
                      <a:srgbClr val="000000"/>
                    </a:solidFill>
                    <a:latin typeface="Arial"/>
                  </a:rPr>
                  <a:t>tokens / second</a:t>
                </a:r>
              </a:p>
            </c:rich>
          </c:tx>
          <c:overlay val="0"/>
          <c:spPr>
            <a:noFill/>
            <a:ln w="0">
              <a:noFill/>
            </a:ln>
          </c:spPr>
        </c:title>
        <c:numFmt formatCode="General" sourceLinked="0"/>
        <c:majorTickMark val="out"/>
        <c:minorTickMark val="none"/>
        <c:tickLblPos val="nextTo"/>
        <c:spPr>
          <a:ln w="12600">
            <a:solidFill>
              <a:srgbClr val="888888"/>
            </a:solidFill>
            <a:round/>
          </a:ln>
        </c:spPr>
        <c:txPr>
          <a:bodyPr/>
          <a:lstStyle/>
          <a:p>
            <a:pPr>
              <a:defRPr b="0" sz="1100" spc="-1" strike="noStrike">
                <a:solidFill>
                  <a:srgbClr val="5b6675"/>
                </a:solidFill>
                <a:latin typeface="Arial"/>
              </a:defRPr>
            </a:pPr>
          </a:p>
        </c:txPr>
        <c:crossAx val="80783167"/>
        <c:crosses val="autoZero"/>
        <c:crossBetween val="between"/>
      </c:valAx>
      <c:spPr>
        <a:noFill/>
        <a:ln w="0">
          <a:noFill/>
        </a:ln>
      </c:spPr>
    </c:plotArea>
    <c:legend>
      <c:legendPos val="b"/>
      <c:overlay val="0"/>
      <c:spPr>
        <a:noFill/>
        <a:ln w="0">
          <a:noFill/>
        </a:ln>
      </c:spPr>
      <c:txPr>
        <a:bodyPr/>
        <a:lstStyle/>
        <a:p>
          <a:pPr>
            <a:defRPr b="0" sz="1100" spc="-1" strike="noStrike">
              <a:solidFill>
                <a:srgbClr val="000000"/>
              </a:solidFill>
              <a:latin typeface="Calibri"/>
            </a:defRPr>
          </a:pPr>
        </a:p>
      </c:txPr>
    </c:legend>
    <c:plotVisOnly val="1"/>
    <c:dispBlanksAs val="span"/>
  </c:chart>
  <c:spPr>
    <a:no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300" spc="-1" strike="noStrike">
                <a:solidFill>
                  <a:srgbClr val="162447"/>
                </a:solidFill>
                <a:latin typeface="Arial"/>
              </a:defRPr>
            </a:pPr>
            <a:r>
              <a:rPr b="0" sz="1300" spc="-1" strike="noStrike">
                <a:solidFill>
                  <a:srgbClr val="162447"/>
                </a:solidFill>
                <a:latin typeface="Arial"/>
              </a:rPr>
              <a:t>Ryzen 5600H, 1 thread — KV format vs throughput</a:t>
            </a:r>
          </a:p>
        </c:rich>
      </c:tx>
      <c:overlay val="0"/>
      <c:spPr>
        <a:noFill/>
        <a:ln w="0">
          <a:noFill/>
        </a:ln>
      </c:spPr>
    </c:title>
    <c:autoTitleDeleted val="0"/>
    <c:plotArea>
      <c:barChart>
        <c:barDir val="col"/>
        <c:grouping val="clustered"/>
        <c:varyColors val="0"/>
        <c:ser>
          <c:idx val="0"/>
          <c:order val="0"/>
          <c:tx>
            <c:strRef>
              <c:f>label 0</c:f>
              <c:strCache>
                <c:ptCount val="1"/>
                <c:pt idx="0">
                  <c:v>Generation (tg128) at 15,872-token context</c:v>
                </c:pt>
              </c:strCache>
            </c:strRef>
          </c:tx>
          <c:spPr>
            <a:solidFill>
              <a:srgbClr val="1f8a9e"/>
            </a:solidFill>
            <a:ln w="0">
              <a:noFill/>
            </a:ln>
          </c:spPr>
          <c:invertIfNegative val="0"/>
          <c:dLbls>
            <c:numFmt formatCode="0.00" sourceLinked="0"/>
            <c:txPr>
              <a:bodyPr wrap="square"/>
              <a:lstStyle/>
              <a:p>
                <a:pPr>
                  <a:defRPr b="0" sz="1100" spc="-1" strike="noStrike">
                    <a:solidFill>
                      <a:srgbClr val="1b2430"/>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f16/f16</c:v>
                </c:pt>
                <c:pt idx="1">
                  <c:v>q8_0/q8_0</c:v>
                </c:pt>
                <c:pt idx="2">
                  <c:v>q8_0/q4_0</c:v>
                </c:pt>
              </c:strCache>
            </c:strRef>
          </c:cat>
          <c:val>
            <c:numRef>
              <c:f>0</c:f>
              <c:numCache>
                <c:formatCode>General</c:formatCode>
                <c:ptCount val="3"/>
                <c:pt idx="0">
                  <c:v>2.09</c:v>
                </c:pt>
                <c:pt idx="1">
                  <c:v>0.93</c:v>
                </c:pt>
                <c:pt idx="2">
                  <c:v>0.95</c:v>
                </c:pt>
              </c:numCache>
            </c:numRef>
          </c:val>
        </c:ser>
        <c:gapWidth val="45"/>
        <c:overlap val="0"/>
        <c:axId val="52400300"/>
        <c:axId val="91794501"/>
      </c:barChart>
      <c:catAx>
        <c:axId val="52400300"/>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200" spc="-1" strike="noStrike">
                <a:solidFill>
                  <a:srgbClr val="5b6675"/>
                </a:solidFill>
                <a:latin typeface="Arial"/>
              </a:defRPr>
            </a:pPr>
          </a:p>
        </c:txPr>
        <c:crossAx val="91794501"/>
        <c:crosses val="autoZero"/>
        <c:auto val="1"/>
        <c:lblAlgn val="ctr"/>
        <c:lblOffset val="100"/>
        <c:noMultiLvlLbl val="0"/>
      </c:catAx>
      <c:valAx>
        <c:axId val="91794501"/>
        <c:scaling>
          <c:orientation val="minMax"/>
        </c:scaling>
        <c:delete val="0"/>
        <c:axPos val="l"/>
        <c:majorGridlines>
          <c:spPr>
            <a:ln w="12600">
              <a:solidFill>
                <a:srgbClr val="e3e8ec"/>
              </a:solidFill>
              <a:round/>
            </a:ln>
          </c:spPr>
        </c:majorGridlines>
        <c:title>
          <c:tx>
            <c:rich>
              <a:bodyPr rot="-5400000"/>
              <a:lstStyle/>
              <a:p>
                <a:pPr>
                  <a:defRPr b="0" sz="1000" spc="-1" strike="noStrike">
                    <a:solidFill>
                      <a:srgbClr val="000000"/>
                    </a:solidFill>
                    <a:latin typeface="Arial"/>
                  </a:defRPr>
                </a:pPr>
                <a:r>
                  <a:rPr b="0" sz="1000" spc="-1" strike="noStrike">
                    <a:solidFill>
                      <a:srgbClr val="000000"/>
                    </a:solidFill>
                    <a:latin typeface="Arial"/>
                  </a:rPr>
                  <a:t>tokens / second</a:t>
                </a:r>
              </a:p>
            </c:rich>
          </c:tx>
          <c:overlay val="0"/>
          <c:spPr>
            <a:noFill/>
            <a:ln w="0">
              <a:noFill/>
            </a:ln>
          </c:spPr>
        </c:title>
        <c:numFmt formatCode="General" sourceLinked="0"/>
        <c:majorTickMark val="out"/>
        <c:minorTickMark val="none"/>
        <c:tickLblPos val="nextTo"/>
        <c:spPr>
          <a:ln w="12600">
            <a:solidFill>
              <a:srgbClr val="888888"/>
            </a:solidFill>
            <a:round/>
          </a:ln>
        </c:spPr>
        <c:txPr>
          <a:bodyPr/>
          <a:lstStyle/>
          <a:p>
            <a:pPr>
              <a:defRPr b="0" sz="1100" spc="-1" strike="noStrike">
                <a:solidFill>
                  <a:srgbClr val="5b6675"/>
                </a:solidFill>
                <a:latin typeface="Arial"/>
              </a:defRPr>
            </a:pPr>
          </a:p>
        </c:txPr>
        <c:crossAx val="52400300"/>
        <c:crosses val="autoZero"/>
        <c:crossBetween val="between"/>
      </c:valAx>
      <c:spPr>
        <a:noFill/>
        <a:ln w="0">
          <a:noFill/>
        </a:ln>
      </c:spPr>
    </c:plotArea>
    <c:plotVisOnly val="1"/>
    <c:dispBlanksAs val="span"/>
  </c:chart>
  <c:spPr>
    <a:no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300" spc="-1" strike="noStrike">
                <a:solidFill>
                  <a:srgbClr val="162447"/>
                </a:solidFill>
                <a:latin typeface="Arial"/>
              </a:defRPr>
            </a:pPr>
            <a:r>
              <a:rPr b="0" sz="1300" spc="-1" strike="noStrike">
                <a:solidFill>
                  <a:srgbClr val="162447"/>
                </a:solidFill>
                <a:latin typeface="Arial"/>
              </a:rPr>
              <a:t>Pentium G5420: format impact at 1 thread</a:t>
            </a:r>
          </a:p>
        </c:rich>
      </c:tx>
      <c:overlay val="0"/>
      <c:spPr>
        <a:noFill/>
        <a:ln w="0">
          <a:noFill/>
        </a:ln>
      </c:spPr>
    </c:title>
    <c:autoTitleDeleted val="0"/>
    <c:plotArea>
      <c:barChart>
        <c:barDir val="col"/>
        <c:grouping val="clustered"/>
        <c:varyColors val="0"/>
        <c:ser>
          <c:idx val="0"/>
          <c:order val="0"/>
          <c:tx>
            <c:strRef>
              <c:f>label 0</c:f>
              <c:strCache>
                <c:ptCount val="1"/>
                <c:pt idx="0">
                  <c:v>Prompt processing (pp512), 1 thread</c:v>
                </c:pt>
              </c:strCache>
            </c:strRef>
          </c:tx>
          <c:spPr>
            <a:solidFill>
              <a:srgbClr val="1f8a9e"/>
            </a:solidFill>
            <a:ln w="0">
              <a:noFill/>
            </a:ln>
          </c:spPr>
          <c:invertIfNegative val="0"/>
          <c:dLbls>
            <c:numFmt formatCode="0.00" sourceLinked="0"/>
            <c:txPr>
              <a:bodyPr wrap="square"/>
              <a:lstStyle/>
              <a:p>
                <a:pPr>
                  <a:defRPr b="0" sz="1100" spc="-1" strike="noStrike">
                    <a:solidFill>
                      <a:srgbClr val="1b2430"/>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Q4_K_M (4-bit)</c:v>
                </c:pt>
                <c:pt idx="1">
                  <c:v>Q4_0 (4-bit)</c:v>
                </c:pt>
                <c:pt idx="2">
                  <c:v>Q3_K_M (3-bit)</c:v>
                </c:pt>
              </c:strCache>
            </c:strRef>
          </c:cat>
          <c:val>
            <c:numRef>
              <c:f>0</c:f>
              <c:numCache>
                <c:formatCode>General</c:formatCode>
                <c:ptCount val="3"/>
                <c:pt idx="0">
                  <c:v>0.49</c:v>
                </c:pt>
                <c:pt idx="1">
                  <c:v>1.78</c:v>
                </c:pt>
                <c:pt idx="2">
                  <c:v>0.42</c:v>
                </c:pt>
              </c:numCache>
            </c:numRef>
          </c:val>
        </c:ser>
        <c:gapWidth val="45"/>
        <c:overlap val="0"/>
        <c:axId val="76498555"/>
        <c:axId val="48761386"/>
      </c:barChart>
      <c:catAx>
        <c:axId val="76498555"/>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150" spc="-1" strike="noStrike">
                <a:solidFill>
                  <a:srgbClr val="5b6675"/>
                </a:solidFill>
                <a:latin typeface="Arial"/>
              </a:defRPr>
            </a:pPr>
          </a:p>
        </c:txPr>
        <c:crossAx val="48761386"/>
        <c:crosses val="autoZero"/>
        <c:auto val="1"/>
        <c:lblAlgn val="ctr"/>
        <c:lblOffset val="100"/>
        <c:noMultiLvlLbl val="0"/>
      </c:catAx>
      <c:valAx>
        <c:axId val="48761386"/>
        <c:scaling>
          <c:orientation val="minMax"/>
        </c:scaling>
        <c:delete val="0"/>
        <c:axPos val="l"/>
        <c:majorGridlines>
          <c:spPr>
            <a:ln w="12600">
              <a:solidFill>
                <a:srgbClr val="e3e8ec"/>
              </a:solidFill>
              <a:round/>
            </a:ln>
          </c:spPr>
        </c:majorGridlines>
        <c:title>
          <c:tx>
            <c:rich>
              <a:bodyPr rot="-5400000"/>
              <a:lstStyle/>
              <a:p>
                <a:pPr>
                  <a:defRPr b="0" sz="1000" spc="-1" strike="noStrike">
                    <a:solidFill>
                      <a:srgbClr val="000000"/>
                    </a:solidFill>
                    <a:latin typeface="Arial"/>
                  </a:defRPr>
                </a:pPr>
                <a:r>
                  <a:rPr b="0" sz="1000" spc="-1" strike="noStrike">
                    <a:solidFill>
                      <a:srgbClr val="000000"/>
                    </a:solidFill>
                    <a:latin typeface="Arial"/>
                  </a:rPr>
                  <a:t>tokens / second</a:t>
                </a:r>
              </a:p>
            </c:rich>
          </c:tx>
          <c:overlay val="0"/>
          <c:spPr>
            <a:noFill/>
            <a:ln w="0">
              <a:noFill/>
            </a:ln>
          </c:spPr>
        </c:title>
        <c:numFmt formatCode="General" sourceLinked="0"/>
        <c:majorTickMark val="out"/>
        <c:minorTickMark val="none"/>
        <c:tickLblPos val="nextTo"/>
        <c:spPr>
          <a:ln w="12600">
            <a:solidFill>
              <a:srgbClr val="888888"/>
            </a:solidFill>
            <a:round/>
          </a:ln>
        </c:spPr>
        <c:txPr>
          <a:bodyPr/>
          <a:lstStyle/>
          <a:p>
            <a:pPr>
              <a:defRPr b="0" sz="1100" spc="-1" strike="noStrike">
                <a:solidFill>
                  <a:srgbClr val="5b6675"/>
                </a:solidFill>
                <a:latin typeface="Arial"/>
              </a:defRPr>
            </a:pPr>
          </a:p>
        </c:txPr>
        <c:crossAx val="76498555"/>
        <c:crosses val="autoZero"/>
        <c:crossBetween val="between"/>
      </c:valAx>
      <c:spPr>
        <a:noFill/>
        <a:ln w="0">
          <a:noFill/>
        </a:ln>
      </c:spPr>
    </c:plotArea>
    <c:plotVisOnly val="1"/>
    <c:dispBlanksAs val="span"/>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GB" sz="1800" spc="-1" strike="noStrike">
                <a:solidFill>
                  <a:schemeClr val="dk1"/>
                </a:solidFill>
                <a:latin typeface="Calibri"/>
              </a:rPr>
              <a:t>Click to move the slide</a:t>
            </a:r>
            <a:endParaRPr b="0" lang="en-GB" sz="1800" spc="-1" strike="noStrike">
              <a:solidFill>
                <a:schemeClr val="dk1"/>
              </a:solidFill>
              <a:latin typeface="Calibri"/>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Click to edit the notes format</a:t>
            </a:r>
            <a:endParaRPr b="0" lang="en-GB" sz="2000" spc="-1" strike="noStrike">
              <a:solidFill>
                <a:srgbClr val="000000"/>
              </a:solidFill>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GB" sz="1400" spc="-1" strike="noStrike">
                <a:solidFill>
                  <a:srgbClr val="000000"/>
                </a:solidFill>
                <a:latin typeface="Times New Roman"/>
              </a:rPr>
              <a:t>&lt;header&gt;</a:t>
            </a:r>
            <a:endParaRPr b="0" lang="en-GB" sz="1400" spc="-1" strike="noStrike">
              <a:solidFill>
                <a:srgbClr val="000000"/>
              </a:solidFill>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GB" sz="1400" spc="-1" strike="noStrike">
                <a:solidFill>
                  <a:srgbClr val="000000"/>
                </a:solidFill>
                <a:latin typeface="Times New Roman"/>
              </a:defRPr>
            </a:lvl1pPr>
          </a:lstStyle>
          <a:p>
            <a:pPr indent="0" algn="r">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B471A162-2B8C-4AD3-9E1D-A367A5D98DE7}"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685800" y="1143000"/>
            <a:ext cx="5486040" cy="3085920"/>
          </a:xfrm>
          <a:prstGeom prst="rect">
            <a:avLst/>
          </a:prstGeom>
          <a:ln w="0">
            <a:noFill/>
          </a:ln>
        </p:spPr>
      </p:sp>
      <p:sp>
        <p:nvSpPr>
          <p:cNvPr id="3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Good afternoon. My thesis asks a simple, practical question: if you don't have a GPU — and most computers in the world don't — what settings actually get you the most tokens per second out of a large language model, and what does it cost you in quality? I studied this empirically using llama.cpp across three very different CPUs. Let's walk through what I found.</a:t>
            </a:r>
          </a:p>
        </p:txBody>
      </p:sp>
      <p:sp>
        <p:nvSpPr>
          <p:cNvPr id="319"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B9CBF0A-534F-41C4-8307-236971A4F288}"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685800" y="1143000"/>
            <a:ext cx="5486040" cy="3085920"/>
          </a:xfrm>
          <a:prstGeom prst="rect">
            <a:avLst/>
          </a:prstGeom>
          <a:ln w="0">
            <a:noFill/>
          </a:ln>
        </p:spPr>
      </p:sp>
      <p:sp>
        <p:nvSpPr>
          <p:cNvPr id="3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dominant narrative around LLM inference assumes a GPU — benchmark leaderboards, deployment guides, all of it. But think about the actual machines people own: aging office laptops, hand-me-down desktops, Raspberry Pis, embedded boards like the Jetson Nano. None of these have a usable GPU for inference, or the GPU is too small to hold even a modest model. For that hardware, CPU inference isn't an alternative — it's the only path. And the moment you try to actually run something like llama.cpp on one of these machines, you're hit with a wall of flags: thread count, batch size, context depth, KV-cache precision, Flash Attention on or off, and a dozen quantized model variants to choose from. Without a principled way to navigate that space, people are left with trial and error and forum folklore. That's the gap this thesis tries to close.</a:t>
            </a:r>
            <a:endParaRPr b="0" lang="en-GB" sz="2000" spc="-1" strike="noStrike">
              <a:solidFill>
                <a:srgbClr val="000000"/>
              </a:solidFill>
              <a:latin typeface="Arial"/>
            </a:endParaRPr>
          </a:p>
        </p:txBody>
      </p:sp>
      <p:sp>
        <p:nvSpPr>
          <p:cNvPr id="322"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5260162-4FC0-49B9-AAC2-66DB0FB63423}"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sldImg"/>
          </p:nvPr>
        </p:nvSpPr>
        <p:spPr>
          <a:xfrm>
            <a:off x="685800" y="1143000"/>
            <a:ext cx="5486040" cy="3085920"/>
          </a:xfrm>
          <a:prstGeom prst="rect">
            <a:avLst/>
          </a:prstGeom>
          <a:ln w="0">
            <a:noFill/>
          </a:ln>
        </p:spPr>
      </p:sp>
      <p:sp>
        <p:nvSpPr>
          <p:cNvPr id="3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 chose llama.cpp not because it's the fastest CPU inference engine in every configuration, but because it's the most parametrically exposed one. Three reasons. First, its GGML backend ships hand-written SIMD kernels for x86 and ARM, so the exact same benchmark script runs unmodified on a modern AMD laptop chip, a decade-old Intel Pentium, and an ARM Cortex-A57 board. Second, one tool — llama-bench — exposes threads, context depth, batch size, KV-cache quantization, and Flash Attention as simple command-line flags and emits clean structured output. No other CPU inference stack gives you this many independent knobs through one stable interface. Third, the GGUF ecosystem means pre-quantized weights exist for essentially every model I'd want, from two bits to eight, in both legacy and newer K-quant formats — which let me treat quantization format itself as an experimental variable, not just a fixed implementation detail.</a:t>
            </a:r>
            <a:endParaRPr b="0" lang="en-GB" sz="2000" spc="-1" strike="noStrike">
              <a:solidFill>
                <a:srgbClr val="000000"/>
              </a:solidFill>
              <a:latin typeface="Arial"/>
            </a:endParaRPr>
          </a:p>
        </p:txBody>
      </p:sp>
      <p:sp>
        <p:nvSpPr>
          <p:cNvPr id="325"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D6F6948-ED98-4205-9B1D-DE1BF5BABBE7}"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685800" y="1143000"/>
            <a:ext cx="5486040" cy="3085920"/>
          </a:xfrm>
          <a:prstGeom prst="rect">
            <a:avLst/>
          </a:prstGeom>
          <a:ln w="0">
            <a:noFill/>
          </a:ln>
        </p:spPr>
      </p:sp>
      <p:sp>
        <p:nvSpPr>
          <p:cNvPr id="3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Two model families matter here. Dense models — like Qwen or Llama — activate every parameter on every single token. Mixture-of-Experts models replace that with a bank of experts and a router that only activates a handful of them per token — so a 14-billion-parameter model might only touch 2.7 billion parameters to generate one word. On a GPU, where the whole model sits in fast VRAM, that distinction matters less. On a CPU at batch size one — the realistic single-user case — generation is memory-bandwidth-bound, as I'll show you directly. Under that regime, a dense model has to stream its entire weight set from RAM for every token, while an MoE model only streams the experts it actually selected. That's the theoretical hook for this whole thesis. My contributions are: an empirical characterization of hardware effects across three real devices, a roofline-style model that explains them with a handful of calibration constants, an extension of that model to the MoE case, and releasing the data, harness, and web calculator publicly on GitHub.</a:t>
            </a:r>
          </a:p>
        </p:txBody>
      </p:sp>
      <p:sp>
        <p:nvSpPr>
          <p:cNvPr id="328"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3894461-1688-473E-AB7E-FFD7361478B4}"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Img"/>
          </p:nvPr>
        </p:nvSpPr>
        <p:spPr>
          <a:xfrm>
            <a:off x="685800" y="1143000"/>
            <a:ext cx="5486040" cy="3085920"/>
          </a:xfrm>
          <a:prstGeom prst="rect">
            <a:avLst/>
          </a:prstGeom>
          <a:ln w="0">
            <a:noFill/>
          </a:ln>
        </p:spPr>
      </p:sp>
      <p:sp>
        <p:nvSpPr>
          <p:cNvPr id="3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I benchmarked three machines, chosen opportunistically from what I had access to, spanning roughly a seventy-times range in raw generation speed. A mid-range AMD Ryzen 5 5600H laptop with dual-channel DDR4 — compute-rich. A low-end Intel Pentium Gold desktop with a single memory channel and just 4 gigabytes of RAM — bandwidth-starved. And an NVIDIA Jetson Nano, an embedded ARM board with shared LPDDR4 memory. I also attempted a fourth device, a Raspberry Pi 3B, but it's excluded from every result I'll show you: its 1 gigabyte of RAM isn't enough to hold even our most aggressively quantized 7B model alongside the OS and runtime, so it failed with out-of-memory errors before writing a single row of data — a hardware limitation, not a measurement one. Everything else ran through a resumable harness I built around llama-bench: three to five repetitions per configuration, coefficient of variation under 5% in every case I report, and a row-count-based checkpoint system, because these were multi-hour runs on hardware that wasn't dedicated to benchmarking — a laptop that gets closed, a family desktop that gets used for other things. My first, naive design didn't handle interruption well; it re-ran the same measurements over and over. The second design fixed that, and it's the one behind every number in this talk.</a:t>
            </a:r>
          </a:p>
        </p:txBody>
      </p:sp>
      <p:sp>
        <p:nvSpPr>
          <p:cNvPr id="331"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B2346AB-8F70-4377-A009-027A2F9020FB}"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685800" y="1143000"/>
            <a:ext cx="5486040" cy="3085920"/>
          </a:xfrm>
          <a:prstGeom prst="rect">
            <a:avLst/>
          </a:prstGeom>
          <a:ln w="0">
            <a:noFill/>
          </a:ln>
        </p:spPr>
      </p:sp>
      <p:sp>
        <p:nvSpPr>
          <p:cNvPr id="33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Here's the first finding, and it surprised me the most. You'd expect adding CPU threads to always help, or at worst plateau. On several machines, it doesn't — performance rises, peaks, and then gets worse. This is retrograde scaling, and classical Amdahl's Law can't produce that hump — it only predicts rise-then-flatten. Gunther's Universal Scalability Law can, because it adds a term for threads fighting over shared memory and cache lines. On the Ryzen laptop, prompt processing is compute-bound: it saturates right around 6 threads — exactly the chip's physical core count — even though the chip advertises 12 logical threads via hyperthreading. Going from 6 to 8 threads bought almost nothing. Generation tells a different story: it peaks at 4 threads, then drops at 6, before a small partial recovery. Generating each token means re-reading the entire model from RAM, so adding threads to a memory-bound task just adds competitors fighting over the same pipe. On the cheap Pentium desktop this is brutal: generation falls in a straight line as you add threads, 32% slower at 8 threads than at 1. There, single-threaded is simply optimal.</a:t>
            </a:r>
            <a:endParaRPr b="0" lang="en-GB" sz="2000" spc="-1" strike="noStrike">
              <a:solidFill>
                <a:srgbClr val="000000"/>
              </a:solidFill>
              <a:latin typeface="Arial"/>
            </a:endParaRPr>
          </a:p>
        </p:txBody>
      </p:sp>
      <p:sp>
        <p:nvSpPr>
          <p:cNvPr id="334"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98A0B41-D2A0-422E-ADBB-8EF0485DBF3F}"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685800" y="1143000"/>
            <a:ext cx="5486040" cy="3085920"/>
          </a:xfrm>
          <a:prstGeom prst="rect">
            <a:avLst/>
          </a:prstGeom>
          <a:ln w="0">
            <a:noFill/>
          </a:ln>
        </p:spPr>
      </p:sp>
      <p:sp>
        <p:nvSpPr>
          <p:cNvPr id="3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clearest illustration of this comes from the Jetson Nano, where I ran the same sweep on two very differently sized models. Prompt processing speeds up with more threads for both models — that makes sense, it's compute-bound work you can split across cores regardless of model size. Generation is where they diverge completely. The small, 1.5-billion-parameter model's generation speed scales up almost linearly with threads — three times faster going from 1 to 4 threads. The large, 7-billion-parameter model barely moves at all, from 0.041 to 0.039 tokens per second — adding threads does essentially nothing. The mechanism is the same memory-bandwidth story, just made vivid: even a single thread running the 7B model already saturates the Jetson's roughly 25 gigabytes per second of memory bandwidth. There's nothing left for more threads to use. This is the single clearest piece of evidence in my whole dataset that for generation speed, what matters is how many bytes of the model have to move through memory per word — not how many threads you throw at it. And that idea is exactly what motivates the Mixture-of-Experts argument later in this talk.</a:t>
            </a:r>
            <a:endParaRPr b="0" lang="en-GB" sz="2000" spc="-1" strike="noStrike">
              <a:solidFill>
                <a:srgbClr val="000000"/>
              </a:solidFill>
              <a:latin typeface="Arial"/>
            </a:endParaRPr>
          </a:p>
        </p:txBody>
      </p:sp>
      <p:sp>
        <p:nvSpPr>
          <p:cNvPr id="337"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7C2A25E-8065-4A04-A532-9EA8CBB3BCAA}"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685800" y="1143000"/>
            <a:ext cx="5486040" cy="3085920"/>
          </a:xfrm>
          <a:prstGeom prst="rect">
            <a:avLst/>
          </a:prstGeom>
          <a:ln w="0">
            <a:noFill/>
          </a:ln>
        </p:spPr>
      </p:sp>
      <p:sp>
        <p:nvSpPr>
          <p:cNvPr id="33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Flash Attention is a well-known GPU optimization that restructures attention math to avoid slow trips to GPU memory. It was never designed for CPUs, which manage their cache hierarchy completely differently. My data shows it doesn't just fail to help on CPU — it actively hurts, and badly at long context. On the Ryzen laptop, at a short prompt, Flash Attention makes basically no difference. At a medium prompt of about 3,500 tokens, generation is already 18% slower. At a long prompt of about 15,800 tokens — roughly a long article — turning it on drops generation from 2.09 down to 0.67 tokens per second: about a third of normal speed. My explanation: Flash Attention's benefit comes from avoiding slow trips to memory by doing more work per trip. On this CPU, the relevant data already fits in the large L3 cache, so there was little slow-memory traffic to save — and the restructuring itself carries a real computational cost. Practical takeaway: with long prompts or long conversations on CPU, turn Flash Attention off. Many front-ends enable it by default, which is actively counterproductive here.</a:t>
            </a:r>
            <a:endParaRPr b="0" lang="en-GB" sz="2000" spc="-1" strike="noStrike">
              <a:solidFill>
                <a:srgbClr val="000000"/>
              </a:solidFill>
              <a:latin typeface="Arial"/>
            </a:endParaRPr>
          </a:p>
        </p:txBody>
      </p:sp>
      <p:sp>
        <p:nvSpPr>
          <p:cNvPr id="340"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B3F2F42-C7B8-4A54-9557-38B28553D90C}"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685800" y="1143000"/>
            <a:ext cx="5486040" cy="3085920"/>
          </a:xfrm>
          <a:prstGeom prst="rect">
            <a:avLst/>
          </a:prstGeom>
          <a:ln w="0">
            <a:noFill/>
          </a:ln>
        </p:spPr>
      </p:sp>
      <p:sp>
        <p:nvSpPr>
          <p:cNvPr id="34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Next, the KV cache — the model's running memory of the conversation so far. It grows as conversation length grows, and quantizing it is a common trick to save RAM. The intuition is that a smaller cache should also be faster. My data says otherwise, at least here. On the Ryzen laptop at 1 thread, every quantized-KV configuration I tested was slower than the unquantized baseline, for both prompt processing and generation — and the gap widens, not narrows, as the conversation grows. At medium context length, one format was 4 times slower for prompt processing. Why would a smaller cache ever be slower? Because reading a quantized value isn't free — the CPU must do extra arithmetic to convert it back to a usable number, and on a single thread with compute cycles to spare, that arithmetic costs more than the smaller footprint saves. This configuration is compute-bound, not memory-bound, so a trick built to save memory traffic is pure overhead. I'd predict the opposite result on a more memory-starved device, but I haven't tested that combination yet.</a:t>
            </a:r>
            <a:endParaRPr b="0" lang="en-GB" sz="2000" spc="-1" strike="noStrike">
              <a:solidFill>
                <a:srgbClr val="000000"/>
              </a:solidFill>
              <a:latin typeface="Arial"/>
            </a:endParaRPr>
          </a:p>
        </p:txBody>
      </p:sp>
      <p:sp>
        <p:nvSpPr>
          <p:cNvPr id="343"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00C1459-DE65-49DE-AAC9-AFECBCD9BADA}"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685800" y="1143000"/>
            <a:ext cx="5486040" cy="3085920"/>
          </a:xfrm>
          <a:prstGeom prst="rect">
            <a:avLst/>
          </a:prstGeom>
          <a:ln w="0">
            <a:noFill/>
          </a:ln>
        </p:spPr>
      </p:sp>
      <p:sp>
        <p:nvSpPr>
          <p:cNvPr id="34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It's tempting to think about quantization purely as bits per weight — fewer bits, smaller, faster. My data says that's not the whole story. On the Pentium desktop, I benchmarked three quantizations of the same model at 1 thread. Q4_K_M processed the prompt at 0.49 tokens per second. Q4_0 — an older, simpler format at the exact same 4-bit width — hit 1.78 tokens per second. That's 3.6 times faster, same bit-width. And Q3_K_M, which uses fewer bits than either, was actually the slowest of the three, at 0.42. The ordering doesn't follow bit-width at all. My best explanation: Q4_0 uses a simple, evenly-spaced layout that maps neatly onto a fast CPU instruction sequence. The newer K-quant formats pack bits more cleverly to squeeze out better quality per bit, but that requires a more complicated unpacking step every time a weight is read — and on a CPU that lacks certain modern vector instructions, that unpacking cost can outweigh the benefit of the smaller file. So the practical rule: on older hardware without AVX-512, don't assume the newer quantization format is the faster one.</a:t>
            </a:r>
            <a:endParaRPr b="0" lang="en-GB" sz="2000" spc="-1" strike="noStrike">
              <a:solidFill>
                <a:srgbClr val="000000"/>
              </a:solidFill>
              <a:latin typeface="Arial"/>
            </a:endParaRPr>
          </a:p>
        </p:txBody>
      </p:sp>
      <p:sp>
        <p:nvSpPr>
          <p:cNvPr id="346"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9BF37CC-DCF3-4471-900A-D5C019B50967}"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685800" y="1143000"/>
            <a:ext cx="5486040" cy="3085920"/>
          </a:xfrm>
          <a:prstGeom prst="rect">
            <a:avLst/>
          </a:prstGeom>
          <a:ln w="0">
            <a:noFill/>
          </a:ln>
        </p:spPr>
      </p:sp>
      <p:sp>
        <p:nvSpPr>
          <p:cNvPr id="34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brings me to the central hypothesis of the thesis, and I want to be very upfront: it is not yet confirmed on my own hardware. I staged three Mixture-of-Experts models in the benchmarking harness, but none of the phases that would have exercised them finished before time ran out on any device. So the bytes-per-token argument — that MoE models should be disproportionately advantaged on bandwidth-starved CPUs because they stream a fraction of their weights per token — is a hypothesis derived from the dense-model bandwidth mechanics I did measure, not a directly confirmed result. I did find one external, verifiable data point: KTransformers published a CPU-only benchmark of a 671-billion-parameter MoE model achieving 4.51 tokens per second on a 64-core server. That's directionally consistent with my hypothesis, but it's a single data point on a model roughly 80 times larger than anything I staged, on server hardware nothing like my fleet. Directly benchmarking my own MoE models against dense equivalents is the single most important next experiment for this line of work.</a:t>
            </a:r>
            <a:endParaRPr b="0" lang="en-GB" sz="2000" spc="-1" strike="noStrike">
              <a:solidFill>
                <a:srgbClr val="000000"/>
              </a:solidFill>
              <a:latin typeface="Arial"/>
            </a:endParaRPr>
          </a:p>
        </p:txBody>
      </p:sp>
      <p:sp>
        <p:nvSpPr>
          <p:cNvPr id="349"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45EB941-B2FF-4E55-A0BF-222860FF2C8E}"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685800" y="1143000"/>
            <a:ext cx="5486040" cy="3085920"/>
          </a:xfrm>
          <a:prstGeom prst="rect">
            <a:avLst/>
          </a:prstGeom>
          <a:ln w="0">
            <a:noFill/>
          </a:ln>
        </p:spPr>
      </p:sp>
      <p:sp>
        <p:nvSpPr>
          <p:cNvPr id="35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So how do these effects fit together? I formalized them into one model. Prompt processing is USL-scaled single-thread throughput — the same curve as the thread-scaling slide. Generation is a roofline: the lesser of that compute curve or a hard bandwidth ceiling, because whichever constraint binds first is what you observe. For a dense model, bytes streamed per token is essentially the whole quantized model size; for MoE, it's just the selected experts plus shared layers. That's the formal version of the earlier argument: for two models of similar quality, the MoE model's throughput ceiling should be higher by roughly the ratio of total to active parameters, whenever generation is bandwidth-bound — which my data shows is the common case on constrained CPUs. A concrete calibration: for the Ryzen running a 7-billion-parameter model, single-thread baselines are 7.81 and 3.95 tokens per second. I fit the USL contention coefficients from the thread sweep and back out an effective bandwidth of about 41 gigabytes per second — around 80% of theoretical peak, consistent with sustained bandwidth. At 6 threads, the model predicts 26.2 tokens per second for prefill and 8.12 for generation. Measured values were 25.15 and 6.90 — within 4% and 18%, from just five calibration points.</a:t>
            </a:r>
            <a:endParaRPr b="0" lang="en-GB" sz="2000" spc="-1" strike="noStrike">
              <a:solidFill>
                <a:srgbClr val="000000"/>
              </a:solidFill>
              <a:latin typeface="Arial"/>
            </a:endParaRPr>
          </a:p>
        </p:txBody>
      </p:sp>
      <p:sp>
        <p:nvSpPr>
          <p:cNvPr id="352"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C6F222D-DCC7-4FE1-BFE9-AD9F366F068A}"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685800" y="1143000"/>
            <a:ext cx="5486040" cy="3085920"/>
          </a:xfrm>
          <a:prstGeom prst="rect">
            <a:avLst/>
          </a:prstGeom>
          <a:ln w="0">
            <a:noFill/>
          </a:ln>
        </p:spPr>
      </p:sp>
      <p:sp>
        <p:nvSpPr>
          <p:cNvPr id="35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So, concretely, what should you do running llama.cpp on CPU? Seven recommendations. One: turn Flash Attention off at long context — many front-ends enable it by default. Two: don't quantize the KV cache on compute-rich CPUs — use full-precision f16 unless you're on genuinely bandwidth-starved hardware. Three: set thread count to the physical core count, not the logical count — hyperthreads buy nothing for prefill and hurt generation. Four: on bandwidth-starved chips like the Pentium, single-threaded generation may be optimal — check before assuming more threads help. Five: on legacy CPUs without AVX-512, prefer simpler formats like Q4_0 for speed, K-quants only if quality matters more. Six — and I'll flag this as provisional — prefer MoE models on bandwidth-starved hardware, since the roofline model predicts they'll be disproportionately advantaged there; that one is a hypothesis to test on your own hardware, not a settled recommendation. And seven: match model size to the device's memory budget — a model that doesn't fit in RAM alongside its KV cache will thrash or fail outright, exactly what happened with the excluded Raspberry Pi 3B.</a:t>
            </a:r>
          </a:p>
        </p:txBody>
      </p:sp>
      <p:sp>
        <p:nvSpPr>
          <p:cNvPr id="355"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B044765-105B-4688-9BC5-9203650114A6}"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685800" y="1143000"/>
            <a:ext cx="5486040" cy="3085920"/>
          </a:xfrm>
          <a:prstGeom prst="rect">
            <a:avLst/>
          </a:prstGeom>
          <a:ln w="0">
            <a:noFill/>
          </a:ln>
        </p:spPr>
      </p:sp>
      <p:sp>
        <p:nvSpPr>
          <p:cNvPr id="35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 want to be honest about scope, because that matters as much as the results. Three limitations. First, the model is calibrated, not derived — I fit constants separately for three devices from a handful of local measurements, without regressing them against raw hardware specs in a way that predicts a fourth device without measuring it first. This thesis delivers a cheaper way to calibrate — roughly six measurements instead of a full grid search — not a way to skip calibration entirely. Second, the MoE prediction, the most consequential claim here, was never confirmed on my own hardware. Third, every finding comes from one inference engine, llama.cpp — I can't tell you whether the quantization-format anomaly reflects the hardware and the underlying math, or an artifact of how this engine dispatches its kernels. None of this discounts the findings — every effect I've shown is a real, reproducible measurement — but it bounds what I can honestly claim.</a:t>
            </a:r>
            <a:endParaRPr b="0" lang="en-GB" sz="2000" spc="-1" strike="noStrike">
              <a:solidFill>
                <a:srgbClr val="000000"/>
              </a:solidFill>
              <a:latin typeface="Arial"/>
            </a:endParaRPr>
          </a:p>
        </p:txBody>
      </p:sp>
      <p:sp>
        <p:nvSpPr>
          <p:cNvPr id="358"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990BA2E-A48D-475C-8F44-90075B91482B}"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Img"/>
          </p:nvPr>
        </p:nvSpPr>
        <p:spPr>
          <a:xfrm>
            <a:off x="685800" y="1143000"/>
            <a:ext cx="5486040" cy="3085920"/>
          </a:xfrm>
          <a:prstGeom prst="rect">
            <a:avLst/>
          </a:prstGeom>
          <a:ln w="0">
            <a:noFill/>
          </a:ln>
        </p:spPr>
      </p:sp>
      <p:sp>
        <p:nvSpPr>
          <p:cNvPr id="36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Near-term, five things: expand the hardware fleet — I especially want a Raspberry Pi 4 or 5, an AVX-512 chip, and an Apple Silicon Mac. Actually run the MoE benchmarks to completion. Replace literature-based perplexity numbers with my own local measurements. Investigate CPU pinning and NUMA effects. And test Flash Attention and KV-cache quantization specifically on the bandwidth-starved machines, to check whether the predicted sign-flip actually happens there. Longer-term, the most ambitious direction is turning per-device calibration into a true zero-shot predictor — one that takes a CPU's raw specs and outputs its constants without ever touching the hardware — which would need on the order of twenty to thirty calibrated devices, ideally contributed by a community rather than one person's personal fleet.</a:t>
            </a:r>
          </a:p>
        </p:txBody>
      </p:sp>
      <p:sp>
        <p:nvSpPr>
          <p:cNvPr id="361"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E3728A9-304B-4C6F-B4D4-DC05602E14BB}"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685800" y="1143000"/>
            <a:ext cx="5486040" cy="3085920"/>
          </a:xfrm>
          <a:prstGeom prst="rect">
            <a:avLst/>
          </a:prstGeom>
          <a:ln w="0">
            <a:noFill/>
          </a:ln>
        </p:spPr>
      </p:sp>
      <p:sp>
        <p:nvSpPr>
          <p:cNvPr id="36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To close: three consumer and embedded CPUs were enough to recover four concrete, reproducible effects governing CPU-only LLM inference — compute-bound prefill that follows a scalability law, memory-bound generation that can get slower as you add threads, quantization choices whose speed impact flips depending on the device, and a Flash Attention regression at long context. I formalized these into a roofline model that predicts measured Ryzen throughput within 4 to 18%, and converted it into seven concrete, device-aware recommendations. The model's most interesting prediction — that MoE models should be structurally favored on exactly this kind of hardware — remains the clearest next step. Thank you — I'm happy to take questions.</a:t>
            </a:r>
          </a:p>
        </p:txBody>
      </p:sp>
      <p:sp>
        <p:nvSpPr>
          <p:cNvPr id="364"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4D34211-B25C-469D-B2AE-4CA6F6F0DF1B}"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GB" sz="1800" spc="-1" strike="noStrike">
              <a:solidFill>
                <a:schemeClr val="dk1"/>
              </a:solidFill>
              <a:latin typeface="Calibri"/>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GB" sz="1800" spc="-1" strike="noStrike">
              <a:solidFill>
                <a:schemeClr val="dk1"/>
              </a:solidFill>
              <a:latin typeface="Calibri"/>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GB" sz="1800" spc="-1" strike="noStrike">
              <a:solidFill>
                <a:schemeClr val="dk1"/>
              </a:solidFill>
              <a:latin typeface="Calibri"/>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GB" sz="1800" spc="-1" strike="noStrike">
              <a:solidFill>
                <a:schemeClr val="dk1"/>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GB"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GB" sz="1800" spc="-1" strike="noStrike">
              <a:solidFill>
                <a:schemeClr val="dk1"/>
              </a:solidFill>
              <a:latin typeface="Calibri"/>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GB" sz="1800" spc="-1" strike="noStrike">
              <a:solidFill>
                <a:schemeClr val="dk1"/>
              </a:solidFill>
              <a:latin typeface="Calibri"/>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GB" sz="1800" spc="-1" strike="noStrike">
              <a:solidFill>
                <a:schemeClr val="dk1"/>
              </a:solidFill>
              <a:latin typeface="Calibri"/>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GB" sz="1800" spc="-1" strike="noStrike">
              <a:solidFill>
                <a:schemeClr val="dk1"/>
              </a:solidFill>
              <a:latin typeface="Calibri"/>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GB" sz="1800" spc="-1" strike="noStrike">
              <a:solidFill>
                <a:schemeClr val="dk1"/>
              </a:solidFill>
              <a:latin typeface="Calibri"/>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GB" sz="1800" spc="-1" strike="noStrike">
              <a:solidFill>
                <a:schemeClr val="dk1"/>
              </a:solidFill>
              <a:latin typeface="Calibri"/>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GB" sz="3200" spc="-1" strike="noStrike">
              <a:solidFill>
                <a:schemeClr val="dk1"/>
              </a:solidFill>
              <a:latin typeface="Calibri"/>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GB" sz="1800" spc="-1" strike="noStrike">
                <a:solidFill>
                  <a:schemeClr val="dk1"/>
                </a:solidFill>
                <a:latin typeface="Calibri"/>
              </a:rPr>
              <a:t>Click to edit the title text format</a:t>
            </a:r>
            <a:endParaRPr b="0" lang="en-GB" sz="1800" spc="-1" strike="noStrike">
              <a:solidFill>
                <a:schemeClr val="dk1"/>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chemeClr val="dk1"/>
                </a:solidFill>
                <a:latin typeface="Calibri"/>
              </a:rPr>
              <a:t>Click to edit the outline text format</a:t>
            </a:r>
            <a:endParaRPr b="0" lang="en-GB"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GB" sz="2400" spc="-1" strike="noStrike">
                <a:solidFill>
                  <a:schemeClr val="dk1"/>
                </a:solidFill>
                <a:latin typeface="Calibri"/>
              </a:rPr>
              <a:t>Second Outline Level</a:t>
            </a:r>
            <a:endParaRPr b="0" lang="en-GB"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GB" sz="2000" spc="-1" strike="noStrike">
                <a:solidFill>
                  <a:schemeClr val="dk1"/>
                </a:solidFill>
                <a:latin typeface="Calibri"/>
              </a:rPr>
              <a:t>Third Outline Level</a:t>
            </a:r>
            <a:endParaRPr b="0" lang="en-GB"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GB" sz="2000" spc="-1" strike="noStrike">
                <a:solidFill>
                  <a:schemeClr val="dk1"/>
                </a:solidFill>
                <a:latin typeface="Calibri"/>
              </a:rPr>
              <a:t>Fourth Outline Level</a:t>
            </a:r>
            <a:endParaRPr b="0" lang="en-GB"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GB" sz="2000" spc="-1" strike="noStrike">
                <a:solidFill>
                  <a:schemeClr val="dk1"/>
                </a:solidFill>
                <a:latin typeface="Calibri"/>
              </a:rPr>
              <a:t>Fifth Outline Level</a:t>
            </a:r>
            <a:endParaRPr b="0" lang="en-GB"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GB" sz="2000" spc="-1" strike="noStrike">
                <a:solidFill>
                  <a:schemeClr val="dk1"/>
                </a:solidFill>
                <a:latin typeface="Calibri"/>
              </a:rPr>
              <a:t>Sixth Outline Level</a:t>
            </a:r>
            <a:endParaRPr b="0" lang="en-GB"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GB" sz="2000" spc="-1" strike="noStrike">
                <a:solidFill>
                  <a:schemeClr val="dk1"/>
                </a:solidFill>
                <a:latin typeface="Calibri"/>
              </a:rPr>
              <a:t>Seventh Outline Level</a:t>
            </a:r>
            <a:endParaRPr b="0" lang="en-GB"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447"/>
        </a:solidFill>
      </p:bgPr>
    </p:bg>
    <p:spTree>
      <p:nvGrpSpPr>
        <p:cNvPr id="1" name=""/>
        <p:cNvGrpSpPr/>
        <p:nvPr/>
      </p:nvGrpSpPr>
      <p:grpSpPr>
        <a:xfrm>
          <a:off x="0" y="0"/>
          <a:ext cx="0" cy="0"/>
          <a:chOff x="0" y="0"/>
          <a:chExt cx="0" cy="0"/>
        </a:xfrm>
      </p:grpSpPr>
      <p:sp>
        <p:nvSpPr>
          <p:cNvPr id="44" name="Shape 0"/>
          <p:cNvSpPr/>
          <p:nvPr/>
        </p:nvSpPr>
        <p:spPr>
          <a:xfrm>
            <a:off x="8961120" y="5120640"/>
            <a:ext cx="82080" cy="82080"/>
          </a:xfrm>
          <a:prstGeom prst="ellipse">
            <a:avLst/>
          </a:prstGeom>
          <a:solidFill>
            <a:srgbClr val="1f8a9e"/>
          </a:solidFill>
          <a:ln w="0">
            <a:noFill/>
          </a:ln>
        </p:spPr>
        <p:style>
          <a:lnRef idx="0"/>
          <a:fillRef idx="0"/>
          <a:effectRef idx="0"/>
          <a:fontRef idx="minor"/>
        </p:style>
        <p:txBody>
          <a:bodyPr lIns="90000" rIns="90000" tIns="13320" bIns="13320" anchor="t">
            <a:noAutofit/>
          </a:bodyPr>
          <a:p>
            <a:endParaRPr b="0" lang="en-GB" sz="1800" spc="-1" strike="noStrike">
              <a:solidFill>
                <a:srgbClr val="000000"/>
              </a:solidFill>
              <a:latin typeface="Arial"/>
            </a:endParaRPr>
          </a:p>
        </p:txBody>
      </p:sp>
      <p:sp>
        <p:nvSpPr>
          <p:cNvPr id="45" name="Shape 1"/>
          <p:cNvSpPr/>
          <p:nvPr/>
        </p:nvSpPr>
        <p:spPr>
          <a:xfrm>
            <a:off x="9372600" y="5120640"/>
            <a:ext cx="82080" cy="82080"/>
          </a:xfrm>
          <a:prstGeom prst="ellipse">
            <a:avLst/>
          </a:prstGeom>
          <a:solidFill>
            <a:srgbClr val="1f8a9e"/>
          </a:solidFill>
          <a:ln w="0">
            <a:noFill/>
          </a:ln>
        </p:spPr>
        <p:style>
          <a:lnRef idx="0"/>
          <a:fillRef idx="0"/>
          <a:effectRef idx="0"/>
          <a:fontRef idx="minor"/>
        </p:style>
        <p:txBody>
          <a:bodyPr lIns="90000" rIns="90000" tIns="13320" bIns="13320" anchor="t">
            <a:noAutofit/>
          </a:bodyPr>
          <a:p>
            <a:endParaRPr b="0" lang="en-GB" sz="1800" spc="-1" strike="noStrike">
              <a:solidFill>
                <a:srgbClr val="000000"/>
              </a:solidFill>
              <a:latin typeface="Arial"/>
            </a:endParaRPr>
          </a:p>
        </p:txBody>
      </p:sp>
      <p:sp>
        <p:nvSpPr>
          <p:cNvPr id="46" name="Shape 2"/>
          <p:cNvSpPr/>
          <p:nvPr/>
        </p:nvSpPr>
        <p:spPr>
          <a:xfrm>
            <a:off x="9784080" y="5120640"/>
            <a:ext cx="82080" cy="82080"/>
          </a:xfrm>
          <a:prstGeom prst="ellipse">
            <a:avLst/>
          </a:prstGeom>
          <a:solidFill>
            <a:srgbClr val="1f8a9e"/>
          </a:solidFill>
          <a:ln w="0">
            <a:noFill/>
          </a:ln>
        </p:spPr>
        <p:style>
          <a:lnRef idx="0"/>
          <a:fillRef idx="0"/>
          <a:effectRef idx="0"/>
          <a:fontRef idx="minor"/>
        </p:style>
        <p:txBody>
          <a:bodyPr lIns="90000" rIns="90000" tIns="13320" bIns="13320" anchor="t">
            <a:noAutofit/>
          </a:bodyPr>
          <a:p>
            <a:endParaRPr b="0" lang="en-GB" sz="1800" spc="-1" strike="noStrike">
              <a:solidFill>
                <a:srgbClr val="000000"/>
              </a:solidFill>
              <a:latin typeface="Arial"/>
            </a:endParaRPr>
          </a:p>
        </p:txBody>
      </p:sp>
      <p:sp>
        <p:nvSpPr>
          <p:cNvPr id="47" name="Shape 3"/>
          <p:cNvSpPr/>
          <p:nvPr/>
        </p:nvSpPr>
        <p:spPr>
          <a:xfrm>
            <a:off x="8961120" y="5532120"/>
            <a:ext cx="82080" cy="82080"/>
          </a:xfrm>
          <a:prstGeom prst="ellipse">
            <a:avLst/>
          </a:prstGeom>
          <a:solidFill>
            <a:srgbClr val="1f8a9e"/>
          </a:solidFill>
          <a:ln w="0">
            <a:noFill/>
          </a:ln>
        </p:spPr>
        <p:style>
          <a:lnRef idx="0"/>
          <a:fillRef idx="0"/>
          <a:effectRef idx="0"/>
          <a:fontRef idx="minor"/>
        </p:style>
        <p:txBody>
          <a:bodyPr lIns="90000" rIns="90000" tIns="13320" bIns="13320" anchor="t">
            <a:noAutofit/>
          </a:bodyPr>
          <a:p>
            <a:endParaRPr b="0" lang="en-GB" sz="1800" spc="-1" strike="noStrike">
              <a:solidFill>
                <a:srgbClr val="000000"/>
              </a:solidFill>
              <a:latin typeface="Arial"/>
            </a:endParaRPr>
          </a:p>
        </p:txBody>
      </p:sp>
      <p:sp>
        <p:nvSpPr>
          <p:cNvPr id="48" name="Shape 4"/>
          <p:cNvSpPr/>
          <p:nvPr/>
        </p:nvSpPr>
        <p:spPr>
          <a:xfrm>
            <a:off x="9372600" y="5532120"/>
            <a:ext cx="82080" cy="82080"/>
          </a:xfrm>
          <a:prstGeom prst="ellipse">
            <a:avLst/>
          </a:prstGeom>
          <a:solidFill>
            <a:srgbClr val="1f8a9e"/>
          </a:solidFill>
          <a:ln w="0">
            <a:noFill/>
          </a:ln>
        </p:spPr>
        <p:style>
          <a:lnRef idx="0"/>
          <a:fillRef idx="0"/>
          <a:effectRef idx="0"/>
          <a:fontRef idx="minor"/>
        </p:style>
        <p:txBody>
          <a:bodyPr lIns="90000" rIns="90000" tIns="13320" bIns="13320" anchor="t">
            <a:noAutofit/>
          </a:bodyPr>
          <a:p>
            <a:endParaRPr b="0" lang="en-GB" sz="1800" spc="-1" strike="noStrike">
              <a:solidFill>
                <a:srgbClr val="000000"/>
              </a:solidFill>
              <a:latin typeface="Arial"/>
            </a:endParaRPr>
          </a:p>
        </p:txBody>
      </p:sp>
      <p:sp>
        <p:nvSpPr>
          <p:cNvPr id="49" name="Shape 5"/>
          <p:cNvSpPr/>
          <p:nvPr/>
        </p:nvSpPr>
        <p:spPr>
          <a:xfrm>
            <a:off x="9784080" y="5532120"/>
            <a:ext cx="82080" cy="82080"/>
          </a:xfrm>
          <a:prstGeom prst="ellipse">
            <a:avLst/>
          </a:prstGeom>
          <a:solidFill>
            <a:srgbClr val="1f8a9e"/>
          </a:solidFill>
          <a:ln w="0">
            <a:noFill/>
          </a:ln>
        </p:spPr>
        <p:style>
          <a:lnRef idx="0"/>
          <a:fillRef idx="0"/>
          <a:effectRef idx="0"/>
          <a:fontRef idx="minor"/>
        </p:style>
        <p:txBody>
          <a:bodyPr lIns="90000" rIns="90000" tIns="13320" bIns="13320" anchor="t">
            <a:noAutofit/>
          </a:bodyPr>
          <a:p>
            <a:endParaRPr b="0" lang="en-GB" sz="1800" spc="-1" strike="noStrike">
              <a:solidFill>
                <a:srgbClr val="000000"/>
              </a:solidFill>
              <a:latin typeface="Arial"/>
            </a:endParaRPr>
          </a:p>
        </p:txBody>
      </p:sp>
      <p:sp>
        <p:nvSpPr>
          <p:cNvPr id="50" name="Text 6"/>
          <p:cNvSpPr/>
          <p:nvPr/>
        </p:nvSpPr>
        <p:spPr>
          <a:xfrm>
            <a:off x="822960" y="1280160"/>
            <a:ext cx="7314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299" strike="noStrike">
                <a:solidFill>
                  <a:srgbClr val="e8a33d"/>
                </a:solidFill>
                <a:latin typeface="Calibri"/>
                <a:ea typeface="Calibri"/>
              </a:rPr>
              <a:t>MASTER'S THESIS DEFENSE</a:t>
            </a:r>
            <a:endParaRPr b="0" lang="en-GB" sz="1300" spc="-1" strike="noStrike">
              <a:solidFill>
                <a:srgbClr val="ffffff"/>
              </a:solidFill>
              <a:latin typeface="Arial"/>
            </a:endParaRPr>
          </a:p>
        </p:txBody>
      </p:sp>
      <p:sp>
        <p:nvSpPr>
          <p:cNvPr id="51" name="Text 7"/>
          <p:cNvSpPr/>
          <p:nvPr/>
        </p:nvSpPr>
        <p:spPr>
          <a:xfrm>
            <a:off x="822960" y="1691640"/>
            <a:ext cx="10240920" cy="1919880"/>
          </a:xfrm>
          <a:prstGeom prst="rect">
            <a:avLst/>
          </a:prstGeom>
          <a:noFill/>
          <a:ln w="0">
            <a:noFill/>
          </a:ln>
        </p:spPr>
        <p:style>
          <a:lnRef idx="0"/>
          <a:fillRef idx="0"/>
          <a:effectRef idx="0"/>
          <a:fontRef idx="minor"/>
        </p:style>
        <p:txBody>
          <a:bodyPr lIns="0" rIns="0" tIns="0" bIns="0" anchor="ctr">
            <a:noAutofit/>
          </a:bodyPr>
          <a:p>
            <a:pPr defTabSz="914400">
              <a:lnSpc>
                <a:spcPts val="4601"/>
              </a:lnSpc>
              <a:tabLst>
                <a:tab algn="l" pos="0"/>
              </a:tabLst>
            </a:pPr>
            <a:r>
              <a:rPr b="1" lang="en-US" sz="4000" spc="-1" strike="noStrike">
                <a:solidFill>
                  <a:srgbClr val="ffffff"/>
                </a:solidFill>
                <a:latin typeface="Cambria"/>
                <a:ea typeface="Cambria"/>
              </a:rPr>
              <a:t>Toward Hardware-Adaptive Pareto Fronts</a:t>
            </a:r>
            <a:endParaRPr b="0" lang="en-GB" sz="4000" spc="-1" strike="noStrike">
              <a:solidFill>
                <a:srgbClr val="ffffff"/>
              </a:solidFill>
              <a:latin typeface="Arial"/>
            </a:endParaRPr>
          </a:p>
          <a:p>
            <a:pPr defTabSz="914400">
              <a:lnSpc>
                <a:spcPts val="4601"/>
              </a:lnSpc>
              <a:tabLst>
                <a:tab algn="l" pos="0"/>
              </a:tabLst>
            </a:pPr>
            <a:r>
              <a:rPr b="1" lang="en-US" sz="4000" spc="-1" strike="noStrike">
                <a:solidFill>
                  <a:srgbClr val="ffffff"/>
                </a:solidFill>
                <a:latin typeface="Cambria"/>
                <a:ea typeface="Cambria"/>
              </a:rPr>
              <a:t>for CPU-Only LLM Inference</a:t>
            </a:r>
            <a:endParaRPr b="0" lang="en-GB" sz="4000" spc="-1" strike="noStrike">
              <a:solidFill>
                <a:srgbClr val="ffffff"/>
              </a:solidFill>
              <a:latin typeface="Arial"/>
            </a:endParaRPr>
          </a:p>
        </p:txBody>
      </p:sp>
      <p:sp>
        <p:nvSpPr>
          <p:cNvPr id="52" name="Text 8"/>
          <p:cNvSpPr/>
          <p:nvPr/>
        </p:nvSpPr>
        <p:spPr>
          <a:xfrm>
            <a:off x="822960" y="3703320"/>
            <a:ext cx="96008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800" spc="-1" strike="noStrike">
                <a:solidFill>
                  <a:srgbClr val="dceff2"/>
                </a:solidFill>
                <a:latin typeface="Calibri"/>
                <a:ea typeface="Calibri"/>
              </a:rPr>
              <a:t>An Empirical Study of llama.cpp Across Three Heterogeneous Devices</a:t>
            </a:r>
            <a:endParaRPr b="0" lang="en-GB" sz="1800" spc="-1" strike="noStrike">
              <a:solidFill>
                <a:srgbClr val="ffffff"/>
              </a:solidFill>
              <a:latin typeface="Arial"/>
            </a:endParaRPr>
          </a:p>
        </p:txBody>
      </p:sp>
      <p:sp>
        <p:nvSpPr>
          <p:cNvPr id="53" name="Shape 9"/>
          <p:cNvSpPr/>
          <p:nvPr/>
        </p:nvSpPr>
        <p:spPr>
          <a:xfrm>
            <a:off x="822960" y="4526280"/>
            <a:ext cx="2926080" cy="360"/>
          </a:xfrm>
          <a:prstGeom prst="line">
            <a:avLst/>
          </a:prstGeom>
          <a:ln w="25400">
            <a:solidFill>
              <a:srgbClr val="1f8a9e"/>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54" name="Text 10"/>
          <p:cNvSpPr/>
          <p:nvPr/>
        </p:nvSpPr>
        <p:spPr>
          <a:xfrm>
            <a:off x="822960" y="4709160"/>
            <a:ext cx="5486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ea typeface="Calibri"/>
              </a:rPr>
              <a:t>Yassine Hattay</a:t>
            </a:r>
            <a:endParaRPr b="0" lang="en-GB" sz="1500" spc="-1" strike="noStrike">
              <a:solidFill>
                <a:srgbClr val="ffffff"/>
              </a:solidFill>
              <a:latin typeface="Arial"/>
            </a:endParaRPr>
          </a:p>
        </p:txBody>
      </p:sp>
      <p:sp>
        <p:nvSpPr>
          <p:cNvPr id="55" name="Text 11"/>
          <p:cNvSpPr/>
          <p:nvPr/>
        </p:nvSpPr>
        <p:spPr>
          <a:xfrm>
            <a:off x="822960" y="507492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GB"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56"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MOTIVATION</a:t>
            </a:r>
            <a:endParaRPr b="0" lang="en-GB" sz="1200" spc="-1" strike="noStrike">
              <a:solidFill>
                <a:srgbClr val="000000"/>
              </a:solidFill>
              <a:latin typeface="Arial"/>
            </a:endParaRPr>
          </a:p>
        </p:txBody>
      </p:sp>
      <p:sp>
        <p:nvSpPr>
          <p:cNvPr id="57"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The GPU-less majority</a:t>
            </a:r>
            <a:endParaRPr b="0" lang="en-GB" sz="3000" spc="-1" strike="noStrike">
              <a:solidFill>
                <a:srgbClr val="000000"/>
              </a:solidFill>
              <a:latin typeface="Arial"/>
            </a:endParaRPr>
          </a:p>
        </p:txBody>
      </p:sp>
      <p:sp>
        <p:nvSpPr>
          <p:cNvPr id="58" name="Text 2"/>
          <p:cNvSpPr/>
          <p:nvPr/>
        </p:nvSpPr>
        <p:spPr>
          <a:xfrm>
            <a:off x="548640" y="1508760"/>
            <a:ext cx="6491880" cy="822600"/>
          </a:xfrm>
          <a:prstGeom prst="rect">
            <a:avLst/>
          </a:prstGeom>
          <a:noFill/>
          <a:ln w="0">
            <a:noFill/>
          </a:ln>
        </p:spPr>
        <p:style>
          <a:lnRef idx="0"/>
          <a:fillRef idx="0"/>
          <a:effectRef idx="0"/>
          <a:fontRef idx="minor"/>
        </p:style>
        <p:txBody>
          <a:bodyPr lIns="0" rIns="0" tIns="0" bIns="0" anchor="ctr">
            <a:noAutofit/>
          </a:bodyPr>
          <a:p>
            <a:pPr defTabSz="914400">
              <a:lnSpc>
                <a:spcPts val="2100"/>
              </a:lnSpc>
              <a:tabLst>
                <a:tab algn="l" pos="0"/>
              </a:tabLst>
            </a:pPr>
            <a:r>
              <a:rPr b="0" lang="en-US" sz="1500" spc="-1" strike="noStrike">
                <a:solidFill>
                  <a:srgbClr val="1b2430"/>
                </a:solidFill>
                <a:latin typeface="Calibri"/>
                <a:ea typeface="Calibri"/>
              </a:rPr>
              <a:t>Most machines people actually own have no usable GPU for LLM inference — or one too small to hold even a modest model.</a:t>
            </a:r>
            <a:endParaRPr b="0" lang="en-GB" sz="1500" spc="-1" strike="noStrike">
              <a:solidFill>
                <a:srgbClr val="000000"/>
              </a:solidFill>
              <a:latin typeface="Arial"/>
            </a:endParaRPr>
          </a:p>
        </p:txBody>
      </p:sp>
      <p:sp>
        <p:nvSpPr>
          <p:cNvPr id="60" name="Text 4"/>
          <p:cNvSpPr/>
          <p:nvPr/>
        </p:nvSpPr>
        <p:spPr>
          <a:xfrm>
            <a:off x="868680" y="2340720"/>
            <a:ext cx="4023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62447"/>
                </a:solidFill>
                <a:latin typeface="Calibri"/>
                <a:ea typeface="Calibri"/>
              </a:rPr>
              <a:t>Aging office laptops</a:t>
            </a:r>
            <a:endParaRPr b="0" lang="en-GB" sz="1450" spc="-1" strike="noStrike">
              <a:solidFill>
                <a:srgbClr val="000000"/>
              </a:solidFill>
              <a:latin typeface="Arial"/>
            </a:endParaRPr>
          </a:p>
        </p:txBody>
      </p:sp>
      <p:sp>
        <p:nvSpPr>
          <p:cNvPr id="61" name="Text 5"/>
          <p:cNvSpPr/>
          <p:nvPr/>
        </p:nvSpPr>
        <p:spPr>
          <a:xfrm>
            <a:off x="868680" y="2642760"/>
            <a:ext cx="57603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b6675"/>
                </a:solidFill>
                <a:latin typeface="Calibri"/>
                <a:ea typeface="Calibri"/>
              </a:rPr>
              <a:t>Bought for browsing, not compute</a:t>
            </a:r>
            <a:endParaRPr b="0" lang="en-GB" sz="1200" spc="-1" strike="noStrike">
              <a:solidFill>
                <a:srgbClr val="000000"/>
              </a:solidFill>
              <a:latin typeface="Arial"/>
            </a:endParaRPr>
          </a:p>
        </p:txBody>
      </p:sp>
      <p:sp>
        <p:nvSpPr>
          <p:cNvPr id="63" name="Text 7"/>
          <p:cNvSpPr/>
          <p:nvPr/>
        </p:nvSpPr>
        <p:spPr>
          <a:xfrm>
            <a:off x="868680" y="3054240"/>
            <a:ext cx="4023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62447"/>
                </a:solidFill>
                <a:latin typeface="Calibri"/>
                <a:ea typeface="Calibri"/>
              </a:rPr>
              <a:t>Hand-me-down desktops</a:t>
            </a:r>
            <a:endParaRPr b="0" lang="en-GB" sz="1450" spc="-1" strike="noStrike">
              <a:solidFill>
                <a:srgbClr val="000000"/>
              </a:solidFill>
              <a:latin typeface="Arial"/>
            </a:endParaRPr>
          </a:p>
        </p:txBody>
      </p:sp>
      <p:sp>
        <p:nvSpPr>
          <p:cNvPr id="64" name="Text 8"/>
          <p:cNvSpPr/>
          <p:nvPr/>
        </p:nvSpPr>
        <p:spPr>
          <a:xfrm>
            <a:off x="868680" y="3355920"/>
            <a:ext cx="57603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b6675"/>
                </a:solidFill>
                <a:latin typeface="Calibri"/>
                <a:ea typeface="Calibri"/>
              </a:rPr>
              <a:t>No discrete accelerator</a:t>
            </a:r>
            <a:endParaRPr b="0" lang="en-GB" sz="1200" spc="-1" strike="noStrike">
              <a:solidFill>
                <a:srgbClr val="000000"/>
              </a:solidFill>
              <a:latin typeface="Arial"/>
            </a:endParaRPr>
          </a:p>
        </p:txBody>
      </p:sp>
      <p:sp>
        <p:nvSpPr>
          <p:cNvPr id="66" name="Text 10"/>
          <p:cNvSpPr/>
          <p:nvPr/>
        </p:nvSpPr>
        <p:spPr>
          <a:xfrm>
            <a:off x="868680" y="3767400"/>
            <a:ext cx="4023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62447"/>
                </a:solidFill>
                <a:latin typeface="Calibri"/>
                <a:ea typeface="Calibri"/>
              </a:rPr>
              <a:t>Single-board computers</a:t>
            </a:r>
            <a:endParaRPr b="0" lang="en-GB" sz="1450" spc="-1" strike="noStrike">
              <a:solidFill>
                <a:srgbClr val="000000"/>
              </a:solidFill>
              <a:latin typeface="Arial"/>
            </a:endParaRPr>
          </a:p>
        </p:txBody>
      </p:sp>
      <p:sp>
        <p:nvSpPr>
          <p:cNvPr id="67" name="Text 11"/>
          <p:cNvSpPr/>
          <p:nvPr/>
        </p:nvSpPr>
        <p:spPr>
          <a:xfrm>
            <a:off x="868680" y="4069080"/>
            <a:ext cx="57603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b6675"/>
                </a:solidFill>
                <a:latin typeface="Calibri"/>
                <a:ea typeface="Calibri"/>
              </a:rPr>
              <a:t>Raspberry Pi and similar</a:t>
            </a:r>
            <a:endParaRPr b="0" lang="en-GB" sz="1200" spc="-1" strike="noStrike">
              <a:solidFill>
                <a:srgbClr val="000000"/>
              </a:solidFill>
              <a:latin typeface="Arial"/>
            </a:endParaRPr>
          </a:p>
        </p:txBody>
      </p:sp>
      <p:sp>
        <p:nvSpPr>
          <p:cNvPr id="69" name="Text 13"/>
          <p:cNvSpPr/>
          <p:nvPr/>
        </p:nvSpPr>
        <p:spPr>
          <a:xfrm>
            <a:off x="868680" y="4480560"/>
            <a:ext cx="40230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50" spc="-1" strike="noStrike">
                <a:solidFill>
                  <a:srgbClr val="162447"/>
                </a:solidFill>
                <a:latin typeface="Calibri"/>
                <a:ea typeface="Calibri"/>
              </a:rPr>
              <a:t>Embedded edge boards</a:t>
            </a:r>
            <a:endParaRPr b="0" lang="en-GB" sz="1450" spc="-1" strike="noStrike">
              <a:solidFill>
                <a:srgbClr val="000000"/>
              </a:solidFill>
              <a:latin typeface="Arial"/>
            </a:endParaRPr>
          </a:p>
        </p:txBody>
      </p:sp>
      <p:sp>
        <p:nvSpPr>
          <p:cNvPr id="70" name="Text 14"/>
          <p:cNvSpPr/>
          <p:nvPr/>
        </p:nvSpPr>
        <p:spPr>
          <a:xfrm>
            <a:off x="868680" y="4782240"/>
            <a:ext cx="57603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b6675"/>
                </a:solidFill>
                <a:latin typeface="Calibri"/>
                <a:ea typeface="Calibri"/>
              </a:rPr>
              <a:t>e.g. NVIDIA Jetson Nano</a:t>
            </a:r>
            <a:endParaRPr b="0" lang="en-GB" sz="1200" spc="-1" strike="noStrike">
              <a:solidFill>
                <a:srgbClr val="000000"/>
              </a:solidFill>
              <a:latin typeface="Arial"/>
            </a:endParaRPr>
          </a:p>
        </p:txBody>
      </p:sp>
      <p:sp>
        <p:nvSpPr>
          <p:cNvPr id="71" name="Shape 15"/>
          <p:cNvSpPr/>
          <p:nvPr/>
        </p:nvSpPr>
        <p:spPr>
          <a:xfrm>
            <a:off x="7406640" y="1508760"/>
            <a:ext cx="4205880" cy="3931560"/>
          </a:xfrm>
          <a:prstGeom prst="roundRect">
            <a:avLst>
              <a:gd name="adj" fmla="val 2326"/>
            </a:avLst>
          </a:prstGeom>
          <a:solidFill>
            <a:srgbClr val="162447"/>
          </a:solidFill>
          <a:ln w="0">
            <a:noFill/>
          </a:ln>
          <a:effectLst>
            <a:outerShdw algn="bl" blurRad="101520" dir="5400000" dist="38160" kx="0" ky="0" rotWithShape="0" sx="100000" sy="100000">
              <a:srgbClr val="000000">
                <a:alpha val="25000"/>
              </a:srgbClr>
            </a:outerShdw>
          </a:effectLst>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72" name="Text 16"/>
          <p:cNvSpPr/>
          <p:nvPr/>
        </p:nvSpPr>
        <p:spPr>
          <a:xfrm>
            <a:off x="7772400" y="1828800"/>
            <a:ext cx="34743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99" strike="noStrike">
                <a:solidFill>
                  <a:srgbClr val="e8a33d"/>
                </a:solidFill>
                <a:latin typeface="Calibri"/>
                <a:ea typeface="Calibri"/>
              </a:rPr>
              <a:t>THE QUESTION</a:t>
            </a:r>
            <a:endParaRPr b="0" lang="en-GB" sz="1100" spc="-1" strike="noStrike">
              <a:solidFill>
                <a:srgbClr val="000000"/>
              </a:solidFill>
              <a:latin typeface="Arial"/>
            </a:endParaRPr>
          </a:p>
        </p:txBody>
      </p:sp>
      <p:sp>
        <p:nvSpPr>
          <p:cNvPr id="73" name="Text 17"/>
          <p:cNvSpPr/>
          <p:nvPr/>
        </p:nvSpPr>
        <p:spPr>
          <a:xfrm>
            <a:off x="7772400" y="2240280"/>
            <a:ext cx="3474360" cy="1737000"/>
          </a:xfrm>
          <a:prstGeom prst="rect">
            <a:avLst/>
          </a:prstGeom>
          <a:noFill/>
          <a:ln w="0">
            <a:noFill/>
          </a:ln>
        </p:spPr>
        <p:style>
          <a:lnRef idx="0"/>
          <a:fillRef idx="0"/>
          <a:effectRef idx="0"/>
          <a:fontRef idx="minor"/>
        </p:style>
        <p:txBody>
          <a:bodyPr lIns="0" rIns="0" tIns="0" bIns="0" anchor="ctr">
            <a:noAutofit/>
          </a:bodyPr>
          <a:p>
            <a:pPr defTabSz="914400">
              <a:lnSpc>
                <a:spcPts val="2299"/>
              </a:lnSpc>
              <a:tabLst>
                <a:tab algn="l" pos="0"/>
              </a:tabLst>
            </a:pPr>
            <a:r>
              <a:rPr b="0" i="1" lang="en-US" sz="1700" spc="-1" strike="noStrike">
                <a:solidFill>
                  <a:srgbClr val="ffffff"/>
                </a:solidFill>
                <a:latin typeface="Cambria"/>
                <a:ea typeface="Cambria"/>
              </a:rPr>
              <a:t>Given this specific CPU, this RAM, and this model — which combination of settings gets the most tokens per second at output quality I can accept?</a:t>
            </a:r>
            <a:endParaRPr b="0" lang="en-GB" sz="1700" spc="-1" strike="noStrike">
              <a:solidFill>
                <a:srgbClr val="000000"/>
              </a:solidFill>
              <a:latin typeface="Arial"/>
            </a:endParaRPr>
          </a:p>
        </p:txBody>
      </p:sp>
      <p:sp>
        <p:nvSpPr>
          <p:cNvPr id="74" name="Shape 18"/>
          <p:cNvSpPr/>
          <p:nvPr/>
        </p:nvSpPr>
        <p:spPr>
          <a:xfrm>
            <a:off x="7772400" y="4160520"/>
            <a:ext cx="3474720" cy="360"/>
          </a:xfrm>
          <a:prstGeom prst="line">
            <a:avLst/>
          </a:prstGeom>
          <a:ln w="12700">
            <a:solidFill>
              <a:srgbClr val="1f8a9e"/>
            </a:solidFill>
            <a:round/>
          </a:ln>
        </p:spPr>
        <p:style>
          <a:lnRef idx="0"/>
          <a:fillRef idx="0"/>
          <a:effectRef idx="0"/>
          <a:fontRef idx="minor"/>
        </p:style>
        <p:txBody>
          <a:bodyPr lIns="90000" rIns="90000" tIns="-44640" bIns="-44640" anchor="t" anchorCtr="1">
            <a:noAutofit/>
          </a:bodyPr>
          <a:p>
            <a:endParaRPr b="0" lang="en-GB" sz="1800" spc="-1" strike="noStrike">
              <a:solidFill>
                <a:srgbClr val="000000"/>
              </a:solidFill>
              <a:latin typeface="Arial"/>
            </a:endParaRPr>
          </a:p>
        </p:txBody>
      </p:sp>
      <p:sp>
        <p:nvSpPr>
          <p:cNvPr id="75" name="Text 19"/>
          <p:cNvSpPr/>
          <p:nvPr/>
        </p:nvSpPr>
        <p:spPr>
          <a:xfrm>
            <a:off x="7772400" y="4343400"/>
            <a:ext cx="3474360" cy="100548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00" spc="-1" strike="noStrike">
                <a:solidFill>
                  <a:srgbClr val="dceff2"/>
                </a:solidFill>
                <a:latin typeface="Calibri"/>
                <a:ea typeface="Calibri"/>
              </a:rPr>
              <a:t>Practitioners face a high-dimensional, non-intuitive parameter space — threads, batch size, context depth, KV-cache precision, Flash Attention, quant format — with little principled guidance.</a:t>
            </a:r>
            <a:endParaRPr b="0" lang="en-GB" sz="1200" spc="-1" strike="noStrike">
              <a:solidFill>
                <a:srgbClr val="000000"/>
              </a:solidFill>
              <a:latin typeface="Arial"/>
            </a:endParaRPr>
          </a:p>
        </p:txBody>
      </p:sp>
      <p:sp>
        <p:nvSpPr>
          <p:cNvPr id="76" name="Text 20"/>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02</a:t>
            </a:r>
            <a:endParaRPr b="0" lang="en-GB" sz="1000" spc="-1" strike="noStrike">
              <a:solidFill>
                <a:srgbClr val="000000"/>
              </a:solidFill>
              <a:latin typeface="Arial"/>
            </a:endParaRPr>
          </a:p>
        </p:txBody>
      </p:sp>
      <p:sp>
        <p:nvSpPr>
          <p:cNvPr id="77" name="Oval 76"/>
          <p:cNvSpPr/>
          <p:nvPr/>
        </p:nvSpPr>
        <p:spPr>
          <a:xfrm>
            <a:off x="508640" y="2378880"/>
            <a:ext cx="320000" cy="32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Picture 77" descr="icon_laptop.png"/>
          <p:cNvPicPr>
            <a:picLocks noChangeAspect="1"/>
          </p:cNvPicPr>
          <p:nvPr/>
        </p:nvPicPr>
        <p:blipFill>
          <a:blip r:embed="rId3"/>
          <a:stretch>
            <a:fillRect/>
          </a:stretch>
        </p:blipFill>
        <p:spPr>
          <a:xfrm>
            <a:off x="578640" y="2448880"/>
            <a:ext cx="180000" cy="180000"/>
          </a:xfrm>
          <a:prstGeom prst="rect">
            <a:avLst/>
          </a:prstGeom>
        </p:spPr>
      </p:pic>
      <p:sp>
        <p:nvSpPr>
          <p:cNvPr id="79" name="Oval 78"/>
          <p:cNvSpPr/>
          <p:nvPr/>
        </p:nvSpPr>
        <p:spPr>
          <a:xfrm>
            <a:off x="508640" y="3092040"/>
            <a:ext cx="320000" cy="32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0" name="Picture 79" descr="icon_desktop.png"/>
          <p:cNvPicPr>
            <a:picLocks noChangeAspect="1"/>
          </p:cNvPicPr>
          <p:nvPr/>
        </p:nvPicPr>
        <p:blipFill>
          <a:blip r:embed="rId4"/>
          <a:stretch>
            <a:fillRect/>
          </a:stretch>
        </p:blipFill>
        <p:spPr>
          <a:xfrm>
            <a:off x="578640" y="3162040"/>
            <a:ext cx="180000" cy="180000"/>
          </a:xfrm>
          <a:prstGeom prst="rect">
            <a:avLst/>
          </a:prstGeom>
        </p:spPr>
      </p:pic>
      <p:sp>
        <p:nvSpPr>
          <p:cNvPr id="81" name="Oval 80"/>
          <p:cNvSpPr/>
          <p:nvPr/>
        </p:nvSpPr>
        <p:spPr>
          <a:xfrm>
            <a:off x="508640" y="3805200"/>
            <a:ext cx="320000" cy="32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2" name="Picture 81" descr="icon_rpi.png"/>
          <p:cNvPicPr>
            <a:picLocks noChangeAspect="1"/>
          </p:cNvPicPr>
          <p:nvPr/>
        </p:nvPicPr>
        <p:blipFill>
          <a:blip r:embed="rId5"/>
          <a:stretch>
            <a:fillRect/>
          </a:stretch>
        </p:blipFill>
        <p:spPr>
          <a:xfrm>
            <a:off x="578640" y="3875200"/>
            <a:ext cx="180000" cy="180000"/>
          </a:xfrm>
          <a:prstGeom prst="rect">
            <a:avLst/>
          </a:prstGeom>
        </p:spPr>
      </p:pic>
      <p:sp>
        <p:nvSpPr>
          <p:cNvPr id="83" name="Oval 82"/>
          <p:cNvSpPr/>
          <p:nvPr/>
        </p:nvSpPr>
        <p:spPr>
          <a:xfrm>
            <a:off x="508640" y="4518720"/>
            <a:ext cx="320000" cy="32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4" name="Picture 83" descr="icon_chip.png"/>
          <p:cNvPicPr>
            <a:picLocks noChangeAspect="1"/>
          </p:cNvPicPr>
          <p:nvPr/>
        </p:nvPicPr>
        <p:blipFill>
          <a:blip r:embed="rId6"/>
          <a:stretch>
            <a:fillRect/>
          </a:stretch>
        </p:blipFill>
        <p:spPr>
          <a:xfrm>
            <a:off x="578640" y="4588720"/>
            <a:ext cx="180000" cy="180000"/>
          </a:xfrm>
          <a:prstGeom prst="rect">
            <a:avLst/>
          </a:prstGeom>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77"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METHOD — THE INSTRUMENT</a:t>
            </a:r>
            <a:endParaRPr b="0" lang="en-GB" sz="1200" spc="-1" strike="noStrike">
              <a:solidFill>
                <a:srgbClr val="000000"/>
              </a:solidFill>
              <a:latin typeface="Arial"/>
            </a:endParaRPr>
          </a:p>
        </p:txBody>
      </p:sp>
      <p:sp>
        <p:nvSpPr>
          <p:cNvPr id="78"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Why llama.cpp</a:t>
            </a:r>
            <a:endParaRPr b="0" lang="en-GB" sz="3000" spc="-1" strike="noStrike">
              <a:solidFill>
                <a:srgbClr val="000000"/>
              </a:solidFill>
              <a:latin typeface="Arial"/>
            </a:endParaRPr>
          </a:p>
        </p:txBody>
      </p:sp>
      <p:sp>
        <p:nvSpPr>
          <p:cNvPr id="79" name="Text 2"/>
          <p:cNvSpPr/>
          <p:nvPr/>
        </p:nvSpPr>
        <p:spPr>
          <a:xfrm>
            <a:off x="548640" y="1463040"/>
            <a:ext cx="105152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500" spc="-1" strike="noStrike">
                <a:solidFill>
                  <a:srgbClr val="5b6675"/>
                </a:solidFill>
                <a:latin typeface="Calibri"/>
                <a:ea typeface="Calibri"/>
              </a:rPr>
              <a:t>Not the fastest CPU engine in every configuration — the most parametrically exposed one.</a:t>
            </a:r>
            <a:endParaRPr b="0" lang="en-GB" sz="1500" spc="-1" strike="noStrike">
              <a:solidFill>
                <a:srgbClr val="000000"/>
              </a:solidFill>
              <a:latin typeface="Arial"/>
            </a:endParaRPr>
          </a:p>
        </p:txBody>
      </p:sp>
      <p:sp>
        <p:nvSpPr>
          <p:cNvPr id="80" name="Shape 3"/>
          <p:cNvSpPr/>
          <p:nvPr/>
        </p:nvSpPr>
        <p:spPr>
          <a:xfrm>
            <a:off x="548640" y="2240280"/>
            <a:ext cx="3520080" cy="3565800"/>
          </a:xfrm>
          <a:prstGeom prst="roundRect">
            <a:avLst>
              <a:gd name="adj" fmla="val 2078"/>
            </a:avLst>
          </a:prstGeom>
          <a:solidFill>
            <a:srgbClr val="ffffff"/>
          </a:solidFill>
          <a:ln w="12700">
            <a:solidFill>
              <a:srgbClr val="e3e8ec"/>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81" name="Text 4"/>
          <p:cNvSpPr/>
          <p:nvPr/>
        </p:nvSpPr>
        <p:spPr>
          <a:xfrm>
            <a:off x="822960" y="2468880"/>
            <a:ext cx="13712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1f8a9e"/>
                </a:solidFill>
                <a:latin typeface="Cambria"/>
                <a:ea typeface="Cambria"/>
              </a:rPr>
              <a:t>01</a:t>
            </a:r>
            <a:endParaRPr b="0" lang="en-GB" sz="2600" spc="-1" strike="noStrike">
              <a:solidFill>
                <a:srgbClr val="000000"/>
              </a:solidFill>
              <a:latin typeface="Arial"/>
            </a:endParaRPr>
          </a:p>
        </p:txBody>
      </p:sp>
      <p:sp>
        <p:nvSpPr>
          <p:cNvPr id="82" name="Text 5"/>
          <p:cNvSpPr/>
          <p:nvPr/>
        </p:nvSpPr>
        <p:spPr>
          <a:xfrm>
            <a:off x="822960" y="3063240"/>
            <a:ext cx="2971440" cy="594000"/>
          </a:xfrm>
          <a:prstGeom prst="rect">
            <a:avLst/>
          </a:prstGeom>
          <a:noFill/>
          <a:ln w="0">
            <a:noFill/>
          </a:ln>
        </p:spPr>
        <p:style>
          <a:lnRef idx="0"/>
          <a:fillRef idx="0"/>
          <a:effectRef idx="0"/>
          <a:fontRef idx="minor"/>
        </p:style>
        <p:txBody>
          <a:bodyPr lIns="0" rIns="0" tIns="0" bIns="0" anchor="ctr">
            <a:noAutofit/>
          </a:bodyPr>
          <a:p>
            <a:pPr defTabSz="914400">
              <a:lnSpc>
                <a:spcPts val="1800"/>
              </a:lnSpc>
              <a:tabLst>
                <a:tab algn="l" pos="0"/>
              </a:tabLst>
            </a:pPr>
            <a:r>
              <a:rPr b="1" lang="en-US" sz="1500" spc="-1" strike="noStrike">
                <a:solidFill>
                  <a:srgbClr val="162447"/>
                </a:solidFill>
                <a:latin typeface="Calibri"/>
                <a:ea typeface="Calibri"/>
              </a:rPr>
              <a:t>Broad kernel support</a:t>
            </a:r>
            <a:endParaRPr b="0" lang="en-GB" sz="1500" spc="-1" strike="noStrike">
              <a:solidFill>
                <a:srgbClr val="000000"/>
              </a:solidFill>
              <a:latin typeface="Arial"/>
            </a:endParaRPr>
          </a:p>
        </p:txBody>
      </p:sp>
      <p:sp>
        <p:nvSpPr>
          <p:cNvPr id="83" name="Text 6"/>
          <p:cNvSpPr/>
          <p:nvPr/>
        </p:nvSpPr>
        <p:spPr>
          <a:xfrm>
            <a:off x="822960" y="3703320"/>
            <a:ext cx="2971440" cy="1965600"/>
          </a:xfrm>
          <a:prstGeom prst="rect">
            <a:avLst/>
          </a:prstGeom>
          <a:noFill/>
          <a:ln w="0">
            <a:noFill/>
          </a:ln>
        </p:spPr>
        <p:style>
          <a:lnRef idx="0"/>
          <a:fillRef idx="0"/>
          <a:effectRef idx="0"/>
          <a:fontRef idx="minor"/>
        </p:style>
        <p:txBody>
          <a:bodyPr lIns="0" rIns="0" tIns="0" bIns="0" anchor="ctr">
            <a:noAutofit/>
          </a:bodyPr>
          <a:p>
            <a:pPr defTabSz="914400">
              <a:lnSpc>
                <a:spcPts val="1551"/>
              </a:lnSpc>
              <a:tabLst>
                <a:tab algn="l" pos="0"/>
              </a:tabLst>
            </a:pPr>
            <a:r>
              <a:rPr b="0" lang="en-US" sz="1150" spc="-1" strike="noStrike">
                <a:solidFill>
                  <a:srgbClr val="1b2430"/>
                </a:solidFill>
                <a:latin typeface="Calibri"/>
                <a:ea typeface="Calibri"/>
              </a:rPr>
              <a:t>Hand-written SIMD kernels for x86 (AVX/AVX2/AVX-512) and ARM NEON, selected at runtime — one script, unmodified, runs on a Zen 3 laptop, a Coffee-Lake Pentium, and a Cortex-A57 board.</a:t>
            </a:r>
            <a:endParaRPr b="0" lang="en-GB" sz="1150" spc="-1" strike="noStrike">
              <a:solidFill>
                <a:srgbClr val="000000"/>
              </a:solidFill>
              <a:latin typeface="Arial"/>
            </a:endParaRPr>
          </a:p>
        </p:txBody>
      </p:sp>
      <p:sp>
        <p:nvSpPr>
          <p:cNvPr id="84" name="Shape 7"/>
          <p:cNvSpPr/>
          <p:nvPr/>
        </p:nvSpPr>
        <p:spPr>
          <a:xfrm>
            <a:off x="4343400" y="2240280"/>
            <a:ext cx="3520080" cy="3565800"/>
          </a:xfrm>
          <a:prstGeom prst="roundRect">
            <a:avLst>
              <a:gd name="adj" fmla="val 2078"/>
            </a:avLst>
          </a:prstGeom>
          <a:solidFill>
            <a:srgbClr val="ffffff"/>
          </a:solidFill>
          <a:ln w="12700">
            <a:solidFill>
              <a:srgbClr val="e3e8ec"/>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85" name="Text 8"/>
          <p:cNvSpPr/>
          <p:nvPr/>
        </p:nvSpPr>
        <p:spPr>
          <a:xfrm>
            <a:off x="4617720" y="2468880"/>
            <a:ext cx="13712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1f8a9e"/>
                </a:solidFill>
                <a:latin typeface="Cambria"/>
                <a:ea typeface="Cambria"/>
              </a:rPr>
              <a:t>02</a:t>
            </a:r>
            <a:endParaRPr b="0" lang="en-GB" sz="2600" spc="-1" strike="noStrike">
              <a:solidFill>
                <a:srgbClr val="000000"/>
              </a:solidFill>
              <a:latin typeface="Arial"/>
            </a:endParaRPr>
          </a:p>
        </p:txBody>
      </p:sp>
      <p:sp>
        <p:nvSpPr>
          <p:cNvPr id="86" name="Text 9"/>
          <p:cNvSpPr/>
          <p:nvPr/>
        </p:nvSpPr>
        <p:spPr>
          <a:xfrm>
            <a:off x="4617720" y="3063240"/>
            <a:ext cx="2971440" cy="594000"/>
          </a:xfrm>
          <a:prstGeom prst="rect">
            <a:avLst/>
          </a:prstGeom>
          <a:noFill/>
          <a:ln w="0">
            <a:noFill/>
          </a:ln>
        </p:spPr>
        <p:style>
          <a:lnRef idx="0"/>
          <a:fillRef idx="0"/>
          <a:effectRef idx="0"/>
          <a:fontRef idx="minor"/>
        </p:style>
        <p:txBody>
          <a:bodyPr lIns="0" rIns="0" tIns="0" bIns="0" anchor="ctr">
            <a:noAutofit/>
          </a:bodyPr>
          <a:p>
            <a:pPr defTabSz="914400">
              <a:lnSpc>
                <a:spcPts val="1800"/>
              </a:lnSpc>
              <a:tabLst>
                <a:tab algn="l" pos="0"/>
              </a:tabLst>
            </a:pPr>
            <a:r>
              <a:rPr b="1" lang="en-US" sz="1500" spc="-1" strike="noStrike">
                <a:solidFill>
                  <a:srgbClr val="162447"/>
                </a:solidFill>
                <a:latin typeface="Calibri"/>
                <a:ea typeface="Calibri"/>
              </a:rPr>
              <a:t>One tool, every axis</a:t>
            </a:r>
            <a:endParaRPr b="0" lang="en-GB" sz="1500" spc="-1" strike="noStrike">
              <a:solidFill>
                <a:srgbClr val="000000"/>
              </a:solidFill>
              <a:latin typeface="Arial"/>
            </a:endParaRPr>
          </a:p>
        </p:txBody>
      </p:sp>
      <p:sp>
        <p:nvSpPr>
          <p:cNvPr id="87" name="Text 10"/>
          <p:cNvSpPr/>
          <p:nvPr/>
        </p:nvSpPr>
        <p:spPr>
          <a:xfrm>
            <a:off x="4617720" y="3703320"/>
            <a:ext cx="2971440" cy="1965600"/>
          </a:xfrm>
          <a:prstGeom prst="rect">
            <a:avLst/>
          </a:prstGeom>
          <a:noFill/>
          <a:ln w="0">
            <a:noFill/>
          </a:ln>
        </p:spPr>
        <p:style>
          <a:lnRef idx="0"/>
          <a:fillRef idx="0"/>
          <a:effectRef idx="0"/>
          <a:fontRef idx="minor"/>
        </p:style>
        <p:txBody>
          <a:bodyPr lIns="0" rIns="0" tIns="0" bIns="0" anchor="ctr">
            <a:noAutofit/>
          </a:bodyPr>
          <a:p>
            <a:pPr defTabSz="914400">
              <a:lnSpc>
                <a:spcPts val="1551"/>
              </a:lnSpc>
              <a:tabLst>
                <a:tab algn="l" pos="0"/>
              </a:tabLst>
            </a:pPr>
            <a:r>
              <a:rPr b="0" lang="en-US" sz="1150" spc="-1" strike="noStrike">
                <a:solidFill>
                  <a:srgbClr val="1b2430"/>
                </a:solidFill>
                <a:latin typeface="Calibri"/>
                <a:ea typeface="Calibri"/>
              </a:rPr>
              <a:t>llama-bench exposes threads, context depth, batch size, KV-cache quant, and Flash Attention as simple flags, emitting clean structured output — no other CPU stack exposes this much through one interface.</a:t>
            </a:r>
            <a:endParaRPr b="0" lang="en-GB" sz="1150" spc="-1" strike="noStrike">
              <a:solidFill>
                <a:srgbClr val="000000"/>
              </a:solidFill>
              <a:latin typeface="Arial"/>
            </a:endParaRPr>
          </a:p>
        </p:txBody>
      </p:sp>
      <p:sp>
        <p:nvSpPr>
          <p:cNvPr id="88" name="Shape 11"/>
          <p:cNvSpPr/>
          <p:nvPr/>
        </p:nvSpPr>
        <p:spPr>
          <a:xfrm>
            <a:off x="8138160" y="2240280"/>
            <a:ext cx="3520080" cy="3565800"/>
          </a:xfrm>
          <a:prstGeom prst="roundRect">
            <a:avLst>
              <a:gd name="adj" fmla="val 2078"/>
            </a:avLst>
          </a:prstGeom>
          <a:solidFill>
            <a:srgbClr val="ffffff"/>
          </a:solidFill>
          <a:ln w="12700">
            <a:solidFill>
              <a:srgbClr val="e3e8ec"/>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89" name="Text 12"/>
          <p:cNvSpPr/>
          <p:nvPr/>
        </p:nvSpPr>
        <p:spPr>
          <a:xfrm>
            <a:off x="8412480" y="2468880"/>
            <a:ext cx="13712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1f8a9e"/>
                </a:solidFill>
                <a:latin typeface="Cambria"/>
                <a:ea typeface="Cambria"/>
              </a:rPr>
              <a:t>03</a:t>
            </a:r>
            <a:endParaRPr b="0" lang="en-GB" sz="2600" spc="-1" strike="noStrike">
              <a:solidFill>
                <a:srgbClr val="000000"/>
              </a:solidFill>
              <a:latin typeface="Arial"/>
            </a:endParaRPr>
          </a:p>
        </p:txBody>
      </p:sp>
      <p:sp>
        <p:nvSpPr>
          <p:cNvPr id="90" name="Text 13"/>
          <p:cNvSpPr/>
          <p:nvPr/>
        </p:nvSpPr>
        <p:spPr>
          <a:xfrm>
            <a:off x="8412480" y="3063240"/>
            <a:ext cx="2971440" cy="594000"/>
          </a:xfrm>
          <a:prstGeom prst="rect">
            <a:avLst/>
          </a:prstGeom>
          <a:noFill/>
          <a:ln w="0">
            <a:noFill/>
          </a:ln>
        </p:spPr>
        <p:style>
          <a:lnRef idx="0"/>
          <a:fillRef idx="0"/>
          <a:effectRef idx="0"/>
          <a:fontRef idx="minor"/>
        </p:style>
        <p:txBody>
          <a:bodyPr lIns="0" rIns="0" tIns="0" bIns="0" anchor="ctr">
            <a:noAutofit/>
          </a:bodyPr>
          <a:p>
            <a:pPr defTabSz="914400">
              <a:lnSpc>
                <a:spcPts val="1800"/>
              </a:lnSpc>
              <a:tabLst>
                <a:tab algn="l" pos="0"/>
              </a:tabLst>
            </a:pPr>
            <a:r>
              <a:rPr b="1" lang="en-US" sz="1500" spc="-1" strike="noStrike">
                <a:solidFill>
                  <a:srgbClr val="162447"/>
                </a:solidFill>
                <a:latin typeface="Calibri"/>
                <a:ea typeface="Calibri"/>
              </a:rPr>
              <a:t>The GGUF ecosystem</a:t>
            </a:r>
            <a:endParaRPr b="0" lang="en-GB" sz="1500" spc="-1" strike="noStrike">
              <a:solidFill>
                <a:srgbClr val="000000"/>
              </a:solidFill>
              <a:latin typeface="Arial"/>
            </a:endParaRPr>
          </a:p>
        </p:txBody>
      </p:sp>
      <p:sp>
        <p:nvSpPr>
          <p:cNvPr id="91" name="Text 14"/>
          <p:cNvSpPr/>
          <p:nvPr/>
        </p:nvSpPr>
        <p:spPr>
          <a:xfrm>
            <a:off x="8412480" y="3703320"/>
            <a:ext cx="2971440" cy="1965600"/>
          </a:xfrm>
          <a:prstGeom prst="rect">
            <a:avLst/>
          </a:prstGeom>
          <a:noFill/>
          <a:ln w="0">
            <a:noFill/>
          </a:ln>
        </p:spPr>
        <p:style>
          <a:lnRef idx="0"/>
          <a:fillRef idx="0"/>
          <a:effectRef idx="0"/>
          <a:fontRef idx="minor"/>
        </p:style>
        <p:txBody>
          <a:bodyPr lIns="0" rIns="0" tIns="0" bIns="0" anchor="ctr">
            <a:noAutofit/>
          </a:bodyPr>
          <a:p>
            <a:pPr defTabSz="914400">
              <a:lnSpc>
                <a:spcPts val="1551"/>
              </a:lnSpc>
              <a:tabLst>
                <a:tab algn="l" pos="0"/>
              </a:tabLst>
            </a:pPr>
            <a:r>
              <a:rPr b="0" lang="en-US" sz="1150" spc="-1" strike="noStrike">
                <a:solidFill>
                  <a:srgbClr val="1b2430"/>
                </a:solidFill>
                <a:latin typeface="Calibri"/>
                <a:ea typeface="Calibri"/>
              </a:rPr>
              <a:t>Pre-quantized weights from 2 to 8 bits, in both legacy and newer K-quant formats, letting quantization format itself become an experimental variable rather than a fixed detail.</a:t>
            </a:r>
            <a:endParaRPr b="0" lang="en-GB" sz="1150" spc="-1" strike="noStrike">
              <a:solidFill>
                <a:srgbClr val="000000"/>
              </a:solidFill>
              <a:latin typeface="Arial"/>
            </a:endParaRPr>
          </a:p>
        </p:txBody>
      </p:sp>
      <p:sp>
        <p:nvSpPr>
          <p:cNvPr id="92" name="Text 15"/>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03</a:t>
            </a:r>
            <a:endParaRPr b="0" lang="en-GB" sz="1000" spc="-1" strike="noStrike">
              <a:solidFill>
                <a:srgbClr val="000000"/>
              </a:solidFill>
              <a:latin typeface="Arial"/>
            </a:endParaRPr>
          </a:p>
        </p:txBody>
      </p:sp>
      <p:pic>
        <p:nvPicPr>
          <p:cNvPr id="93" name="Picture 92" descr="image.png"/>
          <p:cNvPicPr>
            <a:picLocks noChangeAspect="1"/>
          </p:cNvPicPr>
          <p:nvPr/>
        </p:nvPicPr>
        <p:blipFill>
          <a:blip r:embed="rId3"/>
          <a:stretch>
            <a:fillRect/>
          </a:stretch>
        </p:blipFill>
        <p:spPr>
          <a:xfrm>
            <a:off x="3588720" y="2498880"/>
            <a:ext cx="240000" cy="240000"/>
          </a:xfrm>
          <a:prstGeom prst="rect">
            <a:avLst/>
          </a:prstGeom>
        </p:spPr>
      </p:pic>
      <p:pic>
        <p:nvPicPr>
          <p:cNvPr id="94" name="Picture 93" descr="image.png"/>
          <p:cNvPicPr>
            <a:picLocks noChangeAspect="1"/>
          </p:cNvPicPr>
          <p:nvPr/>
        </p:nvPicPr>
        <p:blipFill>
          <a:blip r:embed="rId4"/>
          <a:stretch>
            <a:fillRect/>
          </a:stretch>
        </p:blipFill>
        <p:spPr>
          <a:xfrm>
            <a:off x="7383480" y="2498880"/>
            <a:ext cx="240000" cy="240000"/>
          </a:xfrm>
          <a:prstGeom prst="rect">
            <a:avLst/>
          </a:prstGeom>
        </p:spPr>
      </p:pic>
      <p:pic>
        <p:nvPicPr>
          <p:cNvPr id="95" name="Picture 94" descr="image.png"/>
          <p:cNvPicPr>
            <a:picLocks noChangeAspect="1"/>
          </p:cNvPicPr>
          <p:nvPr/>
        </p:nvPicPr>
        <p:blipFill>
          <a:blip r:embed="rId5"/>
          <a:stretch>
            <a:fillRect/>
          </a:stretch>
        </p:blipFill>
        <p:spPr>
          <a:xfrm>
            <a:off x="11178240" y="2498880"/>
            <a:ext cx="240000" cy="240000"/>
          </a:xfrm>
          <a:prstGeom prst="rect">
            <a:avLst/>
          </a:prstGeom>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93"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TWO ARCHITECTURE FAMILIES</a:t>
            </a:r>
            <a:endParaRPr b="0" lang="en-GB" sz="1200" spc="-1" strike="noStrike">
              <a:solidFill>
                <a:srgbClr val="000000"/>
              </a:solidFill>
              <a:latin typeface="Arial"/>
            </a:endParaRPr>
          </a:p>
        </p:txBody>
      </p:sp>
      <p:sp>
        <p:nvSpPr>
          <p:cNvPr id="94"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Dense vs. Mixture-of-Experts, and the contributions</a:t>
            </a:r>
            <a:endParaRPr b="0" lang="en-GB" sz="3000" spc="-1" strike="noStrike">
              <a:solidFill>
                <a:srgbClr val="000000"/>
              </a:solidFill>
              <a:latin typeface="Arial"/>
            </a:endParaRPr>
          </a:p>
        </p:txBody>
      </p:sp>
      <p:sp>
        <p:nvSpPr>
          <p:cNvPr id="95" name="Shape 2"/>
          <p:cNvSpPr/>
          <p:nvPr/>
        </p:nvSpPr>
        <p:spPr>
          <a:xfrm>
            <a:off x="548640" y="1554480"/>
            <a:ext cx="5120280" cy="1737000"/>
          </a:xfrm>
          <a:prstGeom prst="roundRect">
            <a:avLst>
              <a:gd name="adj" fmla="val 4211"/>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96" name="Text 3"/>
          <p:cNvSpPr/>
          <p:nvPr/>
        </p:nvSpPr>
        <p:spPr>
          <a:xfrm>
            <a:off x="822960" y="1719000"/>
            <a:ext cx="2742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48" strike="noStrike">
                <a:solidFill>
                  <a:srgbClr val="1f3a63"/>
                </a:solidFill>
                <a:latin typeface="Calibri"/>
                <a:ea typeface="Calibri"/>
              </a:rPr>
              <a:t>DENSE MODELS</a:t>
            </a:r>
            <a:endParaRPr b="0" lang="en-GB" sz="1100" spc="-1" strike="noStrike">
              <a:solidFill>
                <a:srgbClr val="000000"/>
              </a:solidFill>
              <a:latin typeface="Arial"/>
            </a:endParaRPr>
          </a:p>
        </p:txBody>
      </p:sp>
      <p:sp>
        <p:nvSpPr>
          <p:cNvPr id="97" name="Text 4"/>
          <p:cNvSpPr/>
          <p:nvPr/>
        </p:nvSpPr>
        <p:spPr>
          <a:xfrm>
            <a:off x="822960" y="2011680"/>
            <a:ext cx="4571640" cy="1096920"/>
          </a:xfrm>
          <a:prstGeom prst="rect">
            <a:avLst/>
          </a:prstGeom>
          <a:noFill/>
          <a:ln w="0">
            <a:noFill/>
          </a:ln>
        </p:spPr>
        <p:style>
          <a:lnRef idx="0"/>
          <a:fillRef idx="0"/>
          <a:effectRef idx="0"/>
          <a:fontRef idx="minor"/>
        </p:style>
        <p:txBody>
          <a:bodyPr lIns="0" rIns="0" tIns="0" bIns="0" anchor="ctr">
            <a:noAutofit/>
          </a:bodyPr>
          <a:p>
            <a:pPr defTabSz="914400">
              <a:lnSpc>
                <a:spcPts val="1701"/>
              </a:lnSpc>
              <a:tabLst>
                <a:tab algn="l" pos="0"/>
              </a:tabLst>
            </a:pPr>
            <a:r>
              <a:rPr b="0" lang="en-US" sz="1250" spc="-1" strike="noStrike">
                <a:solidFill>
                  <a:srgbClr val="1b2430"/>
                </a:solidFill>
                <a:latin typeface="Calibri"/>
                <a:ea typeface="Calibri"/>
              </a:rPr>
              <a:t>Every parameter activates on every token. Cost per generated token is fixed by total parameter count × bit-width.</a:t>
            </a:r>
            <a:endParaRPr b="0" lang="en-GB" sz="1250" spc="-1" strike="noStrike">
              <a:solidFill>
                <a:srgbClr val="000000"/>
              </a:solidFill>
              <a:latin typeface="Arial"/>
            </a:endParaRPr>
          </a:p>
        </p:txBody>
      </p:sp>
      <p:sp>
        <p:nvSpPr>
          <p:cNvPr id="98" name="Shape 5"/>
          <p:cNvSpPr/>
          <p:nvPr/>
        </p:nvSpPr>
        <p:spPr>
          <a:xfrm>
            <a:off x="5943600" y="1554480"/>
            <a:ext cx="5668920" cy="1737000"/>
          </a:xfrm>
          <a:prstGeom prst="roundRect">
            <a:avLst>
              <a:gd name="adj" fmla="val 4211"/>
            </a:avLst>
          </a:prstGeom>
          <a:solidFill>
            <a:srgbClr val="162447"/>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99" name="Text 6"/>
          <p:cNvSpPr/>
          <p:nvPr/>
        </p:nvSpPr>
        <p:spPr>
          <a:xfrm>
            <a:off x="6217920" y="1719000"/>
            <a:ext cx="36572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48" strike="noStrike">
                <a:solidFill>
                  <a:srgbClr val="e8a33d"/>
                </a:solidFill>
                <a:latin typeface="Calibri"/>
                <a:ea typeface="Calibri"/>
              </a:rPr>
              <a:t>MIXTURE-OF-EXPERTS</a:t>
            </a:r>
            <a:endParaRPr b="0" lang="en-GB" sz="1100" spc="-1" strike="noStrike">
              <a:solidFill>
                <a:srgbClr val="000000"/>
              </a:solidFill>
              <a:latin typeface="Arial"/>
            </a:endParaRPr>
          </a:p>
        </p:txBody>
      </p:sp>
      <p:sp>
        <p:nvSpPr>
          <p:cNvPr id="100" name="Text 7"/>
          <p:cNvSpPr/>
          <p:nvPr/>
        </p:nvSpPr>
        <p:spPr>
          <a:xfrm>
            <a:off x="6217920" y="2011680"/>
            <a:ext cx="5120280" cy="1188360"/>
          </a:xfrm>
          <a:prstGeom prst="rect">
            <a:avLst/>
          </a:prstGeom>
          <a:noFill/>
          <a:ln w="0">
            <a:noFill/>
          </a:ln>
        </p:spPr>
        <p:style>
          <a:lnRef idx="0"/>
          <a:fillRef idx="0"/>
          <a:effectRef idx="0"/>
          <a:fontRef idx="minor"/>
        </p:style>
        <p:txBody>
          <a:bodyPr lIns="0" rIns="0" tIns="0" bIns="0" anchor="ctr">
            <a:noAutofit/>
          </a:bodyPr>
          <a:p>
            <a:pPr defTabSz="914400">
              <a:lnSpc>
                <a:spcPts val="1701"/>
              </a:lnSpc>
              <a:tabLst>
                <a:tab algn="l" pos="0"/>
              </a:tabLst>
            </a:pPr>
            <a:r>
              <a:rPr b="0" lang="en-US" sz="1250" spc="-1" strike="noStrike">
                <a:solidFill>
                  <a:srgbClr val="ffffff"/>
                </a:solidFill>
                <a:latin typeface="Calibri"/>
                <a:ea typeface="Calibri"/>
              </a:rPr>
              <a:t>A router activates only a handful of experts per token — e.g. 14B total but only ~2.7B active. On CPU, where generation is bandwidth-bound, this decouples speed from total capacity.</a:t>
            </a:r>
            <a:endParaRPr b="0" lang="en-GB" sz="1250" spc="-1" strike="noStrike">
              <a:solidFill>
                <a:srgbClr val="000000"/>
              </a:solidFill>
              <a:latin typeface="Arial"/>
            </a:endParaRPr>
          </a:p>
        </p:txBody>
      </p:sp>
      <p:sp>
        <p:nvSpPr>
          <p:cNvPr id="101" name="Text 8"/>
          <p:cNvSpPr/>
          <p:nvPr/>
        </p:nvSpPr>
        <p:spPr>
          <a:xfrm>
            <a:off x="548640" y="3520440"/>
            <a:ext cx="5486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48" strike="noStrike">
                <a:solidFill>
                  <a:srgbClr val="1f8a9e"/>
                </a:solidFill>
                <a:latin typeface="Calibri"/>
                <a:ea typeface="Calibri"/>
              </a:rPr>
              <a:t>CONTRIBUTIONS OF THIS THESIS</a:t>
            </a:r>
            <a:endParaRPr b="0" lang="en-GB" sz="1200" spc="-1" strike="noStrike">
              <a:solidFill>
                <a:srgbClr val="000000"/>
              </a:solidFill>
              <a:latin typeface="Arial"/>
            </a:endParaRPr>
          </a:p>
        </p:txBody>
      </p:sp>
      <p:sp>
        <p:nvSpPr>
          <p:cNvPr id="102" name="Shape 9"/>
          <p:cNvSpPr/>
          <p:nvPr/>
        </p:nvSpPr>
        <p:spPr>
          <a:xfrm>
            <a:off x="548640" y="3931920"/>
            <a:ext cx="383760" cy="383760"/>
          </a:xfrm>
          <a:prstGeom prst="roundRect">
            <a:avLst>
              <a:gd name="adj" fmla="val 14286"/>
            </a:avLst>
          </a:prstGeom>
          <a:solidFill>
            <a:srgbClr val="dceff2"/>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03" name="Text 10"/>
          <p:cNvSpPr/>
          <p:nvPr/>
        </p:nvSpPr>
        <p:spPr>
          <a:xfrm>
            <a:off x="548640" y="39319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162447"/>
                </a:solidFill>
                <a:latin typeface="Cambria"/>
                <a:ea typeface="Cambria"/>
              </a:rPr>
              <a:t>1</a:t>
            </a:r>
            <a:endParaRPr b="0" lang="en-GB" sz="1500" spc="-1" strike="noStrike">
              <a:solidFill>
                <a:srgbClr val="000000"/>
              </a:solidFill>
              <a:latin typeface="Arial"/>
            </a:endParaRPr>
          </a:p>
        </p:txBody>
      </p:sp>
      <p:sp>
        <p:nvSpPr>
          <p:cNvPr id="104" name="Text 11"/>
          <p:cNvSpPr/>
          <p:nvPr/>
        </p:nvSpPr>
        <p:spPr>
          <a:xfrm>
            <a:off x="1097280" y="3950280"/>
            <a:ext cx="10332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1b2430"/>
                </a:solidFill>
                <a:latin typeface="Calibri"/>
                <a:ea typeface="Calibri"/>
              </a:rPr>
              <a:t>An empirical characterization of four hardware effects across real, heterogeneous devices</a:t>
            </a:r>
            <a:endParaRPr b="0" lang="en-GB" sz="1300" spc="-1" strike="noStrike">
              <a:solidFill>
                <a:srgbClr val="000000"/>
              </a:solidFill>
              <a:latin typeface="Arial"/>
            </a:endParaRPr>
          </a:p>
        </p:txBody>
      </p:sp>
      <p:sp>
        <p:nvSpPr>
          <p:cNvPr id="105" name="Shape 12"/>
          <p:cNvSpPr/>
          <p:nvPr/>
        </p:nvSpPr>
        <p:spPr>
          <a:xfrm>
            <a:off x="548640" y="4498920"/>
            <a:ext cx="383760" cy="383760"/>
          </a:xfrm>
          <a:prstGeom prst="roundRect">
            <a:avLst>
              <a:gd name="adj" fmla="val 14286"/>
            </a:avLst>
          </a:prstGeom>
          <a:solidFill>
            <a:srgbClr val="dceff2"/>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06" name="Text 13"/>
          <p:cNvSpPr/>
          <p:nvPr/>
        </p:nvSpPr>
        <p:spPr>
          <a:xfrm>
            <a:off x="548640" y="44989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162447"/>
                </a:solidFill>
                <a:latin typeface="Cambria"/>
                <a:ea typeface="Cambria"/>
              </a:rPr>
              <a:t>2</a:t>
            </a:r>
            <a:endParaRPr b="0" lang="en-GB" sz="1500" spc="-1" strike="noStrike">
              <a:solidFill>
                <a:srgbClr val="000000"/>
              </a:solidFill>
              <a:latin typeface="Arial"/>
            </a:endParaRPr>
          </a:p>
        </p:txBody>
      </p:sp>
      <p:sp>
        <p:nvSpPr>
          <p:cNvPr id="107" name="Text 14"/>
          <p:cNvSpPr/>
          <p:nvPr/>
        </p:nvSpPr>
        <p:spPr>
          <a:xfrm>
            <a:off x="1097280" y="4517280"/>
            <a:ext cx="10332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1b2430"/>
                </a:solidFill>
                <a:latin typeface="Calibri"/>
                <a:ea typeface="Calibri"/>
              </a:rPr>
              <a:t>A roofline-style model explaining them with a handful of per-device calibration constants</a:t>
            </a:r>
            <a:endParaRPr b="0" lang="en-GB" sz="1300" spc="-1" strike="noStrike">
              <a:solidFill>
                <a:srgbClr val="000000"/>
              </a:solidFill>
              <a:latin typeface="Arial"/>
            </a:endParaRPr>
          </a:p>
        </p:txBody>
      </p:sp>
      <p:sp>
        <p:nvSpPr>
          <p:cNvPr id="108" name="Shape 15"/>
          <p:cNvSpPr/>
          <p:nvPr/>
        </p:nvSpPr>
        <p:spPr>
          <a:xfrm>
            <a:off x="548640" y="5065920"/>
            <a:ext cx="383760" cy="383760"/>
          </a:xfrm>
          <a:prstGeom prst="roundRect">
            <a:avLst>
              <a:gd name="adj" fmla="val 14286"/>
            </a:avLst>
          </a:prstGeom>
          <a:solidFill>
            <a:srgbClr val="dceff2"/>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09" name="Text 16"/>
          <p:cNvSpPr/>
          <p:nvPr/>
        </p:nvSpPr>
        <p:spPr>
          <a:xfrm>
            <a:off x="548640" y="506592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162447"/>
                </a:solidFill>
                <a:latin typeface="Cambria"/>
                <a:ea typeface="Cambria"/>
              </a:rPr>
              <a:t>3</a:t>
            </a:r>
            <a:endParaRPr b="0" lang="en-GB" sz="1500" spc="-1" strike="noStrike">
              <a:solidFill>
                <a:srgbClr val="000000"/>
              </a:solidFill>
              <a:latin typeface="Arial"/>
            </a:endParaRPr>
          </a:p>
        </p:txBody>
      </p:sp>
      <p:sp>
        <p:nvSpPr>
          <p:cNvPr id="110" name="Text 17"/>
          <p:cNvSpPr/>
          <p:nvPr/>
        </p:nvSpPr>
        <p:spPr>
          <a:xfrm>
            <a:off x="1097280" y="5083920"/>
            <a:ext cx="10332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1b2430"/>
                </a:solidFill>
                <a:latin typeface="Calibri"/>
                <a:ea typeface="Calibri"/>
              </a:rPr>
              <a:t>An extension of that model to the Mixture-of-Experts case, via a bytes-per-token argument</a:t>
            </a:r>
            <a:endParaRPr b="0" lang="en-GB" sz="1300" spc="-1" strike="noStrike">
              <a:solidFill>
                <a:srgbClr val="000000"/>
              </a:solidFill>
              <a:latin typeface="Arial"/>
            </a:endParaRPr>
          </a:p>
        </p:txBody>
      </p:sp>
      <p:sp>
        <p:nvSpPr>
          <p:cNvPr id="111" name="Shape 18"/>
          <p:cNvSpPr/>
          <p:nvPr/>
        </p:nvSpPr>
        <p:spPr>
          <a:xfrm>
            <a:off x="548640" y="5632560"/>
            <a:ext cx="383760" cy="383760"/>
          </a:xfrm>
          <a:prstGeom prst="roundRect">
            <a:avLst>
              <a:gd name="adj" fmla="val 14286"/>
            </a:avLst>
          </a:prstGeom>
          <a:solidFill>
            <a:srgbClr val="dceff2"/>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12" name="Text 19"/>
          <p:cNvSpPr/>
          <p:nvPr/>
        </p:nvSpPr>
        <p:spPr>
          <a:xfrm>
            <a:off x="548640" y="5632560"/>
            <a:ext cx="38376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162447"/>
                </a:solidFill>
                <a:latin typeface="Cambria"/>
                <a:ea typeface="Cambria"/>
              </a:rPr>
              <a:t>4</a:t>
            </a:r>
            <a:endParaRPr b="0" lang="en-GB" sz="1500" spc="-1" strike="noStrike">
              <a:solidFill>
                <a:srgbClr val="000000"/>
              </a:solidFill>
              <a:latin typeface="Arial"/>
            </a:endParaRPr>
          </a:p>
        </p:txBody>
      </p:sp>
      <p:sp>
        <p:nvSpPr>
          <p:cNvPr id="113" name="Text 20"/>
          <p:cNvSpPr/>
          <p:nvPr/>
        </p:nvSpPr>
        <p:spPr>
          <a:xfrm>
            <a:off x="1097280" y="5650920"/>
            <a:ext cx="103323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pc="-1" strike="noStrike">
                <a:solidFill>
                  <a:srgbClr val="1b2430"/>
                </a:solidFill>
                <a:latin typeface="Calibri"/>
                <a:ea typeface="Calibri"/>
              </a:rPr>
              <a:t>Open data, benchmarking harness, and web calculator, released publicly on GitHub</a:t>
            </a:r>
            <a:endParaRPr b="0" lang="en-GB" sz="1300" spc="-1" strike="noStrike">
              <a:solidFill>
                <a:srgbClr val="000000"/>
              </a:solidFill>
              <a:latin typeface="Arial"/>
            </a:endParaRPr>
          </a:p>
        </p:txBody>
      </p:sp>
      <p:sp>
        <p:nvSpPr>
          <p:cNvPr id="114" name="Text 21"/>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04</a:t>
            </a:r>
            <a:endParaRPr b="0" lang="en-GB"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115"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INSTRUMENTATION &amp; DATA COLLECTION</a:t>
            </a:r>
            <a:endParaRPr b="0" lang="en-GB" sz="1200" spc="-1" strike="noStrike">
              <a:solidFill>
                <a:srgbClr val="000000"/>
              </a:solidFill>
              <a:latin typeface="Arial"/>
            </a:endParaRPr>
          </a:p>
        </p:txBody>
      </p:sp>
      <p:sp>
        <p:nvSpPr>
          <p:cNvPr id="116"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Three machines, a ~70× throughput range</a:t>
            </a:r>
            <a:endParaRPr b="0" lang="en-GB" sz="3000" spc="-1" strike="noStrike">
              <a:solidFill>
                <a:srgbClr val="000000"/>
              </a:solidFill>
              <a:latin typeface="Arial"/>
            </a:endParaRPr>
          </a:p>
        </p:txBody>
      </p:sp>
      <p:graphicFrame>
        <p:nvGraphicFramePr>
          <p:cNvPr id="117" name="Table 0"/>
          <p:cNvGraphicFramePr/>
          <p:nvPr/>
        </p:nvGraphicFramePr>
        <p:xfrm>
          <a:off x="548640" y="1600200"/>
          <a:ext cx="11063880" cy="1828800"/>
        </p:xfrm>
        <a:graphic>
          <a:graphicData uri="http://schemas.openxmlformats.org/drawingml/2006/table">
            <a:tbl>
              <a:tblPr/>
              <a:tblGrid>
                <a:gridCol w="1920240"/>
                <a:gridCol w="3840480"/>
                <a:gridCol w="2834640"/>
                <a:gridCol w="2468880"/>
              </a:tblGrid>
              <a:tr h="457200">
                <a:tc>
                  <a:txBody>
                    <a:bodyPr anchor="ctr">
                      <a:noAutofit/>
                    </a:bodyPr>
                    <a:p>
                      <a:pPr defTabSz="914400">
                        <a:lnSpc>
                          <a:spcPct val="100000"/>
                        </a:lnSpc>
                        <a:tabLst>
                          <a:tab algn="l" pos="0"/>
                        </a:tabLst>
                      </a:pPr>
                      <a:r>
                        <a:rPr b="1" lang="en-US" sz="1200" spc="-1" strike="noStrike">
                          <a:solidFill>
                            <a:srgbClr val="ffffff"/>
                          </a:solidFill>
                          <a:latin typeface="Calibri"/>
                          <a:ea typeface="Calibri"/>
                        </a:rPr>
                        <a:t>Machine</a:t>
                      </a:r>
                      <a:endParaRPr b="0" lang="en-GB" sz="1200" spc="-1" strike="noStrike">
                        <a:solidFill>
                          <a:srgbClr val="ffffff"/>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solidFill>
                      <a:srgbClr val="162447"/>
                    </a:solidFill>
                  </a:tcPr>
                </a:tc>
                <a:tc>
                  <a:txBody>
                    <a:bodyPr anchor="ctr">
                      <a:noAutofit/>
                    </a:bodyPr>
                    <a:p>
                      <a:pPr defTabSz="914400">
                        <a:lnSpc>
                          <a:spcPct val="100000"/>
                        </a:lnSpc>
                        <a:tabLst>
                          <a:tab algn="l" pos="0"/>
                        </a:tabLst>
                      </a:pPr>
                      <a:r>
                        <a:rPr b="1" lang="en-US" sz="1200" spc="-1" strike="noStrike">
                          <a:solidFill>
                            <a:srgbClr val="ffffff"/>
                          </a:solidFill>
                          <a:latin typeface="Calibri"/>
                          <a:ea typeface="Calibri"/>
                        </a:rPr>
                        <a:t>CPU</a:t>
                      </a:r>
                      <a:endParaRPr b="0" lang="en-GB" sz="1200" spc="-1" strike="noStrike">
                        <a:solidFill>
                          <a:srgbClr val="ffffff"/>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solidFill>
                      <a:srgbClr val="162447"/>
                    </a:solidFill>
                  </a:tcPr>
                </a:tc>
                <a:tc>
                  <a:txBody>
                    <a:bodyPr anchor="ctr">
                      <a:noAutofit/>
                    </a:bodyPr>
                    <a:p>
                      <a:pPr defTabSz="914400">
                        <a:lnSpc>
                          <a:spcPct val="100000"/>
                        </a:lnSpc>
                        <a:tabLst>
                          <a:tab algn="l" pos="0"/>
                        </a:tabLst>
                      </a:pPr>
                      <a:r>
                        <a:rPr b="1" lang="en-US" sz="1200" spc="-1" strike="noStrike">
                          <a:solidFill>
                            <a:srgbClr val="ffffff"/>
                          </a:solidFill>
                          <a:latin typeface="Calibri"/>
                          <a:ea typeface="Calibri"/>
                        </a:rPr>
                        <a:t>Memory</a:t>
                      </a:r>
                      <a:endParaRPr b="0" lang="en-GB" sz="1200" spc="-1" strike="noStrike">
                        <a:solidFill>
                          <a:srgbClr val="ffffff"/>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solidFill>
                      <a:srgbClr val="162447"/>
                    </a:solidFill>
                  </a:tcPr>
                </a:tc>
                <a:tc>
                  <a:txBody>
                    <a:bodyPr anchor="ctr">
                      <a:noAutofit/>
                    </a:bodyPr>
                    <a:p>
                      <a:pPr defTabSz="914400">
                        <a:lnSpc>
                          <a:spcPct val="100000"/>
                        </a:lnSpc>
                        <a:tabLst>
                          <a:tab algn="l" pos="0"/>
                        </a:tabLst>
                      </a:pPr>
                      <a:r>
                        <a:rPr b="1" lang="en-US" sz="1200" spc="-1" strike="noStrike">
                          <a:solidFill>
                            <a:srgbClr val="ffffff"/>
                          </a:solidFill>
                          <a:latin typeface="Calibri"/>
                          <a:ea typeface="Calibri"/>
                        </a:rPr>
                        <a:t>Role</a:t>
                      </a:r>
                      <a:endParaRPr b="0" lang="en-GB" sz="1200" spc="-1" strike="noStrike">
                        <a:solidFill>
                          <a:srgbClr val="ffffff"/>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solidFill>
                      <a:srgbClr val="162447"/>
                    </a:solidFill>
                  </a:tcPr>
                </a:tc>
              </a:tr>
              <a:tr h="457200">
                <a:tc>
                  <a:txBody>
                    <a:bodyPr anchor="ctr">
                      <a:noAutofit/>
                    </a:bodyPr>
                    <a:p>
                      <a:pPr defTabSz="914400">
                        <a:lnSpc>
                          <a:spcPct val="100000"/>
                        </a:lnSpc>
                        <a:tabLst>
                          <a:tab algn="l" pos="0"/>
                        </a:tabLst>
                      </a:pPr>
                      <a:r>
                        <a:rPr b="0" lang="en-US" sz="1200" spc="-1" strike="noStrike">
                          <a:solidFill>
                            <a:srgbClr val="1b2430"/>
                          </a:solidFill>
                          <a:latin typeface="Calibri"/>
                          <a:ea typeface="Calibri"/>
                        </a:rPr>
                        <a:t>Laptop</a:t>
                      </a:r>
                      <a:endParaRPr b="0" lang="en-GB" sz="1200" spc="-1" strike="noStrike">
                        <a:solidFill>
                          <a:srgbClr val="000000"/>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noFill/>
                  </a:tcPr>
                </a:tc>
                <a:tc>
                  <a:txBody>
                    <a:bodyPr anchor="ctr">
                      <a:noAutofit/>
                    </a:bodyPr>
                    <a:p>
                      <a:pPr defTabSz="914400">
                        <a:lnSpc>
                          <a:spcPct val="100000"/>
                        </a:lnSpc>
                        <a:tabLst>
                          <a:tab algn="l" pos="0"/>
                        </a:tabLst>
                      </a:pPr>
                      <a:r>
                        <a:rPr b="0" lang="en-US" sz="1200" spc="-1" strike="noStrike">
                          <a:solidFill>
                            <a:srgbClr val="1b2430"/>
                          </a:solidFill>
                          <a:latin typeface="Calibri"/>
                          <a:ea typeface="Calibri"/>
                        </a:rPr>
                        <a:t>AMD Ryzen 5 5600H (6C/12T)</a:t>
                      </a:r>
                      <a:endParaRPr b="0" lang="en-GB" sz="1200" spc="-1" strike="noStrike">
                        <a:solidFill>
                          <a:srgbClr val="000000"/>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noFill/>
                  </a:tcPr>
                </a:tc>
                <a:tc>
                  <a:txBody>
                    <a:bodyPr anchor="ctr">
                      <a:noAutofit/>
                    </a:bodyPr>
                    <a:p>
                      <a:pPr defTabSz="914400">
                        <a:lnSpc>
                          <a:spcPct val="100000"/>
                        </a:lnSpc>
                        <a:tabLst>
                          <a:tab algn="l" pos="0"/>
                        </a:tabLst>
                      </a:pPr>
                      <a:r>
                        <a:rPr b="0" lang="en-US" sz="1200" spc="-1" strike="noStrike">
                          <a:solidFill>
                            <a:srgbClr val="1b2430"/>
                          </a:solidFill>
                          <a:latin typeface="Calibri"/>
                          <a:ea typeface="Calibri"/>
                        </a:rPr>
                        <a:t>16GB DDR4, ~51 GB/s</a:t>
                      </a:r>
                      <a:endParaRPr b="0" lang="en-GB" sz="1200" spc="-1" strike="noStrike">
                        <a:solidFill>
                          <a:srgbClr val="000000"/>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noFill/>
                  </a:tcPr>
                </a:tc>
                <a:tc>
                  <a:txBody>
                    <a:bodyPr anchor="ctr">
                      <a:noAutofit/>
                    </a:bodyPr>
                    <a:p>
                      <a:pPr defTabSz="914400">
                        <a:lnSpc>
                          <a:spcPct val="100000"/>
                        </a:lnSpc>
                        <a:tabLst>
                          <a:tab algn="l" pos="0"/>
                        </a:tabLst>
                      </a:pPr>
                      <a:r>
                        <a:rPr b="1" lang="en-US" sz="1200" spc="-1" strike="noStrike">
                          <a:solidFill>
                            <a:srgbClr val="1f8a9e"/>
                          </a:solidFill>
                          <a:latin typeface="Calibri"/>
                          <a:ea typeface="Calibri"/>
                        </a:rPr>
                        <a:t>Compute-rich</a:t>
                      </a:r>
                      <a:endParaRPr b="0" lang="en-GB" sz="1200" spc="-1" strike="noStrike">
                        <a:solidFill>
                          <a:srgbClr val="000000"/>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noFill/>
                  </a:tcPr>
                </a:tc>
              </a:tr>
              <a:tr h="457200">
                <a:tc>
                  <a:txBody>
                    <a:bodyPr anchor="ctr">
                      <a:noAutofit/>
                    </a:bodyPr>
                    <a:p>
                      <a:pPr defTabSz="914400">
                        <a:lnSpc>
                          <a:spcPct val="100000"/>
                        </a:lnSpc>
                        <a:tabLst>
                          <a:tab algn="l" pos="0"/>
                        </a:tabLst>
                      </a:pPr>
                      <a:r>
                        <a:rPr b="0" lang="en-US" sz="1200" spc="-1" strike="noStrike">
                          <a:solidFill>
                            <a:srgbClr val="1b2430"/>
                          </a:solidFill>
                          <a:latin typeface="Calibri"/>
                          <a:ea typeface="Calibri"/>
                        </a:rPr>
                        <a:t>Desktop</a:t>
                      </a:r>
                      <a:endParaRPr b="0" lang="en-GB" sz="1200" spc="-1" strike="noStrike">
                        <a:solidFill>
                          <a:srgbClr val="000000"/>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noFill/>
                  </a:tcPr>
                </a:tc>
                <a:tc>
                  <a:txBody>
                    <a:bodyPr anchor="ctr">
                      <a:noAutofit/>
                    </a:bodyPr>
                    <a:p>
                      <a:pPr defTabSz="914400">
                        <a:lnSpc>
                          <a:spcPct val="100000"/>
                        </a:lnSpc>
                        <a:tabLst>
                          <a:tab algn="l" pos="0"/>
                        </a:tabLst>
                      </a:pPr>
                      <a:r>
                        <a:rPr b="0" lang="en-US" sz="1200" spc="-1" strike="noStrike">
                          <a:solidFill>
                            <a:srgbClr val="1b2430"/>
                          </a:solidFill>
                          <a:latin typeface="Calibri"/>
                          <a:ea typeface="Calibri"/>
                        </a:rPr>
                        <a:t>Intel Pentium Gold G5420 (2C/4T)</a:t>
                      </a:r>
                      <a:endParaRPr b="0" lang="en-GB" sz="1200" spc="-1" strike="noStrike">
                        <a:solidFill>
                          <a:srgbClr val="000000"/>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noFill/>
                  </a:tcPr>
                </a:tc>
                <a:tc>
                  <a:txBody>
                    <a:bodyPr anchor="ctr">
                      <a:noAutofit/>
                    </a:bodyPr>
                    <a:p>
                      <a:pPr defTabSz="914400">
                        <a:lnSpc>
                          <a:spcPct val="100000"/>
                        </a:lnSpc>
                        <a:tabLst>
                          <a:tab algn="l" pos="0"/>
                        </a:tabLst>
                      </a:pPr>
                      <a:r>
                        <a:rPr b="0" lang="en-US" sz="1200" spc="-1" strike="noStrike">
                          <a:solidFill>
                            <a:srgbClr val="1b2430"/>
                          </a:solidFill>
                          <a:latin typeface="Calibri"/>
                          <a:ea typeface="Calibri"/>
                        </a:rPr>
                        <a:t>4GB DDR4, ~38 GB/s</a:t>
                      </a:r>
                      <a:endParaRPr b="0" lang="en-GB" sz="1200" spc="-1" strike="noStrike">
                        <a:solidFill>
                          <a:srgbClr val="000000"/>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noFill/>
                  </a:tcPr>
                </a:tc>
                <a:tc>
                  <a:txBody>
                    <a:bodyPr anchor="ctr">
                      <a:noAutofit/>
                    </a:bodyPr>
                    <a:p>
                      <a:pPr defTabSz="914400">
                        <a:lnSpc>
                          <a:spcPct val="100000"/>
                        </a:lnSpc>
                        <a:tabLst>
                          <a:tab algn="l" pos="0"/>
                        </a:tabLst>
                      </a:pPr>
                      <a:r>
                        <a:rPr b="1" lang="en-US" sz="1200" spc="-1" strike="noStrike">
                          <a:solidFill>
                            <a:srgbClr val="e8a33d"/>
                          </a:solidFill>
                          <a:latin typeface="Calibri"/>
                          <a:ea typeface="Calibri"/>
                        </a:rPr>
                        <a:t>Bandwidth-starved</a:t>
                      </a:r>
                      <a:endParaRPr b="0" lang="en-GB" sz="1200" spc="-1" strike="noStrike">
                        <a:solidFill>
                          <a:srgbClr val="000000"/>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noFill/>
                  </a:tcPr>
                </a:tc>
              </a:tr>
              <a:tr h="457200">
                <a:tc>
                  <a:txBody>
                    <a:bodyPr anchor="ctr">
                      <a:noAutofit/>
                    </a:bodyPr>
                    <a:p>
                      <a:pPr defTabSz="914400">
                        <a:lnSpc>
                          <a:spcPct val="100000"/>
                        </a:lnSpc>
                        <a:tabLst>
                          <a:tab algn="l" pos="0"/>
                        </a:tabLst>
                      </a:pPr>
                      <a:r>
                        <a:rPr b="0" lang="en-US" sz="1200" spc="-1" strike="noStrike">
                          <a:solidFill>
                            <a:srgbClr val="1b2430"/>
                          </a:solidFill>
                          <a:latin typeface="Calibri"/>
                          <a:ea typeface="Calibri"/>
                        </a:rPr>
                        <a:t>Jetson Nano</a:t>
                      </a:r>
                      <a:endParaRPr b="0" lang="en-GB" sz="1200" spc="-1" strike="noStrike">
                        <a:solidFill>
                          <a:srgbClr val="000000"/>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noFill/>
                  </a:tcPr>
                </a:tc>
                <a:tc>
                  <a:txBody>
                    <a:bodyPr anchor="ctr">
                      <a:noAutofit/>
                    </a:bodyPr>
                    <a:p>
                      <a:pPr defTabSz="914400">
                        <a:lnSpc>
                          <a:spcPct val="100000"/>
                        </a:lnSpc>
                        <a:tabLst>
                          <a:tab algn="l" pos="0"/>
                        </a:tabLst>
                      </a:pPr>
                      <a:r>
                        <a:rPr b="0" lang="en-US" sz="1200" spc="-1" strike="noStrike">
                          <a:solidFill>
                            <a:srgbClr val="1b2430"/>
                          </a:solidFill>
                          <a:latin typeface="Calibri"/>
                          <a:ea typeface="Calibri"/>
                        </a:rPr>
                        <a:t>ARM Cortex-A57 (4C/4T)</a:t>
                      </a:r>
                      <a:endParaRPr b="0" lang="en-GB" sz="1200" spc="-1" strike="noStrike">
                        <a:solidFill>
                          <a:srgbClr val="000000"/>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noFill/>
                  </a:tcPr>
                </a:tc>
                <a:tc>
                  <a:txBody>
                    <a:bodyPr anchor="ctr">
                      <a:noAutofit/>
                    </a:bodyPr>
                    <a:p>
                      <a:pPr defTabSz="914400">
                        <a:lnSpc>
                          <a:spcPct val="100000"/>
                        </a:lnSpc>
                        <a:tabLst>
                          <a:tab algn="l" pos="0"/>
                        </a:tabLst>
                      </a:pPr>
                      <a:r>
                        <a:rPr b="0" lang="en-US" sz="1200" spc="-1" strike="noStrike">
                          <a:solidFill>
                            <a:srgbClr val="1b2430"/>
                          </a:solidFill>
                          <a:latin typeface="Calibri"/>
                          <a:ea typeface="Calibri"/>
                        </a:rPr>
                        <a:t>3.9GB LPDDR4, ~25 GB/s</a:t>
                      </a:r>
                      <a:endParaRPr b="0" lang="en-GB" sz="1200" spc="-1" strike="noStrike">
                        <a:solidFill>
                          <a:srgbClr val="000000"/>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noFill/>
                  </a:tcPr>
                </a:tc>
                <a:tc>
                  <a:txBody>
                    <a:bodyPr anchor="ctr">
                      <a:noAutofit/>
                    </a:bodyPr>
                    <a:p>
                      <a:pPr defTabSz="914400">
                        <a:lnSpc>
                          <a:spcPct val="100000"/>
                        </a:lnSpc>
                        <a:tabLst>
                          <a:tab algn="l" pos="0"/>
                        </a:tabLst>
                      </a:pPr>
                      <a:r>
                        <a:rPr b="1" lang="en-US" sz="1200" spc="-1" strike="noStrike">
                          <a:solidFill>
                            <a:srgbClr val="e8a33d"/>
                          </a:solidFill>
                          <a:latin typeface="Calibri"/>
                          <a:ea typeface="Calibri"/>
                        </a:rPr>
                        <a:t>Embedded, bandwidth-starved</a:t>
                      </a:r>
                      <a:endParaRPr b="0" lang="en-GB" sz="1200" spc="-1" strike="noStrike">
                        <a:solidFill>
                          <a:srgbClr val="000000"/>
                        </a:solidFill>
                        <a:latin typeface="Arial"/>
                      </a:endParaRPr>
                    </a:p>
                  </a:txBody>
                  <a:tcPr anchor="ctr" marL="91440" marR="91440">
                    <a:lnL w="12240">
                      <a:solidFill>
                        <a:srgbClr val="e3e8ec"/>
                      </a:solidFill>
                      <a:prstDash val="solid"/>
                    </a:lnL>
                    <a:lnR w="12240">
                      <a:solidFill>
                        <a:srgbClr val="e3e8ec"/>
                      </a:solidFill>
                      <a:prstDash val="solid"/>
                    </a:lnR>
                    <a:lnT w="12240">
                      <a:solidFill>
                        <a:srgbClr val="e3e8ec"/>
                      </a:solidFill>
                      <a:prstDash val="solid"/>
                    </a:lnT>
                    <a:lnB w="12240">
                      <a:solidFill>
                        <a:srgbClr val="e3e8ec"/>
                      </a:solidFill>
                      <a:prstDash val="solid"/>
                    </a:lnB>
                    <a:noFill/>
                  </a:tcPr>
                </a:tc>
              </a:tr>
            </a:tbl>
          </a:graphicData>
        </a:graphic>
      </p:graphicFrame>
      <p:sp>
        <p:nvSpPr>
          <p:cNvPr id="118" name="Shape 2"/>
          <p:cNvSpPr/>
          <p:nvPr/>
        </p:nvSpPr>
        <p:spPr>
          <a:xfrm>
            <a:off x="548640" y="4206240"/>
            <a:ext cx="5394600" cy="1782720"/>
          </a:xfrm>
          <a:prstGeom prst="roundRect">
            <a:avLst>
              <a:gd name="adj" fmla="val 4103"/>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19" name="Text 3"/>
          <p:cNvSpPr/>
          <p:nvPr/>
        </p:nvSpPr>
        <p:spPr>
          <a:xfrm>
            <a:off x="822960" y="4370760"/>
            <a:ext cx="45716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48" strike="noStrike">
                <a:solidFill>
                  <a:srgbClr val="1f8a9e"/>
                </a:solidFill>
                <a:latin typeface="Calibri"/>
                <a:ea typeface="Calibri"/>
              </a:rPr>
              <a:t>MEASUREMENT PROTOCOL</a:t>
            </a:r>
            <a:endParaRPr b="0" lang="en-GB" sz="1100" spc="-1" strike="noStrike">
              <a:solidFill>
                <a:srgbClr val="000000"/>
              </a:solidFill>
              <a:latin typeface="Arial"/>
            </a:endParaRPr>
          </a:p>
        </p:txBody>
      </p:sp>
      <p:sp>
        <p:nvSpPr>
          <p:cNvPr id="120" name="Text 4"/>
          <p:cNvSpPr/>
          <p:nvPr/>
        </p:nvSpPr>
        <p:spPr>
          <a:xfrm>
            <a:off x="822960" y="4663440"/>
            <a:ext cx="4845960" cy="1188360"/>
          </a:xfrm>
          <a:prstGeom prst="rect">
            <a:avLst/>
          </a:prstGeom>
          <a:noFill/>
          <a:ln w="0">
            <a:noFill/>
          </a:ln>
        </p:spPr>
        <p:style>
          <a:lnRef idx="0"/>
          <a:fillRef idx="0"/>
          <a:effectRef idx="0"/>
          <a:fontRef idx="minor"/>
        </p:style>
        <p:txBody>
          <a:bodyPr lIns="0" rIns="0" tIns="0" bIns="0" anchor="ctr">
            <a:noAutofit/>
          </a:bodyPr>
          <a:p>
            <a:pPr defTabSz="914400">
              <a:lnSpc>
                <a:spcPts val="1701"/>
              </a:lnSpc>
              <a:tabLst>
                <a:tab algn="l" pos="0"/>
              </a:tabLst>
            </a:pPr>
            <a:r>
              <a:rPr b="0" lang="en-US" sz="1250" spc="-1" strike="noStrike">
                <a:solidFill>
                  <a:srgbClr val="1b2430"/>
                </a:solidFill>
                <a:latin typeface="Calibri"/>
                <a:ea typeface="Calibri"/>
              </a:rPr>
              <a:t>Mean tokens/sec over 3–5 repetitions per configuration, via llama-bench. Coefficient of variation &lt; 5% in every series reported.</a:t>
            </a:r>
            <a:endParaRPr b="0" lang="en-GB" sz="1250" spc="-1" strike="noStrike">
              <a:solidFill>
                <a:srgbClr val="000000"/>
              </a:solidFill>
              <a:latin typeface="Arial"/>
            </a:endParaRPr>
          </a:p>
        </p:txBody>
      </p:sp>
      <p:sp>
        <p:nvSpPr>
          <p:cNvPr id="121" name="Shape 5"/>
          <p:cNvSpPr/>
          <p:nvPr/>
        </p:nvSpPr>
        <p:spPr>
          <a:xfrm>
            <a:off x="6217920" y="4206240"/>
            <a:ext cx="5394600" cy="1782720"/>
          </a:xfrm>
          <a:prstGeom prst="roundRect">
            <a:avLst>
              <a:gd name="adj" fmla="val 4103"/>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22" name="Text 6"/>
          <p:cNvSpPr/>
          <p:nvPr/>
        </p:nvSpPr>
        <p:spPr>
          <a:xfrm>
            <a:off x="6492240" y="4370760"/>
            <a:ext cx="45716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48" strike="noStrike">
                <a:solidFill>
                  <a:srgbClr val="1f8a9e"/>
                </a:solidFill>
                <a:latin typeface="Calibri"/>
                <a:ea typeface="Calibri"/>
              </a:rPr>
              <a:t>RESUMABLE HARNESS</a:t>
            </a:r>
            <a:endParaRPr b="0" lang="en-GB" sz="1100" spc="-1" strike="noStrike">
              <a:solidFill>
                <a:srgbClr val="000000"/>
              </a:solidFill>
              <a:latin typeface="Arial"/>
            </a:endParaRPr>
          </a:p>
        </p:txBody>
      </p:sp>
      <p:sp>
        <p:nvSpPr>
          <p:cNvPr id="123" name="Text 7"/>
          <p:cNvSpPr/>
          <p:nvPr/>
        </p:nvSpPr>
        <p:spPr>
          <a:xfrm>
            <a:off x="6492240" y="4663440"/>
            <a:ext cx="4845960" cy="1188360"/>
          </a:xfrm>
          <a:prstGeom prst="rect">
            <a:avLst/>
          </a:prstGeom>
          <a:noFill/>
          <a:ln w="0">
            <a:noFill/>
          </a:ln>
        </p:spPr>
        <p:style>
          <a:lnRef idx="0"/>
          <a:fillRef idx="0"/>
          <a:effectRef idx="0"/>
          <a:fontRef idx="minor"/>
        </p:style>
        <p:txBody>
          <a:bodyPr lIns="0" rIns="0" tIns="0" bIns="0" anchor="ctr">
            <a:noAutofit/>
          </a:bodyPr>
          <a:p>
            <a:pPr defTabSz="914400">
              <a:lnSpc>
                <a:spcPts val="1701"/>
              </a:lnSpc>
              <a:tabLst>
                <a:tab algn="l" pos="0"/>
              </a:tabLst>
            </a:pPr>
            <a:r>
              <a:rPr b="0" lang="en-US" sz="1250" spc="-1" strike="noStrike">
                <a:solidFill>
                  <a:srgbClr val="1b2430"/>
                </a:solidFill>
                <a:latin typeface="Calibri"/>
                <a:ea typeface="Calibri"/>
              </a:rPr>
              <a:t>Multi-hour, unattended runs on non-dedicated hardware. A row-count checkpoint (v2 design) replaced a naive design that silently re-ran completed measurements.</a:t>
            </a:r>
            <a:endParaRPr b="0" lang="en-GB" sz="1250" spc="-1" strike="noStrike">
              <a:solidFill>
                <a:srgbClr val="000000"/>
              </a:solidFill>
              <a:latin typeface="Arial"/>
            </a:endParaRPr>
          </a:p>
        </p:txBody>
      </p:sp>
      <p:sp>
        <p:nvSpPr>
          <p:cNvPr id="124" name="Text 8"/>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05</a:t>
            </a:r>
            <a:endParaRPr b="0" lang="en-GB" sz="1000" spc="-1" strike="noStrike">
              <a:solidFill>
                <a:srgbClr val="000000"/>
              </a:solidFill>
              <a:latin typeface="Arial"/>
            </a:endParaRPr>
          </a:p>
        </p:txBody>
      </p:sp>
      <p:sp>
        <p:nvSpPr>
          <p:cNvPr id="125" name="TextBox 124"/>
          <p:cNvSpPr txBox="1"/>
          <p:nvPr/>
        </p:nvSpPr>
        <p:spPr>
          <a:xfrm>
            <a:off x="548640" y="3520000"/>
            <a:ext cx="11063880" cy="560000"/>
          </a:xfrm>
          <a:prstGeom prst="rect">
            <a:avLst/>
          </a:prstGeom>
          <a:noFill/>
        </p:spPr>
        <p:txBody>
          <a:bodyPr wrap="square">
            <a:spAutoFit/>
          </a:bodyPr>
          <a:lstStyle/>
          <a:p>
            <a:r>
              <a:rPr sz="1200" i="1">
                <a:solidFill>
                  <a:srgbClr val="6B7280"/>
                </a:solidFill>
              </a:rPr>
              <a:t>A fourth device, a Raspberry Pi 3B, was also attempted but is excluded from the fleet above: its 1GB of RAM cannot hold even our most aggressively quantized 7B model, so every run failed with an out-of-memory error before a single benchmark row was written.</a:t>
            </a: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125"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FINDING 1</a:t>
            </a:r>
            <a:endParaRPr b="0" lang="en-GB" sz="1200" spc="-1" strike="noStrike">
              <a:solidFill>
                <a:srgbClr val="000000"/>
              </a:solidFill>
              <a:latin typeface="Arial"/>
            </a:endParaRPr>
          </a:p>
        </p:txBody>
      </p:sp>
      <p:sp>
        <p:nvSpPr>
          <p:cNvPr id="126"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Thread scaling follows Gunther's USL, not Amdahl</a:t>
            </a:r>
            <a:endParaRPr b="0" lang="en-GB" sz="3000" spc="-1" strike="noStrike">
              <a:solidFill>
                <a:srgbClr val="000000"/>
              </a:solidFill>
              <a:latin typeface="Arial"/>
            </a:endParaRPr>
          </a:p>
        </p:txBody>
      </p:sp>
      <p:graphicFrame>
        <p:nvGraphicFramePr>
          <p:cNvPr id="127" name="Chart 0"/>
          <p:cNvGraphicFramePr/>
          <p:nvPr/>
        </p:nvGraphicFramePr>
        <p:xfrm>
          <a:off x="548640" y="1463040"/>
          <a:ext cx="6857640" cy="4480200"/>
        </p:xfrm>
        <a:graphic>
          <a:graphicData uri="http://schemas.openxmlformats.org/drawingml/2006/chart">
            <c:chart xmlns:c="http://schemas.openxmlformats.org/drawingml/2006/chart" xmlns:r="http://schemas.openxmlformats.org/officeDocument/2006/relationships" r:id="rId1"/>
          </a:graphicData>
        </a:graphic>
      </p:graphicFrame>
      <p:sp>
        <p:nvSpPr>
          <p:cNvPr id="128" name="Shape 2"/>
          <p:cNvSpPr/>
          <p:nvPr/>
        </p:nvSpPr>
        <p:spPr>
          <a:xfrm>
            <a:off x="7635240" y="1463040"/>
            <a:ext cx="3977280" cy="4480200"/>
          </a:xfrm>
          <a:prstGeom prst="roundRect">
            <a:avLst>
              <a:gd name="adj" fmla="val 1839"/>
            </a:avLst>
          </a:prstGeom>
          <a:solidFill>
            <a:srgbClr val="162447"/>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29" name="Text 3"/>
          <p:cNvSpPr/>
          <p:nvPr/>
        </p:nvSpPr>
        <p:spPr>
          <a:xfrm>
            <a:off x="7909560" y="1691640"/>
            <a:ext cx="34743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48" strike="noStrike">
                <a:solidFill>
                  <a:srgbClr val="e8a33d"/>
                </a:solidFill>
                <a:latin typeface="Calibri"/>
                <a:ea typeface="Calibri"/>
              </a:rPr>
              <a:t>RETROGRADE SCALING</a:t>
            </a:r>
            <a:endParaRPr b="0" lang="en-GB" sz="1100" spc="-1" strike="noStrike">
              <a:solidFill>
                <a:srgbClr val="000000"/>
              </a:solidFill>
              <a:latin typeface="Arial"/>
            </a:endParaRPr>
          </a:p>
        </p:txBody>
      </p:sp>
      <p:sp>
        <p:nvSpPr>
          <p:cNvPr id="130" name="Text 4"/>
          <p:cNvSpPr/>
          <p:nvPr/>
        </p:nvSpPr>
        <p:spPr>
          <a:xfrm>
            <a:off x="7909560" y="2011680"/>
            <a:ext cx="3474360" cy="1051200"/>
          </a:xfrm>
          <a:prstGeom prst="rect">
            <a:avLst/>
          </a:prstGeom>
          <a:noFill/>
          <a:ln w="0">
            <a:noFill/>
          </a:ln>
        </p:spPr>
        <p:style>
          <a:lnRef idx="0"/>
          <a:fillRef idx="0"/>
          <a:effectRef idx="0"/>
          <a:fontRef idx="minor"/>
        </p:style>
        <p:txBody>
          <a:bodyPr lIns="0" rIns="0" tIns="0" bIns="0" anchor="ctr">
            <a:noAutofit/>
          </a:bodyPr>
          <a:p>
            <a:pPr defTabSz="914400">
              <a:lnSpc>
                <a:spcPts val="1650"/>
              </a:lnSpc>
              <a:tabLst>
                <a:tab algn="l" pos="0"/>
              </a:tabLst>
            </a:pPr>
            <a:r>
              <a:rPr b="0" lang="en-US" sz="1250" spc="-1" strike="noStrike">
                <a:solidFill>
                  <a:srgbClr val="ffffff"/>
                </a:solidFill>
                <a:latin typeface="Calibri"/>
                <a:ea typeface="Calibri"/>
              </a:rPr>
              <a:t>Generation peaks at 4 threads (8.83 tok/s), then drops at 6 (6.90) — a hump Amdahl's law cannot produce.</a:t>
            </a:r>
            <a:endParaRPr b="0" lang="en-GB" sz="1250" spc="-1" strike="noStrike">
              <a:solidFill>
                <a:srgbClr val="000000"/>
              </a:solidFill>
              <a:latin typeface="Arial"/>
            </a:endParaRPr>
          </a:p>
        </p:txBody>
      </p:sp>
      <p:sp>
        <p:nvSpPr>
          <p:cNvPr id="131" name="Shape 5"/>
          <p:cNvSpPr/>
          <p:nvPr/>
        </p:nvSpPr>
        <p:spPr>
          <a:xfrm>
            <a:off x="7909560" y="3200400"/>
            <a:ext cx="3474720" cy="360"/>
          </a:xfrm>
          <a:prstGeom prst="line">
            <a:avLst/>
          </a:prstGeom>
          <a:ln w="12700">
            <a:solidFill>
              <a:srgbClr val="1f8a9e"/>
            </a:solidFill>
            <a:round/>
          </a:ln>
        </p:spPr>
        <p:style>
          <a:lnRef idx="0"/>
          <a:fillRef idx="0"/>
          <a:effectRef idx="0"/>
          <a:fontRef idx="minor"/>
        </p:style>
        <p:txBody>
          <a:bodyPr lIns="90000" rIns="90000" tIns="-44640" bIns="-44640" anchor="t" anchorCtr="1">
            <a:noAutofit/>
          </a:bodyPr>
          <a:p>
            <a:endParaRPr b="0" lang="en-GB" sz="1800" spc="-1" strike="noStrike">
              <a:solidFill>
                <a:srgbClr val="000000"/>
              </a:solidFill>
              <a:latin typeface="Arial"/>
            </a:endParaRPr>
          </a:p>
        </p:txBody>
      </p:sp>
      <p:sp>
        <p:nvSpPr>
          <p:cNvPr id="132" name="Text 6"/>
          <p:cNvSpPr/>
          <p:nvPr/>
        </p:nvSpPr>
        <p:spPr>
          <a:xfrm>
            <a:off x="7909560" y="3337560"/>
            <a:ext cx="3474360" cy="914040"/>
          </a:xfrm>
          <a:prstGeom prst="rect">
            <a:avLst/>
          </a:prstGeom>
          <a:noFill/>
          <a:ln w="0">
            <a:noFill/>
          </a:ln>
        </p:spPr>
        <p:style>
          <a:lnRef idx="0"/>
          <a:fillRef idx="0"/>
          <a:effectRef idx="0"/>
          <a:fontRef idx="minor"/>
        </p:style>
        <p:txBody>
          <a:bodyPr lIns="0" rIns="0" tIns="0" bIns="0" anchor="ctr">
            <a:noAutofit/>
          </a:bodyPr>
          <a:p>
            <a:pPr defTabSz="914400">
              <a:lnSpc>
                <a:spcPts val="1650"/>
              </a:lnSpc>
              <a:tabLst>
                <a:tab algn="l" pos="0"/>
              </a:tabLst>
            </a:pPr>
            <a:r>
              <a:rPr b="0" lang="en-US" sz="1250" spc="-1" strike="noStrike">
                <a:solidFill>
                  <a:srgbClr val="ffffff"/>
                </a:solidFill>
                <a:latin typeface="Calibri"/>
                <a:ea typeface="Calibri"/>
              </a:rPr>
              <a:t>Prefill saturates near 6 threads — the chip's physical core count, not its 12 logical threads.</a:t>
            </a:r>
            <a:endParaRPr b="0" lang="en-GB" sz="1250" spc="-1" strike="noStrike">
              <a:solidFill>
                <a:srgbClr val="000000"/>
              </a:solidFill>
              <a:latin typeface="Arial"/>
            </a:endParaRPr>
          </a:p>
        </p:txBody>
      </p:sp>
      <p:sp>
        <p:nvSpPr>
          <p:cNvPr id="133" name="Shape 7"/>
          <p:cNvSpPr/>
          <p:nvPr/>
        </p:nvSpPr>
        <p:spPr>
          <a:xfrm>
            <a:off x="7909560" y="4389120"/>
            <a:ext cx="3474720" cy="360"/>
          </a:xfrm>
          <a:prstGeom prst="line">
            <a:avLst/>
          </a:prstGeom>
          <a:ln w="12700">
            <a:solidFill>
              <a:srgbClr val="1f8a9e"/>
            </a:solidFill>
            <a:round/>
          </a:ln>
        </p:spPr>
        <p:style>
          <a:lnRef idx="0"/>
          <a:fillRef idx="0"/>
          <a:effectRef idx="0"/>
          <a:fontRef idx="minor"/>
        </p:style>
        <p:txBody>
          <a:bodyPr lIns="90000" rIns="90000" tIns="-44640" bIns="-44640" anchor="t" anchorCtr="1">
            <a:noAutofit/>
          </a:bodyPr>
          <a:p>
            <a:endParaRPr b="0" lang="en-GB" sz="1800" spc="-1" strike="noStrike">
              <a:solidFill>
                <a:srgbClr val="000000"/>
              </a:solidFill>
              <a:latin typeface="Arial"/>
            </a:endParaRPr>
          </a:p>
        </p:txBody>
      </p:sp>
      <p:sp>
        <p:nvSpPr>
          <p:cNvPr id="134" name="Text 8"/>
          <p:cNvSpPr/>
          <p:nvPr/>
        </p:nvSpPr>
        <p:spPr>
          <a:xfrm>
            <a:off x="7909560" y="4526280"/>
            <a:ext cx="3474360" cy="1234080"/>
          </a:xfrm>
          <a:prstGeom prst="rect">
            <a:avLst/>
          </a:prstGeom>
          <a:noFill/>
          <a:ln w="0">
            <a:noFill/>
          </a:ln>
        </p:spPr>
        <p:style>
          <a:lnRef idx="0"/>
          <a:fillRef idx="0"/>
          <a:effectRef idx="0"/>
          <a:fontRef idx="minor"/>
        </p:style>
        <p:txBody>
          <a:bodyPr lIns="0" rIns="0" tIns="0" bIns="0" anchor="ctr">
            <a:noAutofit/>
          </a:bodyPr>
          <a:p>
            <a:pPr defTabSz="914400">
              <a:lnSpc>
                <a:spcPts val="1650"/>
              </a:lnSpc>
              <a:tabLst>
                <a:tab algn="l" pos="0"/>
              </a:tabLst>
            </a:pPr>
            <a:r>
              <a:rPr b="0" lang="en-US" sz="1250" spc="-1" strike="noStrike">
                <a:solidFill>
                  <a:srgbClr val="ffffff"/>
                </a:solidFill>
                <a:latin typeface="Calibri"/>
                <a:ea typeface="Calibri"/>
              </a:rPr>
              <a:t>On the Pentium G5420, generation falls monotonically — 32% slower at 8 threads than at 1.</a:t>
            </a:r>
            <a:endParaRPr b="0" lang="en-GB" sz="1250" spc="-1" strike="noStrike">
              <a:solidFill>
                <a:srgbClr val="000000"/>
              </a:solidFill>
              <a:latin typeface="Arial"/>
            </a:endParaRPr>
          </a:p>
        </p:txBody>
      </p:sp>
      <p:sp>
        <p:nvSpPr>
          <p:cNvPr id="135" name="Text 9"/>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06</a:t>
            </a:r>
            <a:endParaRPr b="0" lang="en-GB"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136"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FINDING 2</a:t>
            </a:r>
            <a:endParaRPr b="0" lang="en-GB" sz="1200" spc="-1" strike="noStrike">
              <a:solidFill>
                <a:srgbClr val="000000"/>
              </a:solidFill>
              <a:latin typeface="Arial"/>
            </a:endParaRPr>
          </a:p>
        </p:txBody>
      </p:sp>
      <p:sp>
        <p:nvSpPr>
          <p:cNvPr id="137"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Model size decides which regime you're in</a:t>
            </a:r>
            <a:endParaRPr b="0" lang="en-GB" sz="3000" spc="-1" strike="noStrike">
              <a:solidFill>
                <a:srgbClr val="000000"/>
              </a:solidFill>
              <a:latin typeface="Arial"/>
            </a:endParaRPr>
          </a:p>
        </p:txBody>
      </p:sp>
      <p:graphicFrame>
        <p:nvGraphicFramePr>
          <p:cNvPr id="138" name="Chart 0"/>
          <p:cNvGraphicFramePr/>
          <p:nvPr/>
        </p:nvGraphicFramePr>
        <p:xfrm>
          <a:off x="548640" y="1463040"/>
          <a:ext cx="6857640" cy="4480200"/>
        </p:xfrm>
        <a:graphic>
          <a:graphicData uri="http://schemas.openxmlformats.org/drawingml/2006/chart">
            <c:chart xmlns:c="http://schemas.openxmlformats.org/drawingml/2006/chart" xmlns:r="http://schemas.openxmlformats.org/officeDocument/2006/relationships" r:id="rId1"/>
          </a:graphicData>
        </a:graphic>
      </p:graphicFrame>
      <p:sp>
        <p:nvSpPr>
          <p:cNvPr id="139" name="Shape 2"/>
          <p:cNvSpPr/>
          <p:nvPr/>
        </p:nvSpPr>
        <p:spPr>
          <a:xfrm>
            <a:off x="7635240" y="1463040"/>
            <a:ext cx="3977280" cy="4480200"/>
          </a:xfrm>
          <a:prstGeom prst="roundRect">
            <a:avLst>
              <a:gd name="adj" fmla="val 1839"/>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40" name="Text 3"/>
          <p:cNvSpPr/>
          <p:nvPr/>
        </p:nvSpPr>
        <p:spPr>
          <a:xfrm>
            <a:off x="7909560" y="1691640"/>
            <a:ext cx="34743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48" strike="noStrike">
                <a:solidFill>
                  <a:srgbClr val="1f8a9e"/>
                </a:solidFill>
                <a:latin typeface="Calibri"/>
                <a:ea typeface="Calibri"/>
              </a:rPr>
              <a:t>BYTES PER TOKEN</a:t>
            </a:r>
            <a:endParaRPr b="0" lang="en-GB" sz="1100" spc="-1" strike="noStrike">
              <a:solidFill>
                <a:srgbClr val="000000"/>
              </a:solidFill>
              <a:latin typeface="Arial"/>
            </a:endParaRPr>
          </a:p>
        </p:txBody>
      </p:sp>
      <p:sp>
        <p:nvSpPr>
          <p:cNvPr id="141" name="Text 4"/>
          <p:cNvSpPr/>
          <p:nvPr/>
        </p:nvSpPr>
        <p:spPr>
          <a:xfrm>
            <a:off x="7909560" y="2011680"/>
            <a:ext cx="3474360" cy="639720"/>
          </a:xfrm>
          <a:prstGeom prst="rect">
            <a:avLst/>
          </a:prstGeom>
          <a:noFill/>
          <a:ln w="0">
            <a:noFill/>
          </a:ln>
        </p:spPr>
        <p:style>
          <a:lnRef idx="0"/>
          <a:fillRef idx="0"/>
          <a:effectRef idx="0"/>
          <a:fontRef idx="minor"/>
        </p:style>
        <p:txBody>
          <a:bodyPr lIns="0" rIns="0" tIns="0" bIns="0" anchor="ctr">
            <a:noAutofit/>
          </a:bodyPr>
          <a:p>
            <a:pPr defTabSz="914400">
              <a:lnSpc>
                <a:spcPts val="1650"/>
              </a:lnSpc>
              <a:tabLst>
                <a:tab algn="l" pos="0"/>
              </a:tabLst>
            </a:pPr>
            <a:r>
              <a:rPr b="0" lang="en-US" sz="1250" spc="-1" strike="noStrike">
                <a:solidFill>
                  <a:srgbClr val="1b2430"/>
                </a:solidFill>
                <a:latin typeface="Calibri"/>
                <a:ea typeface="Calibri"/>
              </a:rPr>
              <a:t>Generating one token means reading the whole model out of RAM once.</a:t>
            </a:r>
            <a:endParaRPr b="0" lang="en-GB" sz="1250" spc="-1" strike="noStrike">
              <a:solidFill>
                <a:srgbClr val="000000"/>
              </a:solidFill>
              <a:latin typeface="Arial"/>
            </a:endParaRPr>
          </a:p>
        </p:txBody>
      </p:sp>
      <p:sp>
        <p:nvSpPr>
          <p:cNvPr id="142" name="Text 5"/>
          <p:cNvSpPr/>
          <p:nvPr/>
        </p:nvSpPr>
        <p:spPr>
          <a:xfrm>
            <a:off x="7909560" y="2697480"/>
            <a:ext cx="146268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000" spc="-1" strike="noStrike">
                <a:solidFill>
                  <a:srgbClr val="162447"/>
                </a:solidFill>
                <a:latin typeface="Cambria"/>
                <a:ea typeface="Cambria"/>
              </a:rPr>
              <a:t>3×</a:t>
            </a:r>
            <a:endParaRPr b="0" lang="en-GB" sz="4000" spc="-1" strike="noStrike">
              <a:solidFill>
                <a:srgbClr val="000000"/>
              </a:solidFill>
              <a:latin typeface="Arial"/>
            </a:endParaRPr>
          </a:p>
        </p:txBody>
      </p:sp>
      <p:sp>
        <p:nvSpPr>
          <p:cNvPr id="143" name="Text 6"/>
          <p:cNvSpPr/>
          <p:nvPr/>
        </p:nvSpPr>
        <p:spPr>
          <a:xfrm>
            <a:off x="7909560" y="3383280"/>
            <a:ext cx="3474360" cy="548280"/>
          </a:xfrm>
          <a:prstGeom prst="rect">
            <a:avLst/>
          </a:prstGeom>
          <a:noFill/>
          <a:ln w="0">
            <a:noFill/>
          </a:ln>
        </p:spPr>
        <p:style>
          <a:lnRef idx="0"/>
          <a:fillRef idx="0"/>
          <a:effectRef idx="0"/>
          <a:fontRef idx="minor"/>
        </p:style>
        <p:txBody>
          <a:bodyPr lIns="0" rIns="0" tIns="0" bIns="0" anchor="ctr">
            <a:noAutofit/>
          </a:bodyPr>
          <a:p>
            <a:pPr defTabSz="914400">
              <a:lnSpc>
                <a:spcPts val="1400"/>
              </a:lnSpc>
              <a:tabLst>
                <a:tab algn="l" pos="0"/>
              </a:tabLst>
            </a:pPr>
            <a:r>
              <a:rPr b="0" lang="en-US" sz="1150" spc="-1" strike="noStrike">
                <a:solidFill>
                  <a:srgbClr val="5b6675"/>
                </a:solidFill>
                <a:latin typeface="Calibri"/>
                <a:ea typeface="Calibri"/>
              </a:rPr>
              <a:t>faster generation on the small model, 1 → 4 threads</a:t>
            </a:r>
            <a:endParaRPr b="0" lang="en-GB" sz="1150" spc="-1" strike="noStrike">
              <a:solidFill>
                <a:srgbClr val="000000"/>
              </a:solidFill>
              <a:latin typeface="Arial"/>
            </a:endParaRPr>
          </a:p>
        </p:txBody>
      </p:sp>
      <p:sp>
        <p:nvSpPr>
          <p:cNvPr id="144" name="Shape 7"/>
          <p:cNvSpPr/>
          <p:nvPr/>
        </p:nvSpPr>
        <p:spPr>
          <a:xfrm>
            <a:off x="7909560" y="4023360"/>
            <a:ext cx="3474720" cy="360"/>
          </a:xfrm>
          <a:prstGeom prst="line">
            <a:avLst/>
          </a:prstGeom>
          <a:ln w="12700">
            <a:solidFill>
              <a:srgbClr val="e3e8ec"/>
            </a:solidFill>
            <a:round/>
          </a:ln>
        </p:spPr>
        <p:style>
          <a:lnRef idx="0"/>
          <a:fillRef idx="0"/>
          <a:effectRef idx="0"/>
          <a:fontRef idx="minor"/>
        </p:style>
        <p:txBody>
          <a:bodyPr lIns="90000" rIns="90000" tIns="-44640" bIns="-44640" anchor="t" anchorCtr="1">
            <a:noAutofit/>
          </a:bodyPr>
          <a:p>
            <a:endParaRPr b="0" lang="en-GB" sz="1800" spc="-1" strike="noStrike">
              <a:solidFill>
                <a:srgbClr val="000000"/>
              </a:solidFill>
              <a:latin typeface="Arial"/>
            </a:endParaRPr>
          </a:p>
        </p:txBody>
      </p:sp>
      <p:sp>
        <p:nvSpPr>
          <p:cNvPr id="145" name="Text 8"/>
          <p:cNvSpPr/>
          <p:nvPr/>
        </p:nvSpPr>
        <p:spPr>
          <a:xfrm>
            <a:off x="7909560" y="4206240"/>
            <a:ext cx="3474360" cy="1554120"/>
          </a:xfrm>
          <a:prstGeom prst="rect">
            <a:avLst/>
          </a:prstGeom>
          <a:noFill/>
          <a:ln w="0">
            <a:noFill/>
          </a:ln>
        </p:spPr>
        <p:style>
          <a:lnRef idx="0"/>
          <a:fillRef idx="0"/>
          <a:effectRef idx="0"/>
          <a:fontRef idx="minor"/>
        </p:style>
        <p:txBody>
          <a:bodyPr lIns="0" rIns="0" tIns="0" bIns="0" anchor="ctr">
            <a:noAutofit/>
          </a:bodyPr>
          <a:p>
            <a:pPr defTabSz="914400">
              <a:lnSpc>
                <a:spcPts val="1650"/>
              </a:lnSpc>
              <a:tabLst>
                <a:tab algn="l" pos="0"/>
              </a:tabLst>
            </a:pPr>
            <a:r>
              <a:rPr b="0" lang="en-US" sz="1250" spc="-1" strike="noStrike">
                <a:solidFill>
                  <a:srgbClr val="1b2430"/>
                </a:solidFill>
                <a:latin typeface="Calibri"/>
                <a:ea typeface="Calibri"/>
              </a:rPr>
              <a:t>A single thread running the 7B model already saturates the Jetson's ~25 GB/s memory bandwidth — nothing left for more threads to use.</a:t>
            </a:r>
            <a:endParaRPr b="0" lang="en-GB" sz="1250" spc="-1" strike="noStrike">
              <a:solidFill>
                <a:srgbClr val="000000"/>
              </a:solidFill>
              <a:latin typeface="Arial"/>
            </a:endParaRPr>
          </a:p>
        </p:txBody>
      </p:sp>
      <p:sp>
        <p:nvSpPr>
          <p:cNvPr id="146" name="Text 9"/>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07</a:t>
            </a:r>
            <a:endParaRPr b="0" lang="en-GB"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147"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FINDING 3</a:t>
            </a:r>
            <a:endParaRPr b="0" lang="en-GB" sz="1200" spc="-1" strike="noStrike">
              <a:solidFill>
                <a:srgbClr val="000000"/>
              </a:solidFill>
              <a:latin typeface="Arial"/>
            </a:endParaRPr>
          </a:p>
        </p:txBody>
      </p:sp>
      <p:sp>
        <p:nvSpPr>
          <p:cNvPr id="148"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Flash Attention is a regression on CPU at long context</a:t>
            </a:r>
            <a:endParaRPr b="0" lang="en-GB" sz="3000" spc="-1" strike="noStrike">
              <a:solidFill>
                <a:srgbClr val="000000"/>
              </a:solidFill>
              <a:latin typeface="Arial"/>
            </a:endParaRPr>
          </a:p>
        </p:txBody>
      </p:sp>
      <p:graphicFrame>
        <p:nvGraphicFramePr>
          <p:cNvPr id="149" name="Chart 0"/>
          <p:cNvGraphicFramePr/>
          <p:nvPr/>
        </p:nvGraphicFramePr>
        <p:xfrm>
          <a:off x="548640" y="1508760"/>
          <a:ext cx="6674760" cy="4205880"/>
        </p:xfrm>
        <a:graphic>
          <a:graphicData uri="http://schemas.openxmlformats.org/drawingml/2006/chart">
            <c:chart xmlns:c="http://schemas.openxmlformats.org/drawingml/2006/chart" xmlns:r="http://schemas.openxmlformats.org/officeDocument/2006/relationships" r:id="rId1"/>
          </a:graphicData>
        </a:graphic>
      </p:graphicFrame>
      <p:sp>
        <p:nvSpPr>
          <p:cNvPr id="150" name="Shape 2"/>
          <p:cNvSpPr/>
          <p:nvPr/>
        </p:nvSpPr>
        <p:spPr>
          <a:xfrm>
            <a:off x="7406640" y="1508760"/>
            <a:ext cx="4205880" cy="4205880"/>
          </a:xfrm>
          <a:prstGeom prst="roundRect">
            <a:avLst>
              <a:gd name="adj" fmla="val 1739"/>
            </a:avLst>
          </a:prstGeom>
          <a:solidFill>
            <a:srgbClr val="162447"/>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51" name="Text 3"/>
          <p:cNvSpPr/>
          <p:nvPr/>
        </p:nvSpPr>
        <p:spPr>
          <a:xfrm>
            <a:off x="7680960" y="1737360"/>
            <a:ext cx="356580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600" spc="-1" strike="noStrike">
                <a:solidFill>
                  <a:srgbClr val="e8a33d"/>
                </a:solidFill>
                <a:latin typeface="Cambria"/>
                <a:ea typeface="Cambria"/>
              </a:rPr>
              <a:t>-68%</a:t>
            </a:r>
            <a:endParaRPr b="0" lang="en-GB" sz="4600" spc="-1" strike="noStrike">
              <a:solidFill>
                <a:srgbClr val="000000"/>
              </a:solidFill>
              <a:latin typeface="Arial"/>
            </a:endParaRPr>
          </a:p>
        </p:txBody>
      </p:sp>
      <p:sp>
        <p:nvSpPr>
          <p:cNvPr id="152" name="Text 4"/>
          <p:cNvSpPr/>
          <p:nvPr/>
        </p:nvSpPr>
        <p:spPr>
          <a:xfrm>
            <a:off x="7680960" y="2606040"/>
            <a:ext cx="3565800" cy="776880"/>
          </a:xfrm>
          <a:prstGeom prst="rect">
            <a:avLst/>
          </a:prstGeom>
          <a:noFill/>
          <a:ln w="0">
            <a:noFill/>
          </a:ln>
        </p:spPr>
        <p:style>
          <a:lnRef idx="0"/>
          <a:fillRef idx="0"/>
          <a:effectRef idx="0"/>
          <a:fontRef idx="minor"/>
        </p:style>
        <p:txBody>
          <a:bodyPr lIns="0" rIns="0" tIns="0" bIns="0" anchor="ctr">
            <a:noAutofit/>
          </a:bodyPr>
          <a:p>
            <a:pPr defTabSz="914400">
              <a:lnSpc>
                <a:spcPts val="1701"/>
              </a:lnSpc>
              <a:tabLst>
                <a:tab algn="l" pos="0"/>
              </a:tabLst>
            </a:pPr>
            <a:r>
              <a:rPr b="0" lang="en-US" sz="1300" spc="-1" strike="noStrike">
                <a:solidFill>
                  <a:srgbClr val="ffffff"/>
                </a:solidFill>
                <a:latin typeface="Calibri"/>
                <a:ea typeface="Calibri"/>
              </a:rPr>
              <a:t>generation throughput at 15K-token context when Flash Attention is enabled</a:t>
            </a:r>
            <a:endParaRPr b="0" lang="en-GB" sz="1300" spc="-1" strike="noStrike">
              <a:solidFill>
                <a:srgbClr val="000000"/>
              </a:solidFill>
              <a:latin typeface="Arial"/>
            </a:endParaRPr>
          </a:p>
        </p:txBody>
      </p:sp>
      <p:sp>
        <p:nvSpPr>
          <p:cNvPr id="153" name="Shape 5"/>
          <p:cNvSpPr/>
          <p:nvPr/>
        </p:nvSpPr>
        <p:spPr>
          <a:xfrm>
            <a:off x="7680960" y="3474720"/>
            <a:ext cx="3566160" cy="360"/>
          </a:xfrm>
          <a:prstGeom prst="line">
            <a:avLst/>
          </a:prstGeom>
          <a:ln w="12700">
            <a:solidFill>
              <a:srgbClr val="1f8a9e"/>
            </a:solidFill>
            <a:round/>
          </a:ln>
        </p:spPr>
        <p:style>
          <a:lnRef idx="0"/>
          <a:fillRef idx="0"/>
          <a:effectRef idx="0"/>
          <a:fontRef idx="minor"/>
        </p:style>
        <p:txBody>
          <a:bodyPr lIns="90000" rIns="90000" tIns="-44640" bIns="-44640" anchor="t" anchorCtr="1">
            <a:noAutofit/>
          </a:bodyPr>
          <a:p>
            <a:endParaRPr b="0" lang="en-GB" sz="1800" spc="-1" strike="noStrike">
              <a:solidFill>
                <a:srgbClr val="000000"/>
              </a:solidFill>
              <a:latin typeface="Arial"/>
            </a:endParaRPr>
          </a:p>
        </p:txBody>
      </p:sp>
      <p:sp>
        <p:nvSpPr>
          <p:cNvPr id="154" name="Text 6"/>
          <p:cNvSpPr/>
          <p:nvPr/>
        </p:nvSpPr>
        <p:spPr>
          <a:xfrm>
            <a:off x="7680960" y="3657600"/>
            <a:ext cx="3565800" cy="1096920"/>
          </a:xfrm>
          <a:prstGeom prst="rect">
            <a:avLst/>
          </a:prstGeom>
          <a:noFill/>
          <a:ln w="0">
            <a:noFill/>
          </a:ln>
        </p:spPr>
        <p:style>
          <a:lnRef idx="0"/>
          <a:fillRef idx="0"/>
          <a:effectRef idx="0"/>
          <a:fontRef idx="minor"/>
        </p:style>
        <p:txBody>
          <a:bodyPr lIns="0" rIns="0" tIns="0" bIns="0" anchor="ctr">
            <a:noAutofit/>
          </a:bodyPr>
          <a:p>
            <a:pPr defTabSz="914400">
              <a:lnSpc>
                <a:spcPts val="1551"/>
              </a:lnSpc>
              <a:tabLst>
                <a:tab algn="l" pos="0"/>
              </a:tabLst>
            </a:pPr>
            <a:r>
              <a:rPr b="0" lang="en-US" sz="1200" spc="-1" strike="noStrike">
                <a:solidFill>
                  <a:srgbClr val="dceff2"/>
                </a:solidFill>
                <a:latin typeface="Calibri"/>
                <a:ea typeface="Calibri"/>
              </a:rPr>
              <a:t>GPU cache tiers make Flash Attention pay off. This CPU's data already fits in L3 — there's little slow-memory traffic to save, so only the restructuring cost remains.</a:t>
            </a:r>
            <a:endParaRPr b="0" lang="en-GB" sz="1200" spc="-1" strike="noStrike">
              <a:solidFill>
                <a:srgbClr val="000000"/>
              </a:solidFill>
              <a:latin typeface="Arial"/>
            </a:endParaRPr>
          </a:p>
        </p:txBody>
      </p:sp>
      <p:sp>
        <p:nvSpPr>
          <p:cNvPr id="155" name="Text 7"/>
          <p:cNvSpPr/>
          <p:nvPr/>
        </p:nvSpPr>
        <p:spPr>
          <a:xfrm>
            <a:off x="7680960" y="4892040"/>
            <a:ext cx="3565800" cy="639720"/>
          </a:xfrm>
          <a:prstGeom prst="rect">
            <a:avLst/>
          </a:prstGeom>
          <a:noFill/>
          <a:ln w="0">
            <a:noFill/>
          </a:ln>
        </p:spPr>
        <p:style>
          <a:lnRef idx="0"/>
          <a:fillRef idx="0"/>
          <a:effectRef idx="0"/>
          <a:fontRef idx="minor"/>
        </p:style>
        <p:txBody>
          <a:bodyPr lIns="0" rIns="0" tIns="0" bIns="0" anchor="ctr">
            <a:noAutofit/>
          </a:bodyPr>
          <a:p>
            <a:pPr defTabSz="914400">
              <a:lnSpc>
                <a:spcPts val="1551"/>
              </a:lnSpc>
              <a:tabLst>
                <a:tab algn="l" pos="0"/>
              </a:tabLst>
            </a:pPr>
            <a:r>
              <a:rPr b="1" i="1" lang="en-US" sz="1200" spc="-1" strike="noStrike">
                <a:solidFill>
                  <a:srgbClr val="ffffff"/>
                </a:solidFill>
                <a:latin typeface="Calibri"/>
                <a:ea typeface="Calibri"/>
              </a:rPr>
              <a:t>Recommendation: use -fa 0 on CPU with long prompts.</a:t>
            </a:r>
            <a:endParaRPr b="0" lang="en-GB" sz="1200" spc="-1" strike="noStrike">
              <a:solidFill>
                <a:srgbClr val="000000"/>
              </a:solidFill>
              <a:latin typeface="Arial"/>
            </a:endParaRPr>
          </a:p>
        </p:txBody>
      </p:sp>
      <p:sp>
        <p:nvSpPr>
          <p:cNvPr id="156" name="Text 8"/>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08</a:t>
            </a:r>
            <a:endParaRPr b="0" lang="en-GB"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157"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FINDING 4</a:t>
            </a:r>
            <a:endParaRPr b="0" lang="en-GB" sz="1200" spc="-1" strike="noStrike">
              <a:solidFill>
                <a:srgbClr val="000000"/>
              </a:solidFill>
              <a:latin typeface="Arial"/>
            </a:endParaRPr>
          </a:p>
        </p:txBody>
      </p:sp>
      <p:sp>
        <p:nvSpPr>
          <p:cNvPr id="158"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KV-cache quantization is not a free lunch</a:t>
            </a:r>
            <a:endParaRPr b="0" lang="en-GB" sz="3000" spc="-1" strike="noStrike">
              <a:solidFill>
                <a:srgbClr val="000000"/>
              </a:solidFill>
              <a:latin typeface="Arial"/>
            </a:endParaRPr>
          </a:p>
        </p:txBody>
      </p:sp>
      <p:graphicFrame>
        <p:nvGraphicFramePr>
          <p:cNvPr id="159" name="Chart 0"/>
          <p:cNvGraphicFramePr/>
          <p:nvPr/>
        </p:nvGraphicFramePr>
        <p:xfrm>
          <a:off x="548640" y="1508760"/>
          <a:ext cx="6674760" cy="4205880"/>
        </p:xfrm>
        <a:graphic>
          <a:graphicData uri="http://schemas.openxmlformats.org/drawingml/2006/chart">
            <c:chart xmlns:c="http://schemas.openxmlformats.org/drawingml/2006/chart" xmlns:r="http://schemas.openxmlformats.org/officeDocument/2006/relationships" r:id="rId1"/>
          </a:graphicData>
        </a:graphic>
      </p:graphicFrame>
      <p:sp>
        <p:nvSpPr>
          <p:cNvPr id="160" name="Shape 2"/>
          <p:cNvSpPr/>
          <p:nvPr/>
        </p:nvSpPr>
        <p:spPr>
          <a:xfrm>
            <a:off x="7406640" y="1508760"/>
            <a:ext cx="4205880" cy="4205880"/>
          </a:xfrm>
          <a:prstGeom prst="roundRect">
            <a:avLst>
              <a:gd name="adj" fmla="val 1739"/>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61" name="Text 3"/>
          <p:cNvSpPr/>
          <p:nvPr/>
        </p:nvSpPr>
        <p:spPr>
          <a:xfrm>
            <a:off x="7680960" y="1737360"/>
            <a:ext cx="356580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e8a33d"/>
                </a:solidFill>
                <a:latin typeface="Cambria"/>
                <a:ea typeface="Cambria"/>
              </a:rPr>
              <a:t>4× SLOWER</a:t>
            </a:r>
            <a:endParaRPr b="0" lang="en-GB" sz="3000" spc="-1" strike="noStrike">
              <a:solidFill>
                <a:srgbClr val="000000"/>
              </a:solidFill>
              <a:latin typeface="Arial"/>
            </a:endParaRPr>
          </a:p>
        </p:txBody>
      </p:sp>
      <p:sp>
        <p:nvSpPr>
          <p:cNvPr id="162" name="Text 4"/>
          <p:cNvSpPr/>
          <p:nvPr/>
        </p:nvSpPr>
        <p:spPr>
          <a:xfrm>
            <a:off x="7680960" y="2286000"/>
            <a:ext cx="3565800" cy="822600"/>
          </a:xfrm>
          <a:prstGeom prst="rect">
            <a:avLst/>
          </a:prstGeom>
          <a:noFill/>
          <a:ln w="0">
            <a:noFill/>
          </a:ln>
        </p:spPr>
        <p:style>
          <a:lnRef idx="0"/>
          <a:fillRef idx="0"/>
          <a:effectRef idx="0"/>
          <a:fontRef idx="minor"/>
        </p:style>
        <p:txBody>
          <a:bodyPr lIns="0" rIns="0" tIns="0" bIns="0" anchor="ctr">
            <a:noAutofit/>
          </a:bodyPr>
          <a:p>
            <a:pPr defTabSz="914400">
              <a:lnSpc>
                <a:spcPts val="1701"/>
              </a:lnSpc>
              <a:tabLst>
                <a:tab algn="l" pos="0"/>
              </a:tabLst>
            </a:pPr>
            <a:r>
              <a:rPr b="0" lang="en-US" sz="1300" spc="-1" strike="noStrike">
                <a:solidFill>
                  <a:srgbClr val="1b2430"/>
                </a:solidFill>
                <a:latin typeface="Calibri"/>
                <a:ea typeface="Calibri"/>
              </a:rPr>
              <a:t>for prompt processing at medium context length — for a supposedly ‘lighter’ cache</a:t>
            </a:r>
            <a:endParaRPr b="0" lang="en-GB" sz="1300" spc="-1" strike="noStrike">
              <a:solidFill>
                <a:srgbClr val="000000"/>
              </a:solidFill>
              <a:latin typeface="Arial"/>
            </a:endParaRPr>
          </a:p>
        </p:txBody>
      </p:sp>
      <p:sp>
        <p:nvSpPr>
          <p:cNvPr id="163" name="Shape 5"/>
          <p:cNvSpPr/>
          <p:nvPr/>
        </p:nvSpPr>
        <p:spPr>
          <a:xfrm>
            <a:off x="7680960" y="3200400"/>
            <a:ext cx="3566160" cy="360"/>
          </a:xfrm>
          <a:prstGeom prst="line">
            <a:avLst/>
          </a:prstGeom>
          <a:ln w="12700">
            <a:solidFill>
              <a:srgbClr val="e3e8ec"/>
            </a:solidFill>
            <a:round/>
          </a:ln>
        </p:spPr>
        <p:style>
          <a:lnRef idx="0"/>
          <a:fillRef idx="0"/>
          <a:effectRef idx="0"/>
          <a:fontRef idx="minor"/>
        </p:style>
        <p:txBody>
          <a:bodyPr lIns="90000" rIns="90000" tIns="-44640" bIns="-44640" anchor="t" anchorCtr="1">
            <a:noAutofit/>
          </a:bodyPr>
          <a:p>
            <a:endParaRPr b="0" lang="en-GB" sz="1800" spc="-1" strike="noStrike">
              <a:solidFill>
                <a:srgbClr val="000000"/>
              </a:solidFill>
              <a:latin typeface="Arial"/>
            </a:endParaRPr>
          </a:p>
        </p:txBody>
      </p:sp>
      <p:sp>
        <p:nvSpPr>
          <p:cNvPr id="164" name="Text 6"/>
          <p:cNvSpPr/>
          <p:nvPr/>
        </p:nvSpPr>
        <p:spPr>
          <a:xfrm>
            <a:off x="7680960" y="3383280"/>
            <a:ext cx="3565800" cy="914040"/>
          </a:xfrm>
          <a:prstGeom prst="rect">
            <a:avLst/>
          </a:prstGeom>
          <a:noFill/>
          <a:ln w="0">
            <a:noFill/>
          </a:ln>
        </p:spPr>
        <p:style>
          <a:lnRef idx="0"/>
          <a:fillRef idx="0"/>
          <a:effectRef idx="0"/>
          <a:fontRef idx="minor"/>
        </p:style>
        <p:txBody>
          <a:bodyPr lIns="0" rIns="0" tIns="0" bIns="0" anchor="ctr">
            <a:noAutofit/>
          </a:bodyPr>
          <a:p>
            <a:pPr defTabSz="914400">
              <a:lnSpc>
                <a:spcPts val="1650"/>
              </a:lnSpc>
              <a:tabLst>
                <a:tab algn="l" pos="0"/>
              </a:tabLst>
            </a:pPr>
            <a:r>
              <a:rPr b="0" lang="en-US" sz="1250" spc="-1" strike="noStrike">
                <a:solidFill>
                  <a:srgbClr val="1b2430"/>
                </a:solidFill>
                <a:latin typeface="Calibri"/>
                <a:ea typeface="Calibri"/>
              </a:rPr>
              <a:t>Every quantized-KV configuration tested was slower than the f16 baseline, and the gap widened with context length.</a:t>
            </a:r>
            <a:endParaRPr b="0" lang="en-GB" sz="1250" spc="-1" strike="noStrike">
              <a:solidFill>
                <a:srgbClr val="000000"/>
              </a:solidFill>
              <a:latin typeface="Arial"/>
            </a:endParaRPr>
          </a:p>
        </p:txBody>
      </p:sp>
      <p:sp>
        <p:nvSpPr>
          <p:cNvPr id="165" name="Text 7"/>
          <p:cNvSpPr/>
          <p:nvPr/>
        </p:nvSpPr>
        <p:spPr>
          <a:xfrm>
            <a:off x="7680960" y="4343400"/>
            <a:ext cx="3565800" cy="1279800"/>
          </a:xfrm>
          <a:prstGeom prst="rect">
            <a:avLst/>
          </a:prstGeom>
          <a:noFill/>
          <a:ln w="0">
            <a:noFill/>
          </a:ln>
        </p:spPr>
        <p:style>
          <a:lnRef idx="0"/>
          <a:fillRef idx="0"/>
          <a:effectRef idx="0"/>
          <a:fontRef idx="minor"/>
        </p:style>
        <p:txBody>
          <a:bodyPr lIns="0" rIns="0" tIns="0" bIns="0" anchor="ctr">
            <a:noAutofit/>
          </a:bodyPr>
          <a:p>
            <a:pPr defTabSz="914400">
              <a:lnSpc>
                <a:spcPts val="1551"/>
              </a:lnSpc>
              <a:tabLst>
                <a:tab algn="l" pos="0"/>
              </a:tabLst>
            </a:pPr>
            <a:r>
              <a:rPr b="0" i="1" lang="en-US" sz="1200" spc="-1" strike="noStrike">
                <a:solidFill>
                  <a:srgbClr val="5b6675"/>
                </a:solidFill>
                <a:latin typeface="Calibri"/>
                <a:ea typeface="Calibri"/>
              </a:rPr>
              <a:t>Why: dequantizing a cached value costs CPU cycles. On a compute-rich chip, that cost outweighs the memory saved — this configuration is compute-bound, not memory-bound.</a:t>
            </a:r>
            <a:endParaRPr b="0" lang="en-GB" sz="1200" spc="-1" strike="noStrike">
              <a:solidFill>
                <a:srgbClr val="000000"/>
              </a:solidFill>
              <a:latin typeface="Arial"/>
            </a:endParaRPr>
          </a:p>
        </p:txBody>
      </p:sp>
      <p:sp>
        <p:nvSpPr>
          <p:cNvPr id="166" name="Text 8"/>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09</a:t>
            </a:r>
            <a:endParaRPr b="0" lang="en-GB"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167"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FINDING 5</a:t>
            </a:r>
            <a:endParaRPr b="0" lang="en-GB" sz="1200" spc="-1" strike="noStrike">
              <a:solidFill>
                <a:srgbClr val="000000"/>
              </a:solidFill>
              <a:latin typeface="Arial"/>
            </a:endParaRPr>
          </a:p>
        </p:txBody>
      </p:sp>
      <p:sp>
        <p:nvSpPr>
          <p:cNvPr id="168"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Quantization format is not just bit-width</a:t>
            </a:r>
            <a:endParaRPr b="0" lang="en-GB" sz="3000" spc="-1" strike="noStrike">
              <a:solidFill>
                <a:srgbClr val="000000"/>
              </a:solidFill>
              <a:latin typeface="Arial"/>
            </a:endParaRPr>
          </a:p>
        </p:txBody>
      </p:sp>
      <p:graphicFrame>
        <p:nvGraphicFramePr>
          <p:cNvPr id="169" name="Chart 0"/>
          <p:cNvGraphicFramePr/>
          <p:nvPr/>
        </p:nvGraphicFramePr>
        <p:xfrm>
          <a:off x="548640" y="1508760"/>
          <a:ext cx="6674760" cy="4205880"/>
        </p:xfrm>
        <a:graphic>
          <a:graphicData uri="http://schemas.openxmlformats.org/drawingml/2006/chart">
            <c:chart xmlns:c="http://schemas.openxmlformats.org/drawingml/2006/chart" xmlns:r="http://schemas.openxmlformats.org/officeDocument/2006/relationships" r:id="rId1"/>
          </a:graphicData>
        </a:graphic>
      </p:graphicFrame>
      <p:sp>
        <p:nvSpPr>
          <p:cNvPr id="170" name="Shape 2"/>
          <p:cNvSpPr/>
          <p:nvPr/>
        </p:nvSpPr>
        <p:spPr>
          <a:xfrm>
            <a:off x="7406640" y="1508760"/>
            <a:ext cx="4205880" cy="4205880"/>
          </a:xfrm>
          <a:prstGeom prst="roundRect">
            <a:avLst>
              <a:gd name="adj" fmla="val 1739"/>
            </a:avLst>
          </a:prstGeom>
          <a:solidFill>
            <a:srgbClr val="162447"/>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71" name="Text 3"/>
          <p:cNvSpPr/>
          <p:nvPr/>
        </p:nvSpPr>
        <p:spPr>
          <a:xfrm>
            <a:off x="7680960" y="1737360"/>
            <a:ext cx="356580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400" spc="-1" strike="noStrike">
                <a:solidFill>
                  <a:srgbClr val="e8a33d"/>
                </a:solidFill>
                <a:latin typeface="Cambria"/>
                <a:ea typeface="Cambria"/>
              </a:rPr>
              <a:t>3.6×</a:t>
            </a:r>
            <a:endParaRPr b="0" lang="en-GB" sz="4400" spc="-1" strike="noStrike">
              <a:solidFill>
                <a:srgbClr val="000000"/>
              </a:solidFill>
              <a:latin typeface="Arial"/>
            </a:endParaRPr>
          </a:p>
        </p:txBody>
      </p:sp>
      <p:sp>
        <p:nvSpPr>
          <p:cNvPr id="172" name="Text 4"/>
          <p:cNvSpPr/>
          <p:nvPr/>
        </p:nvSpPr>
        <p:spPr>
          <a:xfrm>
            <a:off x="7680960" y="2514600"/>
            <a:ext cx="3565800" cy="822600"/>
          </a:xfrm>
          <a:prstGeom prst="rect">
            <a:avLst/>
          </a:prstGeom>
          <a:noFill/>
          <a:ln w="0">
            <a:noFill/>
          </a:ln>
        </p:spPr>
        <p:style>
          <a:lnRef idx="0"/>
          <a:fillRef idx="0"/>
          <a:effectRef idx="0"/>
          <a:fontRef idx="minor"/>
        </p:style>
        <p:txBody>
          <a:bodyPr lIns="0" rIns="0" tIns="0" bIns="0" anchor="ctr">
            <a:noAutofit/>
          </a:bodyPr>
          <a:p>
            <a:pPr defTabSz="914400">
              <a:lnSpc>
                <a:spcPts val="1701"/>
              </a:lnSpc>
              <a:tabLst>
                <a:tab algn="l" pos="0"/>
              </a:tabLst>
            </a:pPr>
            <a:r>
              <a:rPr b="0" lang="en-US" sz="1300" spc="-1" strike="noStrike">
                <a:solidFill>
                  <a:srgbClr val="ffffff"/>
                </a:solidFill>
                <a:latin typeface="Calibri"/>
                <a:ea typeface="Calibri"/>
              </a:rPr>
              <a:t>faster: Q4_0 vs. Q4_K_M — identical 4-bit width, same model, same chip</a:t>
            </a:r>
            <a:endParaRPr b="0" lang="en-GB" sz="1300" spc="-1" strike="noStrike">
              <a:solidFill>
                <a:srgbClr val="000000"/>
              </a:solidFill>
              <a:latin typeface="Arial"/>
            </a:endParaRPr>
          </a:p>
        </p:txBody>
      </p:sp>
      <p:sp>
        <p:nvSpPr>
          <p:cNvPr id="173" name="Shape 5"/>
          <p:cNvSpPr/>
          <p:nvPr/>
        </p:nvSpPr>
        <p:spPr>
          <a:xfrm>
            <a:off x="7680960" y="3383280"/>
            <a:ext cx="3566160" cy="360"/>
          </a:xfrm>
          <a:prstGeom prst="line">
            <a:avLst/>
          </a:prstGeom>
          <a:ln w="12700">
            <a:solidFill>
              <a:srgbClr val="1f8a9e"/>
            </a:solidFill>
            <a:round/>
          </a:ln>
        </p:spPr>
        <p:style>
          <a:lnRef idx="0"/>
          <a:fillRef idx="0"/>
          <a:effectRef idx="0"/>
          <a:fontRef idx="minor"/>
        </p:style>
        <p:txBody>
          <a:bodyPr lIns="90000" rIns="90000" tIns="-44640" bIns="-44640" anchor="t" anchorCtr="1">
            <a:noAutofit/>
          </a:bodyPr>
          <a:p>
            <a:endParaRPr b="0" lang="en-GB" sz="1800" spc="-1" strike="noStrike">
              <a:solidFill>
                <a:srgbClr val="000000"/>
              </a:solidFill>
              <a:latin typeface="Arial"/>
            </a:endParaRPr>
          </a:p>
        </p:txBody>
      </p:sp>
      <p:sp>
        <p:nvSpPr>
          <p:cNvPr id="174" name="Text 6"/>
          <p:cNvSpPr/>
          <p:nvPr/>
        </p:nvSpPr>
        <p:spPr>
          <a:xfrm>
            <a:off x="7680960" y="3566160"/>
            <a:ext cx="3565800" cy="914040"/>
          </a:xfrm>
          <a:prstGeom prst="rect">
            <a:avLst/>
          </a:prstGeom>
          <a:noFill/>
          <a:ln w="0">
            <a:noFill/>
          </a:ln>
        </p:spPr>
        <p:style>
          <a:lnRef idx="0"/>
          <a:fillRef idx="0"/>
          <a:effectRef idx="0"/>
          <a:fontRef idx="minor"/>
        </p:style>
        <p:txBody>
          <a:bodyPr lIns="0" rIns="0" tIns="0" bIns="0" anchor="ctr">
            <a:noAutofit/>
          </a:bodyPr>
          <a:p>
            <a:pPr defTabSz="914400">
              <a:lnSpc>
                <a:spcPts val="1650"/>
              </a:lnSpc>
              <a:tabLst>
                <a:tab algn="l" pos="0"/>
              </a:tabLst>
            </a:pPr>
            <a:r>
              <a:rPr b="0" lang="en-US" sz="1250" spc="-1" strike="noStrike">
                <a:solidFill>
                  <a:srgbClr val="dceff2"/>
                </a:solidFill>
                <a:latin typeface="Calibri"/>
                <a:ea typeface="Calibri"/>
              </a:rPr>
              <a:t>Q3_K_M (3-bit, smaller) is even slower than Q4_K_M (4-bit). Bit-width alone doesn't predict speed.</a:t>
            </a:r>
            <a:endParaRPr b="0" lang="en-GB" sz="1250" spc="-1" strike="noStrike">
              <a:solidFill>
                <a:srgbClr val="000000"/>
              </a:solidFill>
              <a:latin typeface="Arial"/>
            </a:endParaRPr>
          </a:p>
        </p:txBody>
      </p:sp>
      <p:sp>
        <p:nvSpPr>
          <p:cNvPr id="175" name="Text 7"/>
          <p:cNvSpPr/>
          <p:nvPr/>
        </p:nvSpPr>
        <p:spPr>
          <a:xfrm>
            <a:off x="7680960" y="4572000"/>
            <a:ext cx="3565800" cy="1051200"/>
          </a:xfrm>
          <a:prstGeom prst="rect">
            <a:avLst/>
          </a:prstGeom>
          <a:noFill/>
          <a:ln w="0">
            <a:noFill/>
          </a:ln>
        </p:spPr>
        <p:style>
          <a:lnRef idx="0"/>
          <a:fillRef idx="0"/>
          <a:effectRef idx="0"/>
          <a:fontRef idx="minor"/>
        </p:style>
        <p:txBody>
          <a:bodyPr lIns="0" rIns="0" tIns="0" bIns="0" anchor="ctr">
            <a:noAutofit/>
          </a:bodyPr>
          <a:p>
            <a:pPr defTabSz="914400">
              <a:lnSpc>
                <a:spcPts val="1500"/>
              </a:lnSpc>
              <a:tabLst>
                <a:tab algn="l" pos="0"/>
              </a:tabLst>
            </a:pPr>
            <a:r>
              <a:rPr b="0" i="1" lang="en-US" sz="1150" spc="-1" strike="noStrike">
                <a:solidFill>
                  <a:srgbClr val="c9d6e3"/>
                </a:solidFill>
                <a:latin typeface="Calibri"/>
                <a:ea typeface="Calibri"/>
              </a:rPr>
              <a:t>Legacy layouts (Q4_0) map cleanly to fast CPU instructions; newer K-quants pack bits more cleverly but cost more to unpack — costly on chips without AVX-512/VNNI.</a:t>
            </a:r>
            <a:endParaRPr b="0" lang="en-GB" sz="1150" spc="-1" strike="noStrike">
              <a:solidFill>
                <a:srgbClr val="000000"/>
              </a:solidFill>
              <a:latin typeface="Arial"/>
            </a:endParaRPr>
          </a:p>
        </p:txBody>
      </p:sp>
      <p:sp>
        <p:nvSpPr>
          <p:cNvPr id="176" name="Text 8"/>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10</a:t>
            </a:r>
            <a:endParaRPr b="0" lang="en-GB"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177"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THE CENTRAL HYPOTHESIS</a:t>
            </a:r>
            <a:endParaRPr b="0" lang="en-GB" sz="1200" spc="-1" strike="noStrike">
              <a:solidFill>
                <a:srgbClr val="000000"/>
              </a:solidFill>
              <a:latin typeface="Arial"/>
            </a:endParaRPr>
          </a:p>
        </p:txBody>
      </p:sp>
      <p:sp>
        <p:nvSpPr>
          <p:cNvPr id="178"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The MoE bandwidth argument — motivated, not confirmed</a:t>
            </a:r>
            <a:endParaRPr b="0" lang="en-GB" sz="3000" spc="-1" strike="noStrike">
              <a:solidFill>
                <a:srgbClr val="000000"/>
              </a:solidFill>
              <a:latin typeface="Arial"/>
            </a:endParaRPr>
          </a:p>
        </p:txBody>
      </p:sp>
      <p:sp>
        <p:nvSpPr>
          <p:cNvPr id="179" name="Text 2"/>
          <p:cNvSpPr/>
          <p:nvPr/>
        </p:nvSpPr>
        <p:spPr>
          <a:xfrm>
            <a:off x="548640" y="1600200"/>
            <a:ext cx="2742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1f3a63"/>
                </a:solidFill>
                <a:latin typeface="Calibri"/>
                <a:ea typeface="Calibri"/>
              </a:rPr>
              <a:t>DENSE MODEL</a:t>
            </a:r>
            <a:endParaRPr b="0" lang="en-GB" sz="1200" spc="-1" strike="noStrike">
              <a:solidFill>
                <a:srgbClr val="000000"/>
              </a:solidFill>
              <a:latin typeface="Arial"/>
            </a:endParaRPr>
          </a:p>
        </p:txBody>
      </p:sp>
      <p:sp>
        <p:nvSpPr>
          <p:cNvPr id="180" name="Shape 3"/>
          <p:cNvSpPr/>
          <p:nvPr/>
        </p:nvSpPr>
        <p:spPr>
          <a:xfrm>
            <a:off x="548640" y="1965960"/>
            <a:ext cx="456840" cy="383760"/>
          </a:xfrm>
          <a:prstGeom prst="roundRect">
            <a:avLst>
              <a:gd name="adj" fmla="val 11905"/>
            </a:avLst>
          </a:prstGeom>
          <a:solidFill>
            <a:srgbClr val="1f3a63"/>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1" name="Shape 4"/>
          <p:cNvSpPr/>
          <p:nvPr/>
        </p:nvSpPr>
        <p:spPr>
          <a:xfrm>
            <a:off x="1115640" y="1965960"/>
            <a:ext cx="456840" cy="383760"/>
          </a:xfrm>
          <a:prstGeom prst="roundRect">
            <a:avLst>
              <a:gd name="adj" fmla="val 11905"/>
            </a:avLst>
          </a:prstGeom>
          <a:solidFill>
            <a:srgbClr val="1f3a63"/>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2" name="Shape 5"/>
          <p:cNvSpPr/>
          <p:nvPr/>
        </p:nvSpPr>
        <p:spPr>
          <a:xfrm>
            <a:off x="1682640" y="1965960"/>
            <a:ext cx="456840" cy="383760"/>
          </a:xfrm>
          <a:prstGeom prst="roundRect">
            <a:avLst>
              <a:gd name="adj" fmla="val 11905"/>
            </a:avLst>
          </a:prstGeom>
          <a:solidFill>
            <a:srgbClr val="1f3a63"/>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3" name="Shape 6"/>
          <p:cNvSpPr/>
          <p:nvPr/>
        </p:nvSpPr>
        <p:spPr>
          <a:xfrm>
            <a:off x="2249280" y="1965960"/>
            <a:ext cx="456840" cy="383760"/>
          </a:xfrm>
          <a:prstGeom prst="roundRect">
            <a:avLst>
              <a:gd name="adj" fmla="val 11905"/>
            </a:avLst>
          </a:prstGeom>
          <a:solidFill>
            <a:srgbClr val="1f3a63"/>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4" name="Shape 7"/>
          <p:cNvSpPr/>
          <p:nvPr/>
        </p:nvSpPr>
        <p:spPr>
          <a:xfrm>
            <a:off x="548640" y="2468880"/>
            <a:ext cx="456840" cy="383760"/>
          </a:xfrm>
          <a:prstGeom prst="roundRect">
            <a:avLst>
              <a:gd name="adj" fmla="val 11905"/>
            </a:avLst>
          </a:prstGeom>
          <a:solidFill>
            <a:srgbClr val="1f3a63"/>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5" name="Shape 8"/>
          <p:cNvSpPr/>
          <p:nvPr/>
        </p:nvSpPr>
        <p:spPr>
          <a:xfrm>
            <a:off x="1115640" y="2468880"/>
            <a:ext cx="456840" cy="383760"/>
          </a:xfrm>
          <a:prstGeom prst="roundRect">
            <a:avLst>
              <a:gd name="adj" fmla="val 11905"/>
            </a:avLst>
          </a:prstGeom>
          <a:solidFill>
            <a:srgbClr val="1f3a63"/>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6" name="Shape 9"/>
          <p:cNvSpPr/>
          <p:nvPr/>
        </p:nvSpPr>
        <p:spPr>
          <a:xfrm>
            <a:off x="1682640" y="2468880"/>
            <a:ext cx="456840" cy="383760"/>
          </a:xfrm>
          <a:prstGeom prst="roundRect">
            <a:avLst>
              <a:gd name="adj" fmla="val 11905"/>
            </a:avLst>
          </a:prstGeom>
          <a:solidFill>
            <a:srgbClr val="1f3a63"/>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7" name="Shape 10"/>
          <p:cNvSpPr/>
          <p:nvPr/>
        </p:nvSpPr>
        <p:spPr>
          <a:xfrm>
            <a:off x="2249280" y="2468880"/>
            <a:ext cx="456840" cy="383760"/>
          </a:xfrm>
          <a:prstGeom prst="roundRect">
            <a:avLst>
              <a:gd name="adj" fmla="val 11905"/>
            </a:avLst>
          </a:prstGeom>
          <a:solidFill>
            <a:srgbClr val="1f3a63"/>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188" name="Text 11"/>
          <p:cNvSpPr/>
          <p:nvPr/>
        </p:nvSpPr>
        <p:spPr>
          <a:xfrm>
            <a:off x="548640" y="3108960"/>
            <a:ext cx="2925720" cy="731160"/>
          </a:xfrm>
          <a:prstGeom prst="rect">
            <a:avLst/>
          </a:prstGeom>
          <a:noFill/>
          <a:ln w="0">
            <a:noFill/>
          </a:ln>
        </p:spPr>
        <p:style>
          <a:lnRef idx="0"/>
          <a:fillRef idx="0"/>
          <a:effectRef idx="0"/>
          <a:fontRef idx="minor"/>
        </p:style>
        <p:txBody>
          <a:bodyPr lIns="0" rIns="0" tIns="0" bIns="0" anchor="ctr">
            <a:noAutofit/>
          </a:bodyPr>
          <a:p>
            <a:pPr defTabSz="914400">
              <a:lnSpc>
                <a:spcPts val="1500"/>
              </a:lnSpc>
              <a:tabLst>
                <a:tab algn="l" pos="0"/>
              </a:tabLst>
            </a:pPr>
            <a:r>
              <a:rPr b="0" lang="en-US" sz="1150" spc="-1" strike="noStrike">
                <a:solidFill>
                  <a:srgbClr val="5b6675"/>
                </a:solidFill>
                <a:latin typeface="Calibri"/>
                <a:ea typeface="Calibri"/>
              </a:rPr>
              <a:t>Every block reads on every token → full weight set streamed per word</a:t>
            </a:r>
            <a:endParaRPr b="0" lang="en-GB" sz="1150" spc="-1" strike="noStrike">
              <a:solidFill>
                <a:srgbClr val="000000"/>
              </a:solidFill>
              <a:latin typeface="Arial"/>
            </a:endParaRPr>
          </a:p>
        </p:txBody>
      </p:sp>
      <p:sp>
        <p:nvSpPr>
          <p:cNvPr id="189" name="Shape 12"/>
          <p:cNvSpPr/>
          <p:nvPr/>
        </p:nvSpPr>
        <p:spPr>
          <a:xfrm>
            <a:off x="3794760" y="2286000"/>
            <a:ext cx="639720" cy="365400"/>
          </a:xfrm>
          <a:prstGeom prst="rightArrow">
            <a:avLst>
              <a:gd name="adj1" fmla="val 50000"/>
              <a:gd name="adj2" fmla="val 50000"/>
            </a:avLst>
          </a:prstGeom>
          <a:solidFill>
            <a:srgbClr val="d7dee5"/>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90" name="Text 13"/>
          <p:cNvSpPr/>
          <p:nvPr/>
        </p:nvSpPr>
        <p:spPr>
          <a:xfrm>
            <a:off x="4663440" y="1600200"/>
            <a:ext cx="32914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1f3a63"/>
                </a:solidFill>
                <a:latin typeface="Calibri"/>
                <a:ea typeface="Calibri"/>
              </a:rPr>
              <a:t>MIXTURE-OF-EXPERTS MODEL</a:t>
            </a:r>
            <a:endParaRPr b="0" lang="en-GB" sz="1200" spc="-1" strike="noStrike">
              <a:solidFill>
                <a:srgbClr val="000000"/>
              </a:solidFill>
              <a:latin typeface="Arial"/>
            </a:endParaRPr>
          </a:p>
        </p:txBody>
      </p:sp>
      <p:sp>
        <p:nvSpPr>
          <p:cNvPr id="191" name="Shape 14"/>
          <p:cNvSpPr/>
          <p:nvPr/>
        </p:nvSpPr>
        <p:spPr>
          <a:xfrm>
            <a:off x="4663440" y="1965960"/>
            <a:ext cx="456840" cy="383760"/>
          </a:xfrm>
          <a:prstGeom prst="roundRect">
            <a:avLst>
              <a:gd name="adj" fmla="val 11905"/>
            </a:avLst>
          </a:prstGeom>
          <a:solidFill>
            <a:srgbClr val="e3e8ec"/>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92" name="Shape 15"/>
          <p:cNvSpPr/>
          <p:nvPr/>
        </p:nvSpPr>
        <p:spPr>
          <a:xfrm>
            <a:off x="5230440" y="1965960"/>
            <a:ext cx="456840" cy="383760"/>
          </a:xfrm>
          <a:prstGeom prst="roundRect">
            <a:avLst>
              <a:gd name="adj" fmla="val 11905"/>
            </a:avLst>
          </a:prstGeom>
          <a:solidFill>
            <a:srgbClr val="e8a33d"/>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93" name="Shape 16"/>
          <p:cNvSpPr/>
          <p:nvPr/>
        </p:nvSpPr>
        <p:spPr>
          <a:xfrm>
            <a:off x="5797440" y="1965960"/>
            <a:ext cx="456840" cy="383760"/>
          </a:xfrm>
          <a:prstGeom prst="roundRect">
            <a:avLst>
              <a:gd name="adj" fmla="val 11905"/>
            </a:avLst>
          </a:prstGeom>
          <a:solidFill>
            <a:srgbClr val="e3e8ec"/>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94" name="Shape 17"/>
          <p:cNvSpPr/>
          <p:nvPr/>
        </p:nvSpPr>
        <p:spPr>
          <a:xfrm>
            <a:off x="6364080" y="1965960"/>
            <a:ext cx="456840" cy="383760"/>
          </a:xfrm>
          <a:prstGeom prst="roundRect">
            <a:avLst>
              <a:gd name="adj" fmla="val 11905"/>
            </a:avLst>
          </a:prstGeom>
          <a:solidFill>
            <a:srgbClr val="e3e8ec"/>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95" name="Shape 18"/>
          <p:cNvSpPr/>
          <p:nvPr/>
        </p:nvSpPr>
        <p:spPr>
          <a:xfrm>
            <a:off x="4663440" y="2468880"/>
            <a:ext cx="456840" cy="383760"/>
          </a:xfrm>
          <a:prstGeom prst="roundRect">
            <a:avLst>
              <a:gd name="adj" fmla="val 11905"/>
            </a:avLst>
          </a:prstGeom>
          <a:solidFill>
            <a:srgbClr val="e3e8ec"/>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96" name="Shape 19"/>
          <p:cNvSpPr/>
          <p:nvPr/>
        </p:nvSpPr>
        <p:spPr>
          <a:xfrm>
            <a:off x="5230440" y="2468880"/>
            <a:ext cx="456840" cy="383760"/>
          </a:xfrm>
          <a:prstGeom prst="roundRect">
            <a:avLst>
              <a:gd name="adj" fmla="val 11905"/>
            </a:avLst>
          </a:prstGeom>
          <a:solidFill>
            <a:srgbClr val="e8a33d"/>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97" name="Shape 20"/>
          <p:cNvSpPr/>
          <p:nvPr/>
        </p:nvSpPr>
        <p:spPr>
          <a:xfrm>
            <a:off x="5797440" y="2468880"/>
            <a:ext cx="456840" cy="383760"/>
          </a:xfrm>
          <a:prstGeom prst="roundRect">
            <a:avLst>
              <a:gd name="adj" fmla="val 11905"/>
            </a:avLst>
          </a:prstGeom>
          <a:solidFill>
            <a:srgbClr val="e3e8ec"/>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98" name="Shape 21"/>
          <p:cNvSpPr/>
          <p:nvPr/>
        </p:nvSpPr>
        <p:spPr>
          <a:xfrm>
            <a:off x="6364080" y="2468880"/>
            <a:ext cx="456840" cy="383760"/>
          </a:xfrm>
          <a:prstGeom prst="roundRect">
            <a:avLst>
              <a:gd name="adj" fmla="val 11905"/>
            </a:avLst>
          </a:prstGeom>
          <a:solidFill>
            <a:srgbClr val="e3e8ec"/>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199" name="Text 22"/>
          <p:cNvSpPr/>
          <p:nvPr/>
        </p:nvSpPr>
        <p:spPr>
          <a:xfrm>
            <a:off x="4663440" y="3108960"/>
            <a:ext cx="3291480" cy="731160"/>
          </a:xfrm>
          <a:prstGeom prst="rect">
            <a:avLst/>
          </a:prstGeom>
          <a:noFill/>
          <a:ln w="0">
            <a:noFill/>
          </a:ln>
        </p:spPr>
        <p:style>
          <a:lnRef idx="0"/>
          <a:fillRef idx="0"/>
          <a:effectRef idx="0"/>
          <a:fontRef idx="minor"/>
        </p:style>
        <p:txBody>
          <a:bodyPr lIns="0" rIns="0" tIns="0" bIns="0" anchor="ctr">
            <a:noAutofit/>
          </a:bodyPr>
          <a:p>
            <a:pPr defTabSz="914400">
              <a:lnSpc>
                <a:spcPts val="1500"/>
              </a:lnSpc>
              <a:tabLst>
                <a:tab algn="l" pos="0"/>
              </a:tabLst>
            </a:pPr>
            <a:r>
              <a:rPr b="0" lang="en-US" sz="1150" spc="-1" strike="noStrike">
                <a:solidFill>
                  <a:srgbClr val="5b6675"/>
                </a:solidFill>
                <a:latin typeface="Calibri"/>
                <a:ea typeface="Calibri"/>
              </a:rPr>
              <a:t>Router activates only a few experts → a fraction of weights streamed per word</a:t>
            </a:r>
            <a:endParaRPr b="0" lang="en-GB" sz="1150" spc="-1" strike="noStrike">
              <a:solidFill>
                <a:srgbClr val="000000"/>
              </a:solidFill>
              <a:latin typeface="Arial"/>
            </a:endParaRPr>
          </a:p>
        </p:txBody>
      </p:sp>
      <p:sp>
        <p:nvSpPr>
          <p:cNvPr id="200" name="Shape 23"/>
          <p:cNvSpPr/>
          <p:nvPr/>
        </p:nvSpPr>
        <p:spPr>
          <a:xfrm>
            <a:off x="8229600" y="1508760"/>
            <a:ext cx="3428640" cy="4205880"/>
          </a:xfrm>
          <a:prstGeom prst="roundRect">
            <a:avLst>
              <a:gd name="adj" fmla="val 2133"/>
            </a:avLst>
          </a:prstGeom>
          <a:solidFill>
            <a:srgbClr val="162447"/>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01" name="Text 24"/>
          <p:cNvSpPr/>
          <p:nvPr/>
        </p:nvSpPr>
        <p:spPr>
          <a:xfrm>
            <a:off x="8503920" y="1737360"/>
            <a:ext cx="2925720" cy="456840"/>
          </a:xfrm>
          <a:prstGeom prst="rect">
            <a:avLst/>
          </a:prstGeom>
          <a:noFill/>
          <a:ln w="0">
            <a:noFill/>
          </a:ln>
        </p:spPr>
        <p:style>
          <a:lnRef idx="0"/>
          <a:fillRef idx="0"/>
          <a:effectRef idx="0"/>
          <a:fontRef idx="minor"/>
        </p:style>
        <p:txBody>
          <a:bodyPr lIns="0" rIns="0" tIns="0" bIns="0" anchor="ctr">
            <a:noAutofit/>
          </a:bodyPr>
          <a:p>
            <a:pPr defTabSz="914400">
              <a:lnSpc>
                <a:spcPts val="1400"/>
              </a:lnSpc>
              <a:tabLst>
                <a:tab algn="l" pos="0"/>
              </a:tabLst>
            </a:pPr>
            <a:r>
              <a:rPr b="1" lang="en-US" sz="1100" spc="97" strike="noStrike">
                <a:solidFill>
                  <a:srgbClr val="e8a33d"/>
                </a:solidFill>
                <a:latin typeface="Calibri"/>
                <a:ea typeface="Calibri"/>
              </a:rPr>
              <a:t>UNTESTED ON OUR HARDWARE</a:t>
            </a:r>
            <a:endParaRPr b="0" lang="en-GB" sz="1100" spc="-1" strike="noStrike">
              <a:solidFill>
                <a:srgbClr val="000000"/>
              </a:solidFill>
              <a:latin typeface="Arial"/>
            </a:endParaRPr>
          </a:p>
        </p:txBody>
      </p:sp>
      <p:sp>
        <p:nvSpPr>
          <p:cNvPr id="202" name="Text 25"/>
          <p:cNvSpPr/>
          <p:nvPr/>
        </p:nvSpPr>
        <p:spPr>
          <a:xfrm>
            <a:off x="8503920" y="2240280"/>
            <a:ext cx="2925720" cy="73116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50" spc="-1" strike="noStrike">
                <a:solidFill>
                  <a:srgbClr val="ffffff"/>
                </a:solidFill>
                <a:latin typeface="Calibri"/>
                <a:ea typeface="Calibri"/>
              </a:rPr>
              <a:t>No MoE benchmark phase finished before time ran out on any device.</a:t>
            </a:r>
            <a:endParaRPr b="0" lang="en-GB" sz="1250" spc="-1" strike="noStrike">
              <a:solidFill>
                <a:srgbClr val="000000"/>
              </a:solidFill>
              <a:latin typeface="Arial"/>
            </a:endParaRPr>
          </a:p>
        </p:txBody>
      </p:sp>
      <p:sp>
        <p:nvSpPr>
          <p:cNvPr id="203" name="Shape 26"/>
          <p:cNvSpPr/>
          <p:nvPr/>
        </p:nvSpPr>
        <p:spPr>
          <a:xfrm>
            <a:off x="8503920" y="3063240"/>
            <a:ext cx="2926080" cy="360"/>
          </a:xfrm>
          <a:prstGeom prst="line">
            <a:avLst/>
          </a:prstGeom>
          <a:ln w="12700">
            <a:solidFill>
              <a:srgbClr val="1f8a9e"/>
            </a:solidFill>
            <a:round/>
          </a:ln>
        </p:spPr>
        <p:style>
          <a:lnRef idx="0"/>
          <a:fillRef idx="0"/>
          <a:effectRef idx="0"/>
          <a:fontRef idx="minor"/>
        </p:style>
        <p:txBody>
          <a:bodyPr lIns="90000" rIns="90000" tIns="-44640" bIns="-44640" anchor="t" anchorCtr="1">
            <a:noAutofit/>
          </a:bodyPr>
          <a:p>
            <a:endParaRPr b="0" lang="en-GB" sz="1800" spc="-1" strike="noStrike">
              <a:solidFill>
                <a:srgbClr val="000000"/>
              </a:solidFill>
              <a:latin typeface="Arial"/>
            </a:endParaRPr>
          </a:p>
        </p:txBody>
      </p:sp>
      <p:sp>
        <p:nvSpPr>
          <p:cNvPr id="204" name="Text 27"/>
          <p:cNvSpPr/>
          <p:nvPr/>
        </p:nvSpPr>
        <p:spPr>
          <a:xfrm>
            <a:off x="8503920" y="3246120"/>
            <a:ext cx="2925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Cambria"/>
                <a:ea typeface="Cambria"/>
              </a:rPr>
              <a:t>4.51 tok/s</a:t>
            </a:r>
            <a:endParaRPr b="0" lang="en-GB" sz="2200" spc="-1" strike="noStrike">
              <a:solidFill>
                <a:srgbClr val="000000"/>
              </a:solidFill>
              <a:latin typeface="Arial"/>
            </a:endParaRPr>
          </a:p>
        </p:txBody>
      </p:sp>
      <p:sp>
        <p:nvSpPr>
          <p:cNvPr id="205" name="Text 28"/>
          <p:cNvSpPr/>
          <p:nvPr/>
        </p:nvSpPr>
        <p:spPr>
          <a:xfrm>
            <a:off x="8503920" y="3703320"/>
            <a:ext cx="2925720" cy="1828440"/>
          </a:xfrm>
          <a:prstGeom prst="rect">
            <a:avLst/>
          </a:prstGeom>
          <a:noFill/>
          <a:ln w="0">
            <a:noFill/>
          </a:ln>
        </p:spPr>
        <p:style>
          <a:lnRef idx="0"/>
          <a:fillRef idx="0"/>
          <a:effectRef idx="0"/>
          <a:fontRef idx="minor"/>
        </p:style>
        <p:txBody>
          <a:bodyPr lIns="0" rIns="0" tIns="0" bIns="0" anchor="ctr">
            <a:noAutofit/>
          </a:bodyPr>
          <a:p>
            <a:pPr defTabSz="914400">
              <a:lnSpc>
                <a:spcPts val="1500"/>
              </a:lnSpc>
              <a:tabLst>
                <a:tab algn="l" pos="0"/>
              </a:tabLst>
            </a:pPr>
            <a:r>
              <a:rPr b="0" i="1" lang="en-US" sz="1150" spc="-1" strike="noStrike">
                <a:solidFill>
                  <a:srgbClr val="dceff2"/>
                </a:solidFill>
                <a:latin typeface="Calibri"/>
                <a:ea typeface="Calibri"/>
              </a:rPr>
              <a:t>671B-param MoE model, 64-core Xeon server (external, third-party) — directionally consistent, ~80× larger than our staged models</a:t>
            </a:r>
            <a:endParaRPr b="0" lang="en-GB" sz="1150" spc="-1" strike="noStrike">
              <a:solidFill>
                <a:srgbClr val="000000"/>
              </a:solidFill>
              <a:latin typeface="Arial"/>
            </a:endParaRPr>
          </a:p>
        </p:txBody>
      </p:sp>
      <p:sp>
        <p:nvSpPr>
          <p:cNvPr id="206" name="Text 29"/>
          <p:cNvSpPr/>
          <p:nvPr/>
        </p:nvSpPr>
        <p:spPr>
          <a:xfrm>
            <a:off x="548640" y="4114800"/>
            <a:ext cx="7406280" cy="1462680"/>
          </a:xfrm>
          <a:prstGeom prst="rect">
            <a:avLst/>
          </a:prstGeom>
          <a:noFill/>
          <a:ln w="0">
            <a:noFill/>
          </a:ln>
        </p:spPr>
        <p:style>
          <a:lnRef idx="0"/>
          <a:fillRef idx="0"/>
          <a:effectRef idx="0"/>
          <a:fontRef idx="minor"/>
        </p:style>
        <p:txBody>
          <a:bodyPr lIns="0" rIns="0" tIns="0" bIns="0" anchor="ctr">
            <a:noAutofit/>
          </a:bodyPr>
          <a:p>
            <a:pPr defTabSz="914400">
              <a:lnSpc>
                <a:spcPts val="1800"/>
              </a:lnSpc>
              <a:tabLst>
                <a:tab algn="l" pos="0"/>
              </a:tabLst>
            </a:pPr>
            <a:r>
              <a:rPr b="0" i="1" lang="en-US" sz="1300" spc="-1" strike="noStrike">
                <a:solidFill>
                  <a:srgbClr val="5b6675"/>
                </a:solidFill>
                <a:latin typeface="Calibri"/>
                <a:ea typeface="Calibri"/>
              </a:rPr>
              <a:t>This is a hypothesis derived from measured dense-model bandwidth mechanics — the clearest next experiment for this line of work, not a result.</a:t>
            </a:r>
            <a:endParaRPr b="0" lang="en-GB" sz="1300" spc="-1" strike="noStrike">
              <a:solidFill>
                <a:srgbClr val="000000"/>
              </a:solidFill>
              <a:latin typeface="Arial"/>
            </a:endParaRPr>
          </a:p>
        </p:txBody>
      </p:sp>
      <p:sp>
        <p:nvSpPr>
          <p:cNvPr id="207" name="Text 30"/>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11</a:t>
            </a:r>
            <a:endParaRPr b="0" lang="en-GB"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208"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UNIFYING THE EFFECTS</a:t>
            </a:r>
            <a:endParaRPr b="0" lang="en-GB" sz="1200" spc="-1" strike="noStrike">
              <a:solidFill>
                <a:srgbClr val="000000"/>
              </a:solidFill>
              <a:latin typeface="Arial"/>
            </a:endParaRPr>
          </a:p>
        </p:txBody>
      </p:sp>
      <p:sp>
        <p:nvSpPr>
          <p:cNvPr id="209"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A roofline model with USL thread scaling</a:t>
            </a:r>
            <a:endParaRPr b="0" lang="en-GB" sz="3000" spc="-1" strike="noStrike">
              <a:solidFill>
                <a:srgbClr val="000000"/>
              </a:solidFill>
              <a:latin typeface="Arial"/>
            </a:endParaRPr>
          </a:p>
        </p:txBody>
      </p:sp>
      <p:sp>
        <p:nvSpPr>
          <p:cNvPr id="210" name="Shape 2"/>
          <p:cNvSpPr/>
          <p:nvPr/>
        </p:nvSpPr>
        <p:spPr>
          <a:xfrm>
            <a:off x="548640" y="1554480"/>
            <a:ext cx="5577480" cy="1919880"/>
          </a:xfrm>
          <a:prstGeom prst="roundRect">
            <a:avLst>
              <a:gd name="adj" fmla="val 3810"/>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11" name="Text 3"/>
          <p:cNvSpPr/>
          <p:nvPr/>
        </p:nvSpPr>
        <p:spPr>
          <a:xfrm>
            <a:off x="822960" y="1737360"/>
            <a:ext cx="51202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f8a9e"/>
                </a:solidFill>
                <a:latin typeface="Calibri"/>
                <a:ea typeface="Calibri"/>
              </a:rPr>
              <a:t>Generation throughput = the lesser of…</a:t>
            </a:r>
            <a:endParaRPr b="0" lang="en-GB" sz="1250" spc="-1" strike="noStrike">
              <a:solidFill>
                <a:srgbClr val="000000"/>
              </a:solidFill>
              <a:latin typeface="Arial"/>
            </a:endParaRPr>
          </a:p>
        </p:txBody>
      </p:sp>
      <p:sp>
        <p:nvSpPr>
          <p:cNvPr id="212" name="Text 4"/>
          <p:cNvSpPr/>
          <p:nvPr/>
        </p:nvSpPr>
        <p:spPr>
          <a:xfrm>
            <a:off x="822960" y="2148840"/>
            <a:ext cx="51202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162447"/>
                </a:solidFill>
                <a:latin typeface="Cambria"/>
                <a:ea typeface="Cambria"/>
              </a:rPr>
              <a:t>USL-scaled compute curve</a:t>
            </a:r>
            <a:endParaRPr b="0" lang="en-GB" sz="1500" spc="-1" strike="noStrike">
              <a:solidFill>
                <a:srgbClr val="000000"/>
              </a:solidFill>
              <a:latin typeface="Arial"/>
            </a:endParaRPr>
          </a:p>
        </p:txBody>
      </p:sp>
      <p:sp>
        <p:nvSpPr>
          <p:cNvPr id="213" name="Text 5"/>
          <p:cNvSpPr/>
          <p:nvPr/>
        </p:nvSpPr>
        <p:spPr>
          <a:xfrm>
            <a:off x="822960" y="2606040"/>
            <a:ext cx="5120280" cy="776880"/>
          </a:xfrm>
          <a:prstGeom prst="rect">
            <a:avLst/>
          </a:prstGeom>
          <a:noFill/>
          <a:ln w="0">
            <a:noFill/>
          </a:ln>
        </p:spPr>
        <p:style>
          <a:lnRef idx="0"/>
          <a:fillRef idx="0"/>
          <a:effectRef idx="0"/>
          <a:fontRef idx="minor"/>
        </p:style>
        <p:txBody>
          <a:bodyPr lIns="0" rIns="0" tIns="0" bIns="0" anchor="ctr">
            <a:noAutofit/>
          </a:bodyPr>
          <a:p>
            <a:pPr defTabSz="914400">
              <a:lnSpc>
                <a:spcPts val="1899"/>
              </a:lnSpc>
              <a:tabLst>
                <a:tab algn="l" pos="0"/>
              </a:tabLst>
            </a:pPr>
            <a:r>
              <a:rPr b="0" lang="en-US" sz="1500" spc="-1" strike="noStrike">
                <a:solidFill>
                  <a:srgbClr val="162447"/>
                </a:solidFill>
                <a:latin typeface="Cambria"/>
                <a:ea typeface="Cambria"/>
              </a:rPr>
              <a:t>a hard bandwidth ceiling: effective bandwidth ÷ bytes streamed per token</a:t>
            </a:r>
            <a:endParaRPr b="0" lang="en-GB" sz="1500" spc="-1" strike="noStrike">
              <a:solidFill>
                <a:srgbClr val="000000"/>
              </a:solidFill>
              <a:latin typeface="Arial"/>
            </a:endParaRPr>
          </a:p>
        </p:txBody>
      </p:sp>
      <p:sp>
        <p:nvSpPr>
          <p:cNvPr id="214" name="Text 6"/>
          <p:cNvSpPr/>
          <p:nvPr/>
        </p:nvSpPr>
        <p:spPr>
          <a:xfrm>
            <a:off x="822960" y="3246120"/>
            <a:ext cx="512028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150" spc="-1" strike="noStrike">
                <a:solidFill>
                  <a:srgbClr val="5b6675"/>
                </a:solidFill>
                <a:latin typeface="Calibri"/>
                <a:ea typeface="Calibri"/>
              </a:rPr>
              <a:t>Whichever constraint binds first is what you observe.</a:t>
            </a:r>
            <a:endParaRPr b="0" lang="en-GB" sz="1150" spc="-1" strike="noStrike">
              <a:solidFill>
                <a:srgbClr val="000000"/>
              </a:solidFill>
              <a:latin typeface="Arial"/>
            </a:endParaRPr>
          </a:p>
        </p:txBody>
      </p:sp>
      <p:sp>
        <p:nvSpPr>
          <p:cNvPr id="215" name="Shape 7"/>
          <p:cNvSpPr/>
          <p:nvPr/>
        </p:nvSpPr>
        <p:spPr>
          <a:xfrm>
            <a:off x="548640" y="3657600"/>
            <a:ext cx="5577480" cy="2057040"/>
          </a:xfrm>
          <a:prstGeom prst="roundRect">
            <a:avLst>
              <a:gd name="adj" fmla="val 3556"/>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16" name="Text 8"/>
          <p:cNvSpPr/>
          <p:nvPr/>
        </p:nvSpPr>
        <p:spPr>
          <a:xfrm>
            <a:off x="822960" y="3840480"/>
            <a:ext cx="51202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f8a9e"/>
                </a:solidFill>
                <a:latin typeface="Calibri"/>
                <a:ea typeface="Calibri"/>
              </a:rPr>
              <a:t>Bytes streamed per token</a:t>
            </a:r>
            <a:endParaRPr b="0" lang="en-GB" sz="1250" spc="-1" strike="noStrike">
              <a:solidFill>
                <a:srgbClr val="000000"/>
              </a:solidFill>
              <a:latin typeface="Arial"/>
            </a:endParaRPr>
          </a:p>
        </p:txBody>
      </p:sp>
      <p:sp>
        <p:nvSpPr>
          <p:cNvPr id="217" name="Text 9"/>
          <p:cNvSpPr/>
          <p:nvPr/>
        </p:nvSpPr>
        <p:spPr>
          <a:xfrm>
            <a:off x="822960" y="4224600"/>
            <a:ext cx="51202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pc="-1" strike="noStrike">
                <a:solidFill>
                  <a:srgbClr val="1b2430"/>
                </a:solidFill>
                <a:latin typeface="Calibri"/>
                <a:ea typeface="Calibri"/>
              </a:rPr>
              <a:t>Dense:  full quantized model size</a:t>
            </a:r>
            <a:endParaRPr b="0" lang="en-GB" sz="1350" spc="-1" strike="noStrike">
              <a:solidFill>
                <a:srgbClr val="000000"/>
              </a:solidFill>
              <a:latin typeface="Arial"/>
            </a:endParaRPr>
          </a:p>
        </p:txBody>
      </p:sp>
      <p:sp>
        <p:nvSpPr>
          <p:cNvPr id="218" name="Text 10"/>
          <p:cNvSpPr/>
          <p:nvPr/>
        </p:nvSpPr>
        <p:spPr>
          <a:xfrm>
            <a:off x="822960" y="4590360"/>
            <a:ext cx="51202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pc="-1" strike="noStrike">
                <a:solidFill>
                  <a:srgbClr val="1b2430"/>
                </a:solidFill>
                <a:latin typeface="Calibri"/>
                <a:ea typeface="Calibri"/>
              </a:rPr>
              <a:t>MoE:  selected experts + shared layers only</a:t>
            </a:r>
            <a:endParaRPr b="0" lang="en-GB" sz="1350" spc="-1" strike="noStrike">
              <a:solidFill>
                <a:srgbClr val="000000"/>
              </a:solidFill>
              <a:latin typeface="Arial"/>
            </a:endParaRPr>
          </a:p>
        </p:txBody>
      </p:sp>
      <p:sp>
        <p:nvSpPr>
          <p:cNvPr id="219" name="Text 11"/>
          <p:cNvSpPr/>
          <p:nvPr/>
        </p:nvSpPr>
        <p:spPr>
          <a:xfrm>
            <a:off x="822960" y="4983480"/>
            <a:ext cx="5120280" cy="639720"/>
          </a:xfrm>
          <a:prstGeom prst="rect">
            <a:avLst/>
          </a:prstGeom>
          <a:noFill/>
          <a:ln w="0">
            <a:noFill/>
          </a:ln>
        </p:spPr>
        <p:style>
          <a:lnRef idx="0"/>
          <a:fillRef idx="0"/>
          <a:effectRef idx="0"/>
          <a:fontRef idx="minor"/>
        </p:style>
        <p:txBody>
          <a:bodyPr lIns="0" rIns="0" tIns="0" bIns="0" anchor="ctr">
            <a:noAutofit/>
          </a:bodyPr>
          <a:p>
            <a:pPr defTabSz="914400">
              <a:lnSpc>
                <a:spcPts val="1551"/>
              </a:lnSpc>
              <a:tabLst>
                <a:tab algn="l" pos="0"/>
              </a:tabLst>
            </a:pPr>
            <a:r>
              <a:rPr b="0" i="1" lang="en-US" sz="1200" spc="-1" strike="noStrike">
                <a:solidFill>
                  <a:srgbClr val="5b6675"/>
                </a:solidFill>
                <a:latin typeface="Calibri"/>
                <a:ea typeface="Calibri"/>
              </a:rPr>
              <a:t>→ </a:t>
            </a:r>
            <a:r>
              <a:rPr b="0" i="1" lang="en-US" sz="1200" spc="-1" strike="noStrike">
                <a:solidFill>
                  <a:srgbClr val="5b6675"/>
                </a:solidFill>
                <a:latin typeface="Calibri"/>
                <a:ea typeface="Calibri"/>
              </a:rPr>
              <a:t>MoE throughput ceiling scales with total⁄active parameter ratio whenever generation is bandwidth-bound.</a:t>
            </a:r>
            <a:endParaRPr b="0" lang="en-GB" sz="1200" spc="-1" strike="noStrike">
              <a:solidFill>
                <a:srgbClr val="000000"/>
              </a:solidFill>
              <a:latin typeface="Arial"/>
            </a:endParaRPr>
          </a:p>
        </p:txBody>
      </p:sp>
      <p:sp>
        <p:nvSpPr>
          <p:cNvPr id="220" name="Shape 12"/>
          <p:cNvSpPr/>
          <p:nvPr/>
        </p:nvSpPr>
        <p:spPr>
          <a:xfrm>
            <a:off x="6400800" y="1554480"/>
            <a:ext cx="5257440" cy="4160160"/>
          </a:xfrm>
          <a:prstGeom prst="roundRect">
            <a:avLst>
              <a:gd name="adj" fmla="val 1758"/>
            </a:avLst>
          </a:prstGeom>
          <a:solidFill>
            <a:srgbClr val="162447"/>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21" name="Text 13"/>
          <p:cNvSpPr/>
          <p:nvPr/>
        </p:nvSpPr>
        <p:spPr>
          <a:xfrm>
            <a:off x="6675120" y="1737360"/>
            <a:ext cx="46630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97" strike="noStrike">
                <a:solidFill>
                  <a:srgbClr val="e8a33d"/>
                </a:solidFill>
                <a:latin typeface="Calibri"/>
                <a:ea typeface="Calibri"/>
              </a:rPr>
              <a:t>WORKED EXAMPLE — RYZEN 5600H, 6 THREADS</a:t>
            </a:r>
            <a:endParaRPr b="0" lang="en-GB" sz="1100" spc="-1" strike="noStrike">
              <a:solidFill>
                <a:srgbClr val="000000"/>
              </a:solidFill>
              <a:latin typeface="Arial"/>
            </a:endParaRPr>
          </a:p>
        </p:txBody>
      </p:sp>
      <p:graphicFrame>
        <p:nvGraphicFramePr>
          <p:cNvPr id="222" name="Table 0"/>
          <p:cNvGraphicFramePr/>
          <p:nvPr/>
        </p:nvGraphicFramePr>
        <p:xfrm>
          <a:off x="6675120" y="2148840"/>
          <a:ext cx="4708800" cy="1051200"/>
        </p:xfrm>
        <a:graphic>
          <a:graphicData uri="http://schemas.openxmlformats.org/drawingml/2006/table">
            <a:tbl>
              <a:tblPr/>
              <a:tblGrid>
                <a:gridCol w="1691640"/>
                <a:gridCol w="1188720"/>
                <a:gridCol w="1188720"/>
                <a:gridCol w="640080"/>
              </a:tblGrid>
              <a:tr h="350280">
                <a:tc>
                  <a:txBody>
                    <a:bodyPr anchor="ctr">
                      <a:noAutofit/>
                    </a:bodyPr>
                    <a:p>
                      <a:endParaRPr b="0" lang="en-US" sz="1250" spc="-1" strike="noStrike">
                        <a:solidFill>
                          <a:schemeClr val="dk1"/>
                        </a:solidFill>
                        <a:latin typeface="Calibri"/>
                        <a:ea typeface="Calibri"/>
                      </a:endParaRPr>
                    </a:p>
                  </a:txBody>
                  <a:tcPr anchor="ctr" marL="91440" marR="91440">
                    <a:lnL w="12240">
                      <a:solidFill>
                        <a:srgbClr val="2c4066"/>
                      </a:solidFill>
                      <a:prstDash val="solid"/>
                    </a:lnL>
                    <a:lnR w="12240">
                      <a:solidFill>
                        <a:srgbClr val="2c4066"/>
                      </a:solidFill>
                      <a:prstDash val="solid"/>
                    </a:lnR>
                    <a:lnT w="12240">
                      <a:solidFill>
                        <a:srgbClr val="2c4066"/>
                      </a:solidFill>
                      <a:prstDash val="solid"/>
                    </a:lnT>
                    <a:lnB w="12240">
                      <a:solidFill>
                        <a:srgbClr val="2c4066"/>
                      </a:solidFill>
                      <a:prstDash val="solid"/>
                    </a:lnB>
                    <a:solidFill>
                      <a:srgbClr val="1f3a63"/>
                    </a:solidFill>
                  </a:tcPr>
                </a:tc>
                <a:tc>
                  <a:txBody>
                    <a:bodyPr anchor="ctr">
                      <a:noAutofit/>
                    </a:bodyPr>
                    <a:p>
                      <a:pPr algn="ctr" defTabSz="914400">
                        <a:lnSpc>
                          <a:spcPct val="100000"/>
                        </a:lnSpc>
                        <a:tabLst>
                          <a:tab algn="l" pos="0"/>
                        </a:tabLst>
                      </a:pPr>
                      <a:r>
                        <a:rPr b="1" lang="en-US" sz="1250" spc="-1" strike="noStrike">
                          <a:solidFill>
                            <a:srgbClr val="ffffff"/>
                          </a:solidFill>
                          <a:latin typeface="Calibri"/>
                          <a:ea typeface="Calibri"/>
                        </a:rPr>
                        <a:t>Predicted</a:t>
                      </a:r>
                      <a:endParaRPr b="0" lang="en-GB" sz="1250" spc="-1" strike="noStrike">
                        <a:solidFill>
                          <a:srgbClr val="ffffff"/>
                        </a:solidFill>
                        <a:latin typeface="Arial"/>
                      </a:endParaRPr>
                    </a:p>
                  </a:txBody>
                  <a:tcPr anchor="ctr" marL="91440" marR="91440">
                    <a:lnL w="12240">
                      <a:solidFill>
                        <a:srgbClr val="2c4066"/>
                      </a:solidFill>
                      <a:prstDash val="solid"/>
                    </a:lnL>
                    <a:lnR w="12240">
                      <a:solidFill>
                        <a:srgbClr val="2c4066"/>
                      </a:solidFill>
                      <a:prstDash val="solid"/>
                    </a:lnR>
                    <a:lnT w="12240">
                      <a:solidFill>
                        <a:srgbClr val="2c4066"/>
                      </a:solidFill>
                      <a:prstDash val="solid"/>
                    </a:lnT>
                    <a:lnB w="12240">
                      <a:solidFill>
                        <a:srgbClr val="2c4066"/>
                      </a:solidFill>
                      <a:prstDash val="solid"/>
                    </a:lnB>
                    <a:solidFill>
                      <a:srgbClr val="1f3a63"/>
                    </a:solidFill>
                  </a:tcPr>
                </a:tc>
                <a:tc>
                  <a:txBody>
                    <a:bodyPr anchor="ctr">
                      <a:noAutofit/>
                    </a:bodyPr>
                    <a:p>
                      <a:pPr algn="ctr" defTabSz="914400">
                        <a:lnSpc>
                          <a:spcPct val="100000"/>
                        </a:lnSpc>
                        <a:tabLst>
                          <a:tab algn="l" pos="0"/>
                        </a:tabLst>
                      </a:pPr>
                      <a:r>
                        <a:rPr b="1" lang="en-US" sz="1250" spc="-1" strike="noStrike">
                          <a:solidFill>
                            <a:srgbClr val="ffffff"/>
                          </a:solidFill>
                          <a:latin typeface="Calibri"/>
                          <a:ea typeface="Calibri"/>
                        </a:rPr>
                        <a:t>Measured</a:t>
                      </a:r>
                      <a:endParaRPr b="0" lang="en-GB" sz="1250" spc="-1" strike="noStrike">
                        <a:solidFill>
                          <a:srgbClr val="ffffff"/>
                        </a:solidFill>
                        <a:latin typeface="Arial"/>
                      </a:endParaRPr>
                    </a:p>
                  </a:txBody>
                  <a:tcPr anchor="ctr" marL="91440" marR="91440">
                    <a:lnL w="12240">
                      <a:solidFill>
                        <a:srgbClr val="2c4066"/>
                      </a:solidFill>
                      <a:prstDash val="solid"/>
                    </a:lnL>
                    <a:lnR w="12240">
                      <a:solidFill>
                        <a:srgbClr val="2c4066"/>
                      </a:solidFill>
                      <a:prstDash val="solid"/>
                    </a:lnR>
                    <a:lnT w="12240">
                      <a:solidFill>
                        <a:srgbClr val="2c4066"/>
                      </a:solidFill>
                      <a:prstDash val="solid"/>
                    </a:lnT>
                    <a:lnB w="12240">
                      <a:solidFill>
                        <a:srgbClr val="2c4066"/>
                      </a:solidFill>
                      <a:prstDash val="solid"/>
                    </a:lnB>
                    <a:solidFill>
                      <a:srgbClr val="1f3a63"/>
                    </a:solidFill>
                  </a:tcPr>
                </a:tc>
                <a:tc>
                  <a:txBody>
                    <a:bodyPr anchor="ctr">
                      <a:noAutofit/>
                    </a:bodyPr>
                    <a:p>
                      <a:pPr algn="ctr" defTabSz="914400">
                        <a:lnSpc>
                          <a:spcPct val="100000"/>
                        </a:lnSpc>
                        <a:tabLst>
                          <a:tab algn="l" pos="0"/>
                        </a:tabLst>
                      </a:pPr>
                      <a:r>
                        <a:rPr b="1" lang="en-US" sz="1250" spc="-1" strike="noStrike">
                          <a:solidFill>
                            <a:srgbClr val="ffffff"/>
                          </a:solidFill>
                          <a:latin typeface="Calibri"/>
                          <a:ea typeface="Calibri"/>
                        </a:rPr>
                        <a:t>Error</a:t>
                      </a:r>
                      <a:endParaRPr b="0" lang="en-GB" sz="1250" spc="-1" strike="noStrike">
                        <a:solidFill>
                          <a:srgbClr val="ffffff"/>
                        </a:solidFill>
                        <a:latin typeface="Arial"/>
                      </a:endParaRPr>
                    </a:p>
                  </a:txBody>
                  <a:tcPr anchor="ctr" marL="91440" marR="91440">
                    <a:lnL w="12240">
                      <a:solidFill>
                        <a:srgbClr val="2c4066"/>
                      </a:solidFill>
                      <a:prstDash val="solid"/>
                    </a:lnL>
                    <a:lnR w="12240">
                      <a:solidFill>
                        <a:srgbClr val="2c4066"/>
                      </a:solidFill>
                      <a:prstDash val="solid"/>
                    </a:lnR>
                    <a:lnT w="12240">
                      <a:solidFill>
                        <a:srgbClr val="2c4066"/>
                      </a:solidFill>
                      <a:prstDash val="solid"/>
                    </a:lnT>
                    <a:lnB w="12240">
                      <a:solidFill>
                        <a:srgbClr val="2c4066"/>
                      </a:solidFill>
                      <a:prstDash val="solid"/>
                    </a:lnB>
                    <a:solidFill>
                      <a:srgbClr val="1f3a63"/>
                    </a:solidFill>
                  </a:tcPr>
                </a:tc>
              </a:tr>
              <a:tr h="350280">
                <a:tc>
                  <a:txBody>
                    <a:bodyPr anchor="ctr">
                      <a:noAutofit/>
                    </a:bodyPr>
                    <a:p>
                      <a:pPr defTabSz="914400">
                        <a:lnSpc>
                          <a:spcPct val="100000"/>
                        </a:lnSpc>
                        <a:tabLst>
                          <a:tab algn="l" pos="0"/>
                        </a:tabLst>
                      </a:pPr>
                      <a:r>
                        <a:rPr b="0" lang="en-US" sz="1250" spc="-1" strike="noStrike">
                          <a:solidFill>
                            <a:srgbClr val="ffffff"/>
                          </a:solidFill>
                          <a:latin typeface="Calibri"/>
                          <a:ea typeface="Calibri"/>
                        </a:rPr>
                        <a:t>Prefill (pp)</a:t>
                      </a:r>
                      <a:endParaRPr b="0" lang="en-GB" sz="1250" spc="-1" strike="noStrike">
                        <a:solidFill>
                          <a:srgbClr val="000000"/>
                        </a:solidFill>
                        <a:latin typeface="Arial"/>
                      </a:endParaRPr>
                    </a:p>
                  </a:txBody>
                  <a:tcPr anchor="ctr" marL="91440" marR="91440">
                    <a:lnL w="12240">
                      <a:solidFill>
                        <a:srgbClr val="2c4066"/>
                      </a:solidFill>
                      <a:prstDash val="solid"/>
                    </a:lnL>
                    <a:lnR w="12240">
                      <a:solidFill>
                        <a:srgbClr val="2c4066"/>
                      </a:solidFill>
                      <a:prstDash val="solid"/>
                    </a:lnR>
                    <a:lnT w="12240">
                      <a:solidFill>
                        <a:srgbClr val="2c4066"/>
                      </a:solidFill>
                      <a:prstDash val="solid"/>
                    </a:lnT>
                    <a:lnB w="12240">
                      <a:solidFill>
                        <a:srgbClr val="2c4066"/>
                      </a:solidFill>
                      <a:prstDash val="solid"/>
                    </a:lnB>
                    <a:noFill/>
                  </a:tcPr>
                </a:tc>
                <a:tc>
                  <a:txBody>
                    <a:bodyPr anchor="ctr">
                      <a:noAutofit/>
                    </a:bodyPr>
                    <a:p>
                      <a:pPr algn="ctr" defTabSz="914400">
                        <a:lnSpc>
                          <a:spcPct val="100000"/>
                        </a:lnSpc>
                        <a:tabLst>
                          <a:tab algn="l" pos="0"/>
                        </a:tabLst>
                      </a:pPr>
                      <a:r>
                        <a:rPr b="0" lang="en-US" sz="1250" spc="-1" strike="noStrike">
                          <a:solidFill>
                            <a:srgbClr val="ffffff"/>
                          </a:solidFill>
                          <a:latin typeface="Calibri"/>
                          <a:ea typeface="Calibri"/>
                        </a:rPr>
                        <a:t>26.2 tok/s</a:t>
                      </a:r>
                      <a:endParaRPr b="0" lang="en-GB" sz="1250" spc="-1" strike="noStrike">
                        <a:solidFill>
                          <a:srgbClr val="000000"/>
                        </a:solidFill>
                        <a:latin typeface="Arial"/>
                      </a:endParaRPr>
                    </a:p>
                  </a:txBody>
                  <a:tcPr anchor="ctr" marL="91440" marR="91440">
                    <a:lnL w="12240">
                      <a:solidFill>
                        <a:srgbClr val="2c4066"/>
                      </a:solidFill>
                      <a:prstDash val="solid"/>
                    </a:lnL>
                    <a:lnR w="12240">
                      <a:solidFill>
                        <a:srgbClr val="2c4066"/>
                      </a:solidFill>
                      <a:prstDash val="solid"/>
                    </a:lnR>
                    <a:lnT w="12240">
                      <a:solidFill>
                        <a:srgbClr val="2c4066"/>
                      </a:solidFill>
                      <a:prstDash val="solid"/>
                    </a:lnT>
                    <a:lnB w="12240">
                      <a:solidFill>
                        <a:srgbClr val="2c4066"/>
                      </a:solidFill>
                      <a:prstDash val="solid"/>
                    </a:lnB>
                    <a:noFill/>
                  </a:tcPr>
                </a:tc>
                <a:tc>
                  <a:txBody>
                    <a:bodyPr anchor="ctr">
                      <a:noAutofit/>
                    </a:bodyPr>
                    <a:p>
                      <a:pPr algn="ctr" defTabSz="914400">
                        <a:lnSpc>
                          <a:spcPct val="100000"/>
                        </a:lnSpc>
                        <a:tabLst>
                          <a:tab algn="l" pos="0"/>
                        </a:tabLst>
                      </a:pPr>
                      <a:r>
                        <a:rPr b="0" lang="en-US" sz="1250" spc="-1" strike="noStrike">
                          <a:solidFill>
                            <a:srgbClr val="ffffff"/>
                          </a:solidFill>
                          <a:latin typeface="Calibri"/>
                          <a:ea typeface="Calibri"/>
                        </a:rPr>
                        <a:t>25.15 tok/s</a:t>
                      </a:r>
                      <a:endParaRPr b="0" lang="en-GB" sz="1250" spc="-1" strike="noStrike">
                        <a:solidFill>
                          <a:srgbClr val="000000"/>
                        </a:solidFill>
                        <a:latin typeface="Arial"/>
                      </a:endParaRPr>
                    </a:p>
                  </a:txBody>
                  <a:tcPr anchor="ctr" marL="91440" marR="91440">
                    <a:lnL w="12240">
                      <a:solidFill>
                        <a:srgbClr val="2c4066"/>
                      </a:solidFill>
                      <a:prstDash val="solid"/>
                    </a:lnL>
                    <a:lnR w="12240">
                      <a:solidFill>
                        <a:srgbClr val="2c4066"/>
                      </a:solidFill>
                      <a:prstDash val="solid"/>
                    </a:lnR>
                    <a:lnT w="12240">
                      <a:solidFill>
                        <a:srgbClr val="2c4066"/>
                      </a:solidFill>
                      <a:prstDash val="solid"/>
                    </a:lnT>
                    <a:lnB w="12240">
                      <a:solidFill>
                        <a:srgbClr val="2c4066"/>
                      </a:solidFill>
                      <a:prstDash val="solid"/>
                    </a:lnB>
                    <a:noFill/>
                  </a:tcPr>
                </a:tc>
                <a:tc>
                  <a:txBody>
                    <a:bodyPr anchor="ctr">
                      <a:noAutofit/>
                    </a:bodyPr>
                    <a:p>
                      <a:pPr algn="ctr" defTabSz="914400">
                        <a:lnSpc>
                          <a:spcPct val="100000"/>
                        </a:lnSpc>
                        <a:tabLst>
                          <a:tab algn="l" pos="0"/>
                        </a:tabLst>
                      </a:pPr>
                      <a:r>
                        <a:rPr b="1" lang="en-US" sz="1250" spc="-1" strike="noStrike">
                          <a:solidFill>
                            <a:srgbClr val="1f8a9e"/>
                          </a:solidFill>
                          <a:latin typeface="Calibri"/>
                          <a:ea typeface="Calibri"/>
                        </a:rPr>
                        <a:t>4%</a:t>
                      </a:r>
                      <a:endParaRPr b="0" lang="en-GB" sz="1250" spc="-1" strike="noStrike">
                        <a:solidFill>
                          <a:srgbClr val="000000"/>
                        </a:solidFill>
                        <a:latin typeface="Arial"/>
                      </a:endParaRPr>
                    </a:p>
                  </a:txBody>
                  <a:tcPr anchor="ctr" marL="91440" marR="91440">
                    <a:lnL w="12240">
                      <a:solidFill>
                        <a:srgbClr val="2c4066"/>
                      </a:solidFill>
                      <a:prstDash val="solid"/>
                    </a:lnL>
                    <a:lnR w="12240">
                      <a:solidFill>
                        <a:srgbClr val="2c4066"/>
                      </a:solidFill>
                      <a:prstDash val="solid"/>
                    </a:lnR>
                    <a:lnT w="12240">
                      <a:solidFill>
                        <a:srgbClr val="2c4066"/>
                      </a:solidFill>
                      <a:prstDash val="solid"/>
                    </a:lnT>
                    <a:lnB w="12240">
                      <a:solidFill>
                        <a:srgbClr val="2c4066"/>
                      </a:solidFill>
                      <a:prstDash val="solid"/>
                    </a:lnB>
                    <a:noFill/>
                  </a:tcPr>
                </a:tc>
              </a:tr>
              <a:tr h="350280">
                <a:tc>
                  <a:txBody>
                    <a:bodyPr anchor="ctr">
                      <a:noAutofit/>
                    </a:bodyPr>
                    <a:p>
                      <a:pPr defTabSz="914400">
                        <a:lnSpc>
                          <a:spcPct val="100000"/>
                        </a:lnSpc>
                        <a:tabLst>
                          <a:tab algn="l" pos="0"/>
                        </a:tabLst>
                      </a:pPr>
                      <a:r>
                        <a:rPr b="0" lang="en-US" sz="1250" spc="-1" strike="noStrike">
                          <a:solidFill>
                            <a:srgbClr val="ffffff"/>
                          </a:solidFill>
                          <a:latin typeface="Calibri"/>
                          <a:ea typeface="Calibri"/>
                        </a:rPr>
                        <a:t>Generation (tg)</a:t>
                      </a:r>
                      <a:endParaRPr b="0" lang="en-GB" sz="1250" spc="-1" strike="noStrike">
                        <a:solidFill>
                          <a:srgbClr val="000000"/>
                        </a:solidFill>
                        <a:latin typeface="Arial"/>
                      </a:endParaRPr>
                    </a:p>
                  </a:txBody>
                  <a:tcPr anchor="ctr" marL="91440" marR="91440">
                    <a:lnL w="12240">
                      <a:solidFill>
                        <a:srgbClr val="2c4066"/>
                      </a:solidFill>
                      <a:prstDash val="solid"/>
                    </a:lnL>
                    <a:lnR w="12240">
                      <a:solidFill>
                        <a:srgbClr val="2c4066"/>
                      </a:solidFill>
                      <a:prstDash val="solid"/>
                    </a:lnR>
                    <a:lnT w="12240">
                      <a:solidFill>
                        <a:srgbClr val="2c4066"/>
                      </a:solidFill>
                      <a:prstDash val="solid"/>
                    </a:lnT>
                    <a:lnB w="12240">
                      <a:solidFill>
                        <a:srgbClr val="2c4066"/>
                      </a:solidFill>
                      <a:prstDash val="solid"/>
                    </a:lnB>
                    <a:noFill/>
                  </a:tcPr>
                </a:tc>
                <a:tc>
                  <a:txBody>
                    <a:bodyPr anchor="ctr">
                      <a:noAutofit/>
                    </a:bodyPr>
                    <a:p>
                      <a:pPr algn="ctr" defTabSz="914400">
                        <a:lnSpc>
                          <a:spcPct val="100000"/>
                        </a:lnSpc>
                        <a:tabLst>
                          <a:tab algn="l" pos="0"/>
                        </a:tabLst>
                      </a:pPr>
                      <a:r>
                        <a:rPr b="0" lang="en-US" sz="1250" spc="-1" strike="noStrike">
                          <a:solidFill>
                            <a:srgbClr val="ffffff"/>
                          </a:solidFill>
                          <a:latin typeface="Calibri"/>
                          <a:ea typeface="Calibri"/>
                        </a:rPr>
                        <a:t>8.12 tok/s</a:t>
                      </a:r>
                      <a:endParaRPr b="0" lang="en-GB" sz="1250" spc="-1" strike="noStrike">
                        <a:solidFill>
                          <a:srgbClr val="000000"/>
                        </a:solidFill>
                        <a:latin typeface="Arial"/>
                      </a:endParaRPr>
                    </a:p>
                  </a:txBody>
                  <a:tcPr anchor="ctr" marL="91440" marR="91440">
                    <a:lnL w="12240">
                      <a:solidFill>
                        <a:srgbClr val="2c4066"/>
                      </a:solidFill>
                      <a:prstDash val="solid"/>
                    </a:lnL>
                    <a:lnR w="12240">
                      <a:solidFill>
                        <a:srgbClr val="2c4066"/>
                      </a:solidFill>
                      <a:prstDash val="solid"/>
                    </a:lnR>
                    <a:lnT w="12240">
                      <a:solidFill>
                        <a:srgbClr val="2c4066"/>
                      </a:solidFill>
                      <a:prstDash val="solid"/>
                    </a:lnT>
                    <a:lnB w="12240">
                      <a:solidFill>
                        <a:srgbClr val="2c4066"/>
                      </a:solidFill>
                      <a:prstDash val="solid"/>
                    </a:lnB>
                    <a:noFill/>
                  </a:tcPr>
                </a:tc>
                <a:tc>
                  <a:txBody>
                    <a:bodyPr anchor="ctr">
                      <a:noAutofit/>
                    </a:bodyPr>
                    <a:p>
                      <a:pPr algn="ctr" defTabSz="914400">
                        <a:lnSpc>
                          <a:spcPct val="100000"/>
                        </a:lnSpc>
                        <a:tabLst>
                          <a:tab algn="l" pos="0"/>
                        </a:tabLst>
                      </a:pPr>
                      <a:r>
                        <a:rPr b="0" lang="en-US" sz="1250" spc="-1" strike="noStrike">
                          <a:solidFill>
                            <a:srgbClr val="ffffff"/>
                          </a:solidFill>
                          <a:latin typeface="Calibri"/>
                          <a:ea typeface="Calibri"/>
                        </a:rPr>
                        <a:t>6.90 tok/s</a:t>
                      </a:r>
                      <a:endParaRPr b="0" lang="en-GB" sz="1250" spc="-1" strike="noStrike">
                        <a:solidFill>
                          <a:srgbClr val="000000"/>
                        </a:solidFill>
                        <a:latin typeface="Arial"/>
                      </a:endParaRPr>
                    </a:p>
                  </a:txBody>
                  <a:tcPr anchor="ctr" marL="91440" marR="91440">
                    <a:lnL w="12240">
                      <a:solidFill>
                        <a:srgbClr val="2c4066"/>
                      </a:solidFill>
                      <a:prstDash val="solid"/>
                    </a:lnL>
                    <a:lnR w="12240">
                      <a:solidFill>
                        <a:srgbClr val="2c4066"/>
                      </a:solidFill>
                      <a:prstDash val="solid"/>
                    </a:lnR>
                    <a:lnT w="12240">
                      <a:solidFill>
                        <a:srgbClr val="2c4066"/>
                      </a:solidFill>
                      <a:prstDash val="solid"/>
                    </a:lnT>
                    <a:lnB w="12240">
                      <a:solidFill>
                        <a:srgbClr val="2c4066"/>
                      </a:solidFill>
                      <a:prstDash val="solid"/>
                    </a:lnB>
                    <a:noFill/>
                  </a:tcPr>
                </a:tc>
                <a:tc>
                  <a:txBody>
                    <a:bodyPr anchor="ctr">
                      <a:noAutofit/>
                    </a:bodyPr>
                    <a:p>
                      <a:pPr algn="ctr" defTabSz="914400">
                        <a:lnSpc>
                          <a:spcPct val="100000"/>
                        </a:lnSpc>
                        <a:tabLst>
                          <a:tab algn="l" pos="0"/>
                        </a:tabLst>
                      </a:pPr>
                      <a:r>
                        <a:rPr b="1" lang="en-US" sz="1250" spc="-1" strike="noStrike">
                          <a:solidFill>
                            <a:srgbClr val="e8a33d"/>
                          </a:solidFill>
                          <a:latin typeface="Calibri"/>
                          <a:ea typeface="Calibri"/>
                        </a:rPr>
                        <a:t>18%</a:t>
                      </a:r>
                      <a:endParaRPr b="0" lang="en-GB" sz="1250" spc="-1" strike="noStrike">
                        <a:solidFill>
                          <a:srgbClr val="000000"/>
                        </a:solidFill>
                        <a:latin typeface="Arial"/>
                      </a:endParaRPr>
                    </a:p>
                  </a:txBody>
                  <a:tcPr anchor="ctr" marL="91440" marR="91440">
                    <a:lnL w="12240">
                      <a:solidFill>
                        <a:srgbClr val="2c4066"/>
                      </a:solidFill>
                      <a:prstDash val="solid"/>
                    </a:lnL>
                    <a:lnR w="12240">
                      <a:solidFill>
                        <a:srgbClr val="2c4066"/>
                      </a:solidFill>
                      <a:prstDash val="solid"/>
                    </a:lnR>
                    <a:lnT w="12240">
                      <a:solidFill>
                        <a:srgbClr val="2c4066"/>
                      </a:solidFill>
                      <a:prstDash val="solid"/>
                    </a:lnT>
                    <a:lnB w="12240">
                      <a:solidFill>
                        <a:srgbClr val="2c4066"/>
                      </a:solidFill>
                      <a:prstDash val="solid"/>
                    </a:lnB>
                    <a:noFill/>
                  </a:tcPr>
                </a:tc>
              </a:tr>
            </a:tbl>
          </a:graphicData>
        </a:graphic>
      </p:graphicFrame>
      <p:sp>
        <p:nvSpPr>
          <p:cNvPr id="223" name="Text 14"/>
          <p:cNvSpPr/>
          <p:nvPr/>
        </p:nvSpPr>
        <p:spPr>
          <a:xfrm>
            <a:off x="6675120" y="3429000"/>
            <a:ext cx="46630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dceff2"/>
                </a:solidFill>
                <a:latin typeface="Calibri"/>
                <a:ea typeface="Calibri"/>
              </a:rPr>
              <a:t>Calibration inputs (from just 5 measurements):</a:t>
            </a:r>
            <a:endParaRPr b="0" lang="en-GB" sz="1150" spc="-1" strike="noStrike">
              <a:solidFill>
                <a:srgbClr val="000000"/>
              </a:solidFill>
              <a:latin typeface="Arial"/>
            </a:endParaRPr>
          </a:p>
        </p:txBody>
      </p:sp>
      <p:sp>
        <p:nvSpPr>
          <p:cNvPr id="224" name="Text 15"/>
          <p:cNvSpPr/>
          <p:nvPr/>
        </p:nvSpPr>
        <p:spPr>
          <a:xfrm>
            <a:off x="6675120" y="3749040"/>
            <a:ext cx="4708800" cy="1828440"/>
          </a:xfrm>
          <a:prstGeom prst="rect">
            <a:avLst/>
          </a:prstGeom>
          <a:noFill/>
          <a:ln w="0">
            <a:noFill/>
          </a:ln>
        </p:spPr>
        <p:style>
          <a:lnRef idx="0"/>
          <a:fillRef idx="0"/>
          <a:effectRef idx="0"/>
          <a:fontRef idx="minor"/>
        </p:style>
        <p:txBody>
          <a:bodyPr lIns="0" rIns="0" tIns="0" bIns="0" anchor="ctr">
            <a:noAutofit/>
          </a:bodyPr>
          <a:p>
            <a:pPr defTabSz="914400">
              <a:lnSpc>
                <a:spcPts val="1701"/>
              </a:lnSpc>
              <a:tabLst>
                <a:tab algn="l" pos="0"/>
              </a:tabLst>
            </a:pPr>
            <a:r>
              <a:rPr b="0" lang="en-US" sz="1200" spc="-1" strike="noStrike">
                <a:solidFill>
                  <a:srgbClr val="ffffff"/>
                </a:solidFill>
                <a:latin typeface="Calibri"/>
                <a:ea typeface="Calibri"/>
              </a:rPr>
              <a:t>•  </a:t>
            </a:r>
            <a:r>
              <a:rPr b="0" lang="en-US" sz="1200" spc="-1" strike="noStrike">
                <a:solidFill>
                  <a:srgbClr val="ffffff"/>
                </a:solidFill>
                <a:latin typeface="Calibri"/>
                <a:ea typeface="Calibri"/>
              </a:rPr>
              <a:t>Single-thread baselines: P₁=7.81, G₁=3.95 tok/s</a:t>
            </a:r>
            <a:endParaRPr b="0" lang="en-GB" sz="1200" spc="-1" strike="noStrike">
              <a:solidFill>
                <a:srgbClr val="000000"/>
              </a:solidFill>
              <a:latin typeface="Arial"/>
            </a:endParaRPr>
          </a:p>
          <a:p>
            <a:pPr defTabSz="914400">
              <a:lnSpc>
                <a:spcPts val="1701"/>
              </a:lnSpc>
              <a:tabLst>
                <a:tab algn="l" pos="0"/>
              </a:tabLst>
            </a:pPr>
            <a:r>
              <a:rPr b="0" lang="en-US" sz="1200" spc="-1" strike="noStrike">
                <a:solidFill>
                  <a:srgbClr val="ffffff"/>
                </a:solidFill>
                <a:latin typeface="Calibri"/>
                <a:ea typeface="Calibri"/>
              </a:rPr>
              <a:t>•  </a:t>
            </a:r>
            <a:r>
              <a:rPr b="0" lang="en-US" sz="1200" spc="-1" strike="noStrike">
                <a:solidFill>
                  <a:srgbClr val="ffffff"/>
                </a:solidFill>
                <a:latin typeface="Calibri"/>
                <a:ea typeface="Calibri"/>
              </a:rPr>
              <a:t>USL contention fit from the thread sweep</a:t>
            </a:r>
            <a:endParaRPr b="0" lang="en-GB" sz="1200" spc="-1" strike="noStrike">
              <a:solidFill>
                <a:srgbClr val="000000"/>
              </a:solidFill>
              <a:latin typeface="Arial"/>
            </a:endParaRPr>
          </a:p>
          <a:p>
            <a:pPr defTabSz="914400">
              <a:lnSpc>
                <a:spcPts val="1701"/>
              </a:lnSpc>
              <a:tabLst>
                <a:tab algn="l" pos="0"/>
              </a:tabLst>
            </a:pPr>
            <a:r>
              <a:rPr b="0" lang="en-US" sz="1200" spc="-1" strike="noStrike">
                <a:solidFill>
                  <a:srgbClr val="ffffff"/>
                </a:solidFill>
                <a:latin typeface="Calibri"/>
                <a:ea typeface="Calibri"/>
              </a:rPr>
              <a:t>•  </a:t>
            </a:r>
            <a:r>
              <a:rPr b="0" lang="en-US" sz="1200" spc="-1" strike="noStrike">
                <a:solidFill>
                  <a:srgbClr val="ffffff"/>
                </a:solidFill>
                <a:latin typeface="Calibri"/>
                <a:ea typeface="Calibri"/>
              </a:rPr>
              <a:t>Effective bandwidth backed out: ~41 GB/s (~80% of the 51 GB/s theoretical peak — consistent with sustained, not burst, bandwidth)</a:t>
            </a:r>
            <a:endParaRPr b="0" lang="en-GB" sz="1200" spc="-1" strike="noStrike">
              <a:solidFill>
                <a:srgbClr val="000000"/>
              </a:solidFill>
              <a:latin typeface="Arial"/>
            </a:endParaRPr>
          </a:p>
        </p:txBody>
      </p:sp>
      <p:sp>
        <p:nvSpPr>
          <p:cNvPr id="225" name="Text 16"/>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12</a:t>
            </a:r>
            <a:endParaRPr b="0" lang="en-GB"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226"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TURNING THE MODEL INTO ADVICE</a:t>
            </a:r>
            <a:endParaRPr b="0" lang="en-GB" sz="1200" spc="-1" strike="noStrike">
              <a:solidFill>
                <a:srgbClr val="000000"/>
              </a:solidFill>
              <a:latin typeface="Arial"/>
            </a:endParaRPr>
          </a:p>
        </p:txBody>
      </p:sp>
      <p:sp>
        <p:nvSpPr>
          <p:cNvPr id="227"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Practical deployment recommendations</a:t>
            </a:r>
            <a:endParaRPr b="0" lang="en-GB" sz="3000" spc="-1" strike="noStrike">
              <a:solidFill>
                <a:srgbClr val="000000"/>
              </a:solidFill>
              <a:latin typeface="Arial"/>
            </a:endParaRPr>
          </a:p>
        </p:txBody>
      </p:sp>
      <p:sp>
        <p:nvSpPr>
          <p:cNvPr id="228" name="Shape 2"/>
          <p:cNvSpPr/>
          <p:nvPr/>
        </p:nvSpPr>
        <p:spPr>
          <a:xfrm>
            <a:off x="548640" y="1600200"/>
            <a:ext cx="5348880" cy="1300000"/>
          </a:xfrm>
          <a:prstGeom prst="roundRect">
            <a:avLst>
              <a:gd name="adj" fmla="val 5161"/>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29" name="Shape 3"/>
          <p:cNvSpPr/>
          <p:nvPr/>
        </p:nvSpPr>
        <p:spPr>
          <a:xfrm>
            <a:off x="777240" y="1828800"/>
            <a:ext cx="456840" cy="456840"/>
          </a:xfrm>
          <a:prstGeom prst="roundRect">
            <a:avLst>
              <a:gd name="adj" fmla="val 50000"/>
            </a:avLst>
          </a:prstGeom>
          <a:solidFill>
            <a:srgbClr val="1f8a9e"/>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30" name="Text 4"/>
          <p:cNvSpPr/>
          <p:nvPr/>
        </p:nvSpPr>
        <p:spPr>
          <a:xfrm>
            <a:off x="777240" y="18288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mbria"/>
                <a:ea typeface="Cambria"/>
              </a:rPr>
              <a:t>1</a:t>
            </a:r>
            <a:endParaRPr b="0" lang="en-GB" sz="1500" spc="-1" strike="noStrike">
              <a:solidFill>
                <a:srgbClr val="000000"/>
              </a:solidFill>
              <a:latin typeface="Arial"/>
            </a:endParaRPr>
          </a:p>
        </p:txBody>
      </p:sp>
      <p:sp>
        <p:nvSpPr>
          <p:cNvPr id="231" name="Text 5"/>
          <p:cNvSpPr/>
          <p:nvPr/>
        </p:nvSpPr>
        <p:spPr>
          <a:xfrm>
            <a:off x="1417320" y="1764720"/>
            <a:ext cx="4297320" cy="685440"/>
          </a:xfrm>
          <a:prstGeom prst="rect">
            <a:avLst/>
          </a:prstGeom>
          <a:noFill/>
          <a:ln w="0">
            <a:noFill/>
          </a:ln>
        </p:spPr>
        <p:style>
          <a:lnRef idx="0"/>
          <a:fillRef idx="0"/>
          <a:effectRef idx="0"/>
          <a:fontRef idx="minor"/>
        </p:style>
        <p:txBody>
          <a:bodyPr lIns="0" rIns="0" tIns="0" bIns="0" anchor="ctr">
            <a:noAutofit/>
          </a:bodyPr>
          <a:p>
            <a:pPr defTabSz="914400">
              <a:lnSpc>
                <a:spcPts val="1551"/>
              </a:lnSpc>
              <a:tabLst>
                <a:tab algn="l" pos="0"/>
              </a:tabLst>
            </a:pPr>
            <a:r>
              <a:rPr b="1" lang="en-US" sz="1300" spc="-1" strike="noStrike">
                <a:solidFill>
                  <a:srgbClr val="162447"/>
                </a:solidFill>
                <a:latin typeface="Calibri"/>
                <a:ea typeface="Calibri"/>
              </a:rPr>
              <a:t>Disable Flash Attention at long context</a:t>
            </a:r>
            <a:endParaRPr b="0" lang="en-GB" sz="1300" spc="-1" strike="noStrike">
              <a:solidFill>
                <a:srgbClr val="000000"/>
              </a:solidFill>
              <a:latin typeface="Arial"/>
            </a:endParaRPr>
          </a:p>
        </p:txBody>
      </p:sp>
      <p:sp>
        <p:nvSpPr>
          <p:cNvPr id="232" name="Text 6"/>
          <p:cNvSpPr/>
          <p:nvPr/>
        </p:nvSpPr>
        <p:spPr>
          <a:xfrm>
            <a:off x="1417320" y="2423160"/>
            <a:ext cx="4297320" cy="502560"/>
          </a:xfrm>
          <a:prstGeom prst="rect">
            <a:avLst/>
          </a:prstGeom>
          <a:noFill/>
          <a:ln w="0">
            <a:noFill/>
          </a:ln>
        </p:spPr>
        <p:style>
          <a:lnRef idx="0"/>
          <a:fillRef idx="0"/>
          <a:effectRef idx="0"/>
          <a:fontRef idx="minor"/>
        </p:style>
        <p:txBody>
          <a:bodyPr lIns="0" rIns="0" tIns="0" bIns="0" anchor="ctr">
            <a:noAutofit/>
          </a:bodyPr>
          <a:p>
            <a:pPr defTabSz="914400">
              <a:lnSpc>
                <a:spcPts val="1349"/>
              </a:lnSpc>
              <a:tabLst>
                <a:tab algn="l" pos="0"/>
              </a:tabLst>
            </a:pPr>
            <a:r>
              <a:rPr b="0" lang="en-US" sz="1050" spc="-1" strike="noStrike">
                <a:solidFill>
                  <a:srgbClr val="5b6675"/>
                </a:solidFill>
                <a:latin typeface="Calibri"/>
                <a:ea typeface="Calibri"/>
              </a:rPr>
              <a:t>Many front-ends default to -fa 1, which is harmful on CPU.</a:t>
            </a:r>
            <a:endParaRPr b="0" lang="en-GB" sz="1050" spc="-1" strike="noStrike">
              <a:solidFill>
                <a:srgbClr val="000000"/>
              </a:solidFill>
              <a:latin typeface="Arial"/>
            </a:endParaRPr>
          </a:p>
        </p:txBody>
      </p:sp>
      <p:sp>
        <p:nvSpPr>
          <p:cNvPr id="233" name="Shape 7"/>
          <p:cNvSpPr/>
          <p:nvPr/>
        </p:nvSpPr>
        <p:spPr>
          <a:xfrm>
            <a:off x="548640" y="3050200"/>
            <a:ext cx="5348880" cy="1300000"/>
          </a:xfrm>
          <a:prstGeom prst="roundRect">
            <a:avLst>
              <a:gd name="adj" fmla="val 5161"/>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34" name="Shape 8"/>
          <p:cNvSpPr/>
          <p:nvPr/>
        </p:nvSpPr>
        <p:spPr>
          <a:xfrm>
            <a:off x="777240" y="3278800"/>
            <a:ext cx="456840" cy="456840"/>
          </a:xfrm>
          <a:prstGeom prst="roundRect">
            <a:avLst>
              <a:gd name="adj" fmla="val 50000"/>
            </a:avLst>
          </a:prstGeom>
          <a:solidFill>
            <a:srgbClr val="1f8a9e"/>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35" name="Text 9"/>
          <p:cNvSpPr/>
          <p:nvPr/>
        </p:nvSpPr>
        <p:spPr>
          <a:xfrm>
            <a:off x="777240" y="32788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mbria"/>
                <a:ea typeface="Cambria"/>
              </a:rPr>
              <a:t>2</a:t>
            </a:r>
            <a:endParaRPr b="0" lang="en-GB" sz="1500" spc="-1" strike="noStrike">
              <a:solidFill>
                <a:srgbClr val="000000"/>
              </a:solidFill>
              <a:latin typeface="Arial"/>
            </a:endParaRPr>
          </a:p>
        </p:txBody>
      </p:sp>
      <p:sp>
        <p:nvSpPr>
          <p:cNvPr id="236" name="Text 10"/>
          <p:cNvSpPr/>
          <p:nvPr/>
        </p:nvSpPr>
        <p:spPr>
          <a:xfrm>
            <a:off x="1417320" y="3214720"/>
            <a:ext cx="4297320" cy="685440"/>
          </a:xfrm>
          <a:prstGeom prst="rect">
            <a:avLst/>
          </a:prstGeom>
          <a:noFill/>
          <a:ln w="0">
            <a:noFill/>
          </a:ln>
        </p:spPr>
        <p:style>
          <a:lnRef idx="0"/>
          <a:fillRef idx="0"/>
          <a:effectRef idx="0"/>
          <a:fontRef idx="minor"/>
        </p:style>
        <p:txBody>
          <a:bodyPr lIns="0" rIns="0" tIns="0" bIns="0" anchor="ctr">
            <a:noAutofit/>
          </a:bodyPr>
          <a:p>
            <a:pPr defTabSz="914400">
              <a:lnSpc>
                <a:spcPts val="1551"/>
              </a:lnSpc>
              <a:tabLst>
                <a:tab algn="l" pos="0"/>
              </a:tabLst>
            </a:pPr>
            <a:r>
              <a:rPr b="1" lang="en-US" sz="1300" spc="-1" strike="noStrike">
                <a:solidFill>
                  <a:srgbClr val="162447"/>
                </a:solidFill>
                <a:latin typeface="Calibri"/>
                <a:ea typeface="Calibri"/>
              </a:rPr>
              <a:t>Don't quantize the KV cache on compute-rich CPUs</a:t>
            </a:r>
            <a:endParaRPr b="0" lang="en-GB" sz="1300" spc="-1" strike="noStrike">
              <a:solidFill>
                <a:srgbClr val="000000"/>
              </a:solidFill>
              <a:latin typeface="Arial"/>
            </a:endParaRPr>
          </a:p>
        </p:txBody>
      </p:sp>
      <p:sp>
        <p:nvSpPr>
          <p:cNvPr id="237" name="Text 11"/>
          <p:cNvSpPr/>
          <p:nvPr/>
        </p:nvSpPr>
        <p:spPr>
          <a:xfrm>
            <a:off x="1417320" y="3873160"/>
            <a:ext cx="4297320" cy="502560"/>
          </a:xfrm>
          <a:prstGeom prst="rect">
            <a:avLst/>
          </a:prstGeom>
          <a:noFill/>
          <a:ln w="0">
            <a:noFill/>
          </a:ln>
        </p:spPr>
        <p:style>
          <a:lnRef idx="0"/>
          <a:fillRef idx="0"/>
          <a:effectRef idx="0"/>
          <a:fontRef idx="minor"/>
        </p:style>
        <p:txBody>
          <a:bodyPr lIns="0" rIns="0" tIns="0" bIns="0" anchor="ctr">
            <a:noAutofit/>
          </a:bodyPr>
          <a:p>
            <a:pPr defTabSz="914400">
              <a:lnSpc>
                <a:spcPts val="1349"/>
              </a:lnSpc>
              <a:tabLst>
                <a:tab algn="l" pos="0"/>
              </a:tabLst>
            </a:pPr>
            <a:r>
              <a:rPr b="0" lang="en-US" sz="1050" spc="-1" strike="noStrike">
                <a:solidFill>
                  <a:srgbClr val="5b6675"/>
                </a:solidFill>
                <a:latin typeface="Calibri"/>
                <a:ea typeface="Calibri"/>
              </a:rPr>
              <a:t>Use -ctk f16 -ctv f16 unless truly bandwidth-starved.</a:t>
            </a:r>
            <a:endParaRPr b="0" lang="en-GB" sz="1050" spc="-1" strike="noStrike">
              <a:solidFill>
                <a:srgbClr val="000000"/>
              </a:solidFill>
              <a:latin typeface="Arial"/>
            </a:endParaRPr>
          </a:p>
        </p:txBody>
      </p:sp>
      <p:sp>
        <p:nvSpPr>
          <p:cNvPr id="238" name="Shape 12"/>
          <p:cNvSpPr/>
          <p:nvPr/>
        </p:nvSpPr>
        <p:spPr>
          <a:xfrm>
            <a:off x="548640" y="4500200"/>
            <a:ext cx="5348880" cy="1300000"/>
          </a:xfrm>
          <a:prstGeom prst="roundRect">
            <a:avLst>
              <a:gd name="adj" fmla="val 5161"/>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39" name="Shape 13"/>
          <p:cNvSpPr/>
          <p:nvPr/>
        </p:nvSpPr>
        <p:spPr>
          <a:xfrm>
            <a:off x="777240" y="4728800"/>
            <a:ext cx="456840" cy="456840"/>
          </a:xfrm>
          <a:prstGeom prst="roundRect">
            <a:avLst>
              <a:gd name="adj" fmla="val 50000"/>
            </a:avLst>
          </a:prstGeom>
          <a:solidFill>
            <a:srgbClr val="1f8a9e"/>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40" name="Text 14"/>
          <p:cNvSpPr/>
          <p:nvPr/>
        </p:nvSpPr>
        <p:spPr>
          <a:xfrm>
            <a:off x="777240" y="47288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mbria"/>
                <a:ea typeface="Cambria"/>
              </a:rPr>
              <a:t>3</a:t>
            </a:r>
            <a:endParaRPr b="0" lang="en-GB" sz="1500" spc="-1" strike="noStrike">
              <a:solidFill>
                <a:srgbClr val="000000"/>
              </a:solidFill>
              <a:latin typeface="Arial"/>
            </a:endParaRPr>
          </a:p>
        </p:txBody>
      </p:sp>
      <p:sp>
        <p:nvSpPr>
          <p:cNvPr id="241" name="Text 15"/>
          <p:cNvSpPr/>
          <p:nvPr/>
        </p:nvSpPr>
        <p:spPr>
          <a:xfrm>
            <a:off x="1417320" y="4664720"/>
            <a:ext cx="4297320" cy="685440"/>
          </a:xfrm>
          <a:prstGeom prst="rect">
            <a:avLst/>
          </a:prstGeom>
          <a:noFill/>
          <a:ln w="0">
            <a:noFill/>
          </a:ln>
        </p:spPr>
        <p:style>
          <a:lnRef idx="0"/>
          <a:fillRef idx="0"/>
          <a:effectRef idx="0"/>
          <a:fontRef idx="minor"/>
        </p:style>
        <p:txBody>
          <a:bodyPr lIns="0" rIns="0" tIns="0" bIns="0" anchor="ctr">
            <a:noAutofit/>
          </a:bodyPr>
          <a:p>
            <a:pPr defTabSz="914400">
              <a:lnSpc>
                <a:spcPts val="1551"/>
              </a:lnSpc>
              <a:tabLst>
                <a:tab algn="l" pos="0"/>
              </a:tabLst>
            </a:pPr>
            <a:r>
              <a:rPr b="1" lang="en-US" sz="1300" spc="-1" strike="noStrike">
                <a:solidFill>
                  <a:srgbClr val="162447"/>
                </a:solidFill>
                <a:latin typeface="Calibri"/>
                <a:ea typeface="Calibri"/>
              </a:rPr>
              <a:t>Set threads to the physical core count</a:t>
            </a:r>
            <a:endParaRPr b="0" lang="en-GB" sz="1300" spc="-1" strike="noStrike">
              <a:solidFill>
                <a:srgbClr val="000000"/>
              </a:solidFill>
              <a:latin typeface="Arial"/>
            </a:endParaRPr>
          </a:p>
        </p:txBody>
      </p:sp>
      <p:sp>
        <p:nvSpPr>
          <p:cNvPr id="242" name="Text 16"/>
          <p:cNvSpPr/>
          <p:nvPr/>
        </p:nvSpPr>
        <p:spPr>
          <a:xfrm>
            <a:off x="1417320" y="5323160"/>
            <a:ext cx="4297320" cy="502560"/>
          </a:xfrm>
          <a:prstGeom prst="rect">
            <a:avLst/>
          </a:prstGeom>
          <a:noFill/>
          <a:ln w="0">
            <a:noFill/>
          </a:ln>
        </p:spPr>
        <p:style>
          <a:lnRef idx="0"/>
          <a:fillRef idx="0"/>
          <a:effectRef idx="0"/>
          <a:fontRef idx="minor"/>
        </p:style>
        <p:txBody>
          <a:bodyPr lIns="0" rIns="0" tIns="0" bIns="0" anchor="ctr">
            <a:noAutofit/>
          </a:bodyPr>
          <a:p>
            <a:pPr defTabSz="914400">
              <a:lnSpc>
                <a:spcPts val="1349"/>
              </a:lnSpc>
              <a:tabLst>
                <a:tab algn="l" pos="0"/>
              </a:tabLst>
            </a:pPr>
            <a:r>
              <a:rPr b="0" lang="en-US" sz="1050" spc="-1" strike="noStrike">
                <a:solidFill>
                  <a:srgbClr val="5b6675"/>
                </a:solidFill>
                <a:latin typeface="Calibri"/>
                <a:ea typeface="Calibri"/>
              </a:rPr>
              <a:t>Hyperthreads help prefill little and hurt generation.</a:t>
            </a:r>
            <a:endParaRPr b="0" lang="en-GB" sz="1050" spc="-1" strike="noStrike">
              <a:solidFill>
                <a:srgbClr val="000000"/>
              </a:solidFill>
              <a:latin typeface="Arial"/>
            </a:endParaRPr>
          </a:p>
        </p:txBody>
      </p:sp>
      <p:sp>
        <p:nvSpPr>
          <p:cNvPr id="243" name="Shape 17"/>
          <p:cNvSpPr/>
          <p:nvPr/>
        </p:nvSpPr>
        <p:spPr>
          <a:xfrm>
            <a:off x="6263640" y="1600200"/>
            <a:ext cx="5348880" cy="1300000"/>
          </a:xfrm>
          <a:prstGeom prst="roundRect">
            <a:avLst>
              <a:gd name="adj" fmla="val 5161"/>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44" name="Shape 18"/>
          <p:cNvSpPr/>
          <p:nvPr/>
        </p:nvSpPr>
        <p:spPr>
          <a:xfrm>
            <a:off x="6492240" y="1828800"/>
            <a:ext cx="456840" cy="456840"/>
          </a:xfrm>
          <a:prstGeom prst="roundRect">
            <a:avLst>
              <a:gd name="adj" fmla="val 50000"/>
            </a:avLst>
          </a:prstGeom>
          <a:solidFill>
            <a:srgbClr val="1f8a9e"/>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45" name="Text 19"/>
          <p:cNvSpPr/>
          <p:nvPr/>
        </p:nvSpPr>
        <p:spPr>
          <a:xfrm>
            <a:off x="6492240" y="18288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mbria"/>
                <a:ea typeface="Cambria"/>
              </a:rPr>
              <a:t>4</a:t>
            </a:r>
            <a:endParaRPr b="0" lang="en-GB" sz="1500" spc="-1" strike="noStrike">
              <a:solidFill>
                <a:srgbClr val="000000"/>
              </a:solidFill>
              <a:latin typeface="Arial"/>
            </a:endParaRPr>
          </a:p>
        </p:txBody>
      </p:sp>
      <p:sp>
        <p:nvSpPr>
          <p:cNvPr id="246" name="Text 20"/>
          <p:cNvSpPr/>
          <p:nvPr/>
        </p:nvSpPr>
        <p:spPr>
          <a:xfrm>
            <a:off x="7132320" y="1764720"/>
            <a:ext cx="4297320" cy="685440"/>
          </a:xfrm>
          <a:prstGeom prst="rect">
            <a:avLst/>
          </a:prstGeom>
          <a:noFill/>
          <a:ln w="0">
            <a:noFill/>
          </a:ln>
        </p:spPr>
        <p:style>
          <a:lnRef idx="0"/>
          <a:fillRef idx="0"/>
          <a:effectRef idx="0"/>
          <a:fontRef idx="minor"/>
        </p:style>
        <p:txBody>
          <a:bodyPr lIns="0" rIns="0" tIns="0" bIns="0" anchor="ctr">
            <a:noAutofit/>
          </a:bodyPr>
          <a:p>
            <a:pPr defTabSz="914400">
              <a:lnSpc>
                <a:spcPts val="1551"/>
              </a:lnSpc>
              <a:tabLst>
                <a:tab algn="l" pos="0"/>
              </a:tabLst>
            </a:pPr>
            <a:r>
              <a:rPr b="1" lang="en-US" sz="1300" spc="-1" strike="noStrike">
                <a:solidFill>
                  <a:srgbClr val="162447"/>
                </a:solidFill>
                <a:latin typeface="Calibri"/>
                <a:ea typeface="Calibri"/>
              </a:rPr>
              <a:t>Consider -t 1 on bandwidth-starved chips</a:t>
            </a:r>
            <a:endParaRPr b="0" lang="en-GB" sz="1300" spc="-1" strike="noStrike">
              <a:solidFill>
                <a:srgbClr val="000000"/>
              </a:solidFill>
              <a:latin typeface="Arial"/>
            </a:endParaRPr>
          </a:p>
        </p:txBody>
      </p:sp>
      <p:sp>
        <p:nvSpPr>
          <p:cNvPr id="247" name="Text 21"/>
          <p:cNvSpPr/>
          <p:nvPr/>
        </p:nvSpPr>
        <p:spPr>
          <a:xfrm>
            <a:off x="7132320" y="2423160"/>
            <a:ext cx="4297320" cy="502560"/>
          </a:xfrm>
          <a:prstGeom prst="rect">
            <a:avLst/>
          </a:prstGeom>
          <a:noFill/>
          <a:ln w="0">
            <a:noFill/>
          </a:ln>
        </p:spPr>
        <p:style>
          <a:lnRef idx="0"/>
          <a:fillRef idx="0"/>
          <a:effectRef idx="0"/>
          <a:fontRef idx="minor"/>
        </p:style>
        <p:txBody>
          <a:bodyPr lIns="0" rIns="0" tIns="0" bIns="0" anchor="ctr">
            <a:noAutofit/>
          </a:bodyPr>
          <a:p>
            <a:pPr defTabSz="914400">
              <a:lnSpc>
                <a:spcPts val="1349"/>
              </a:lnSpc>
              <a:tabLst>
                <a:tab algn="l" pos="0"/>
              </a:tabLst>
            </a:pPr>
            <a:r>
              <a:rPr b="0" lang="en-US" sz="1050" spc="-1" strike="noStrike">
                <a:solidFill>
                  <a:srgbClr val="5b6675"/>
                </a:solidFill>
                <a:latin typeface="Calibri"/>
                <a:ea typeface="Calibri"/>
              </a:rPr>
              <a:t>Retrograde scaling means more threads can mean less speed.</a:t>
            </a:r>
            <a:endParaRPr b="0" lang="en-GB" sz="1050" spc="-1" strike="noStrike">
              <a:solidFill>
                <a:srgbClr val="000000"/>
              </a:solidFill>
              <a:latin typeface="Arial"/>
            </a:endParaRPr>
          </a:p>
        </p:txBody>
      </p:sp>
      <p:sp>
        <p:nvSpPr>
          <p:cNvPr id="248" name="Shape 22"/>
          <p:cNvSpPr/>
          <p:nvPr/>
        </p:nvSpPr>
        <p:spPr>
          <a:xfrm>
            <a:off x="6263640" y="3050200"/>
            <a:ext cx="5348880" cy="1300000"/>
          </a:xfrm>
          <a:prstGeom prst="roundRect">
            <a:avLst>
              <a:gd name="adj" fmla="val 5161"/>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49" name="Shape 23"/>
          <p:cNvSpPr/>
          <p:nvPr/>
        </p:nvSpPr>
        <p:spPr>
          <a:xfrm>
            <a:off x="6492240" y="3278800"/>
            <a:ext cx="456840" cy="456840"/>
          </a:xfrm>
          <a:prstGeom prst="roundRect">
            <a:avLst>
              <a:gd name="adj" fmla="val 50000"/>
            </a:avLst>
          </a:prstGeom>
          <a:solidFill>
            <a:srgbClr val="1f8a9e"/>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50" name="Text 24"/>
          <p:cNvSpPr/>
          <p:nvPr/>
        </p:nvSpPr>
        <p:spPr>
          <a:xfrm>
            <a:off x="6492240" y="32788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mbria"/>
                <a:ea typeface="Cambria"/>
              </a:rPr>
              <a:t>5</a:t>
            </a:r>
            <a:endParaRPr b="0" lang="en-GB" sz="1500" spc="-1" strike="noStrike">
              <a:solidFill>
                <a:srgbClr val="000000"/>
              </a:solidFill>
              <a:latin typeface="Arial"/>
            </a:endParaRPr>
          </a:p>
        </p:txBody>
      </p:sp>
      <p:sp>
        <p:nvSpPr>
          <p:cNvPr id="251" name="Text 25"/>
          <p:cNvSpPr/>
          <p:nvPr/>
        </p:nvSpPr>
        <p:spPr>
          <a:xfrm>
            <a:off x="7132320" y="3214720"/>
            <a:ext cx="4297320" cy="685440"/>
          </a:xfrm>
          <a:prstGeom prst="rect">
            <a:avLst/>
          </a:prstGeom>
          <a:noFill/>
          <a:ln w="0">
            <a:noFill/>
          </a:ln>
        </p:spPr>
        <p:style>
          <a:lnRef idx="0"/>
          <a:fillRef idx="0"/>
          <a:effectRef idx="0"/>
          <a:fontRef idx="minor"/>
        </p:style>
        <p:txBody>
          <a:bodyPr lIns="0" rIns="0" tIns="0" bIns="0" anchor="ctr">
            <a:noAutofit/>
          </a:bodyPr>
          <a:p>
            <a:pPr defTabSz="914400">
              <a:lnSpc>
                <a:spcPts val="1551"/>
              </a:lnSpc>
              <a:tabLst>
                <a:tab algn="l" pos="0"/>
              </a:tabLst>
            </a:pPr>
            <a:r>
              <a:rPr b="1" lang="en-US" sz="1300" spc="-1" strike="noStrike">
                <a:solidFill>
                  <a:srgbClr val="162447"/>
                </a:solidFill>
                <a:latin typeface="Calibri"/>
                <a:ea typeface="Calibri"/>
              </a:rPr>
              <a:t>Prefer legacy formats on pre-AVX-512 CPUs</a:t>
            </a:r>
            <a:endParaRPr b="0" lang="en-GB" sz="1300" spc="-1" strike="noStrike">
              <a:solidFill>
                <a:srgbClr val="000000"/>
              </a:solidFill>
              <a:latin typeface="Arial"/>
            </a:endParaRPr>
          </a:p>
        </p:txBody>
      </p:sp>
      <p:sp>
        <p:nvSpPr>
          <p:cNvPr id="252" name="Text 26"/>
          <p:cNvSpPr/>
          <p:nvPr/>
        </p:nvSpPr>
        <p:spPr>
          <a:xfrm>
            <a:off x="7132320" y="3873160"/>
            <a:ext cx="4297320" cy="502560"/>
          </a:xfrm>
          <a:prstGeom prst="rect">
            <a:avLst/>
          </a:prstGeom>
          <a:noFill/>
          <a:ln w="0">
            <a:noFill/>
          </a:ln>
        </p:spPr>
        <p:style>
          <a:lnRef idx="0"/>
          <a:fillRef idx="0"/>
          <a:effectRef idx="0"/>
          <a:fontRef idx="minor"/>
        </p:style>
        <p:txBody>
          <a:bodyPr lIns="0" rIns="0" tIns="0" bIns="0" anchor="ctr">
            <a:noAutofit/>
          </a:bodyPr>
          <a:p>
            <a:pPr defTabSz="914400">
              <a:lnSpc>
                <a:spcPts val="1349"/>
              </a:lnSpc>
              <a:tabLst>
                <a:tab algn="l" pos="0"/>
              </a:tabLst>
            </a:pPr>
            <a:r>
              <a:rPr b="0" lang="en-US" sz="1050" spc="-1" strike="noStrike">
                <a:solidFill>
                  <a:srgbClr val="5b6675"/>
                </a:solidFill>
                <a:latin typeface="Calibri"/>
                <a:ea typeface="Calibri"/>
              </a:rPr>
              <a:t>Q4_0 over Q4_K_M when speed outweighs quality needs.</a:t>
            </a:r>
            <a:endParaRPr b="0" lang="en-GB" sz="1050" spc="-1" strike="noStrike">
              <a:solidFill>
                <a:srgbClr val="000000"/>
              </a:solidFill>
              <a:latin typeface="Arial"/>
            </a:endParaRPr>
          </a:p>
        </p:txBody>
      </p:sp>
      <p:sp>
        <p:nvSpPr>
          <p:cNvPr id="253" name="Shape 27"/>
          <p:cNvSpPr/>
          <p:nvPr/>
        </p:nvSpPr>
        <p:spPr>
          <a:xfrm>
            <a:off x="6263640" y="4500200"/>
            <a:ext cx="5348880" cy="1300000"/>
          </a:xfrm>
          <a:prstGeom prst="roundRect">
            <a:avLst>
              <a:gd name="adj" fmla="val 5161"/>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54" name="Shape 28"/>
          <p:cNvSpPr/>
          <p:nvPr/>
        </p:nvSpPr>
        <p:spPr>
          <a:xfrm>
            <a:off x="6492240" y="4728800"/>
            <a:ext cx="456840" cy="456840"/>
          </a:xfrm>
          <a:prstGeom prst="roundRect">
            <a:avLst>
              <a:gd name="adj" fmla="val 50000"/>
            </a:avLst>
          </a:prstGeom>
          <a:solidFill>
            <a:srgbClr val="e8a33d"/>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55" name="Text 29"/>
          <p:cNvSpPr/>
          <p:nvPr/>
        </p:nvSpPr>
        <p:spPr>
          <a:xfrm>
            <a:off x="6492240" y="4728800"/>
            <a:ext cx="4568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Cambria"/>
                <a:ea typeface="Cambria"/>
              </a:rPr>
              <a:t>6</a:t>
            </a:r>
            <a:endParaRPr b="0" lang="en-GB" sz="1500" spc="-1" strike="noStrike">
              <a:solidFill>
                <a:srgbClr val="000000"/>
              </a:solidFill>
              <a:latin typeface="Arial"/>
            </a:endParaRPr>
          </a:p>
        </p:txBody>
      </p:sp>
      <p:sp>
        <p:nvSpPr>
          <p:cNvPr id="256" name="Text 30"/>
          <p:cNvSpPr/>
          <p:nvPr/>
        </p:nvSpPr>
        <p:spPr>
          <a:xfrm>
            <a:off x="7132320" y="4664720"/>
            <a:ext cx="4297320" cy="685440"/>
          </a:xfrm>
          <a:prstGeom prst="rect">
            <a:avLst/>
          </a:prstGeom>
          <a:noFill/>
          <a:ln w="0">
            <a:noFill/>
          </a:ln>
        </p:spPr>
        <p:style>
          <a:lnRef idx="0"/>
          <a:fillRef idx="0"/>
          <a:effectRef idx="0"/>
          <a:fontRef idx="minor"/>
        </p:style>
        <p:txBody>
          <a:bodyPr lIns="0" rIns="0" tIns="0" bIns="0" anchor="ctr">
            <a:noAutofit/>
          </a:bodyPr>
          <a:p>
            <a:pPr defTabSz="914400">
              <a:lnSpc>
                <a:spcPts val="1551"/>
              </a:lnSpc>
              <a:tabLst>
                <a:tab algn="l" pos="0"/>
              </a:tabLst>
            </a:pPr>
            <a:r>
              <a:rPr b="1" lang="en-US" sz="1300" spc="-1" strike="noStrike">
                <a:solidFill>
                  <a:srgbClr val="162447"/>
                </a:solidFill>
                <a:latin typeface="Calibri"/>
                <a:ea typeface="Calibri"/>
              </a:rPr>
              <a:t>Favor MoE on bandwidth-starved hardware — provisionally</a:t>
            </a:r>
            <a:endParaRPr b="0" lang="en-GB" sz="1300" spc="-1" strike="noStrike">
              <a:solidFill>
                <a:srgbClr val="000000"/>
              </a:solidFill>
              <a:latin typeface="Arial"/>
            </a:endParaRPr>
          </a:p>
        </p:txBody>
      </p:sp>
      <p:sp>
        <p:nvSpPr>
          <p:cNvPr id="257" name="Text 31"/>
          <p:cNvSpPr/>
          <p:nvPr/>
        </p:nvSpPr>
        <p:spPr>
          <a:xfrm>
            <a:off x="7132320" y="5323160"/>
            <a:ext cx="4297320" cy="502560"/>
          </a:xfrm>
          <a:prstGeom prst="rect">
            <a:avLst/>
          </a:prstGeom>
          <a:noFill/>
          <a:ln w="0">
            <a:noFill/>
          </a:ln>
        </p:spPr>
        <p:style>
          <a:lnRef idx="0"/>
          <a:fillRef idx="0"/>
          <a:effectRef idx="0"/>
          <a:fontRef idx="minor"/>
        </p:style>
        <p:txBody>
          <a:bodyPr lIns="0" rIns="0" tIns="0" bIns="0" anchor="ctr">
            <a:noAutofit/>
          </a:bodyPr>
          <a:p>
            <a:pPr defTabSz="914400">
              <a:lnSpc>
                <a:spcPts val="1349"/>
              </a:lnSpc>
              <a:tabLst>
                <a:tab algn="l" pos="0"/>
              </a:tabLst>
            </a:pPr>
            <a:r>
              <a:rPr b="0" lang="en-US" sz="1050" spc="-1" strike="noStrike">
                <a:solidFill>
                  <a:srgbClr val="5b6675"/>
                </a:solidFill>
                <a:latin typeface="Calibri"/>
                <a:ea typeface="Calibri"/>
              </a:rPr>
              <a:t>A strong hypothesis to test yourself, not a settled rule.</a:t>
            </a:r>
            <a:endParaRPr b="0" lang="en-GB" sz="1050" spc="-1" strike="noStrike">
              <a:solidFill>
                <a:srgbClr val="000000"/>
              </a:solidFill>
              <a:latin typeface="Arial"/>
            </a:endParaRPr>
          </a:p>
        </p:txBody>
      </p:sp>
      <p:sp>
        <p:nvSpPr>
          <p:cNvPr id="258" name="Text 32"/>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13</a:t>
            </a:r>
            <a:endParaRPr b="0" lang="en-GB" sz="1000" spc="-1" strike="noStrike">
              <a:solidFill>
                <a:srgbClr val="000000"/>
              </a:solidFill>
              <a:latin typeface="Arial"/>
            </a:endParaRPr>
          </a:p>
        </p:txBody>
      </p:sp>
      <p:sp>
        <p:nvSpPr>
          <p:cNvPr id="259" name="Rounded Rectangle 258"/>
          <p:cNvSpPr/>
          <p:nvPr/>
        </p:nvSpPr>
        <p:spPr>
          <a:xfrm>
            <a:off x="548640" y="5950200"/>
            <a:ext cx="11063880" cy="34000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777240" y="6005200"/>
            <a:ext cx="230000" cy="23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1E2761"/>
                </a:solidFill>
              </a:rPr>
              <a:t>7</a:t>
            </a:r>
          </a:p>
        </p:txBody>
      </p:sp>
      <p:sp>
        <p:nvSpPr>
          <p:cNvPr id="261" name="TextBox 260"/>
          <p:cNvSpPr txBox="1"/>
          <p:nvPr/>
        </p:nvSpPr>
        <p:spPr>
          <a:xfrm>
            <a:off x="1150000" y="5990200"/>
            <a:ext cx="10300000" cy="280000"/>
          </a:xfrm>
          <a:prstGeom prst="rect">
            <a:avLst/>
          </a:prstGeom>
          <a:noFill/>
        </p:spPr>
        <p:txBody>
          <a:bodyPr wrap="square">
            <a:spAutoFit/>
          </a:bodyPr>
          <a:lstStyle/>
          <a:p>
            <a:r>
              <a:rPr sz="1300" b="1">
                <a:solidFill>
                  <a:srgbClr val="FFFFFF"/>
                </a:solidFill>
              </a:rPr>
              <a:t>Match model size to the device's memory budget — </a:t>
            </a:r>
            <a:r>
              <a:rPr sz="1300">
                <a:solidFill>
                  <a:srgbClr val="CADCFC"/>
                </a:solidFill>
              </a:rPr>
              <a:t>a model that doesn't fit in RAM will thrash or fail outright.</a:t>
            </a: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259"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DISCUSSION</a:t>
            </a:r>
            <a:endParaRPr b="0" lang="en-GB" sz="1200" spc="-1" strike="noStrike">
              <a:solidFill>
                <a:srgbClr val="000000"/>
              </a:solidFill>
              <a:latin typeface="Arial"/>
            </a:endParaRPr>
          </a:p>
        </p:txBody>
      </p:sp>
      <p:sp>
        <p:nvSpPr>
          <p:cNvPr id="260"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The honest scope of this thesis</a:t>
            </a:r>
            <a:endParaRPr b="0" lang="en-GB" sz="3000" spc="-1" strike="noStrike">
              <a:solidFill>
                <a:srgbClr val="000000"/>
              </a:solidFill>
              <a:latin typeface="Arial"/>
            </a:endParaRPr>
          </a:p>
        </p:txBody>
      </p:sp>
      <p:sp>
        <p:nvSpPr>
          <p:cNvPr id="261" name="Shape 2"/>
          <p:cNvSpPr/>
          <p:nvPr/>
        </p:nvSpPr>
        <p:spPr>
          <a:xfrm>
            <a:off x="548640" y="1600200"/>
            <a:ext cx="11063880" cy="1234080"/>
          </a:xfrm>
          <a:prstGeom prst="roundRect">
            <a:avLst>
              <a:gd name="adj" fmla="val 5926"/>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62" name="Shape 3"/>
          <p:cNvSpPr/>
          <p:nvPr/>
        </p:nvSpPr>
        <p:spPr>
          <a:xfrm>
            <a:off x="822960" y="2034720"/>
            <a:ext cx="365400" cy="365400"/>
          </a:xfrm>
          <a:prstGeom prst="ellipse">
            <a:avLst/>
          </a:prstGeom>
          <a:solidFill>
            <a:srgbClr val="e8a33d"/>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63" name="Text 4"/>
          <p:cNvSpPr/>
          <p:nvPr/>
        </p:nvSpPr>
        <p:spPr>
          <a:xfrm>
            <a:off x="822960" y="2034720"/>
            <a:ext cx="3654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62447"/>
                </a:solidFill>
                <a:latin typeface="Cambria"/>
                <a:ea typeface="Cambria"/>
              </a:rPr>
              <a:t>1</a:t>
            </a:r>
            <a:endParaRPr b="0" lang="en-GB" sz="1400" spc="-1" strike="noStrike">
              <a:solidFill>
                <a:srgbClr val="000000"/>
              </a:solidFill>
              <a:latin typeface="Arial"/>
            </a:endParaRPr>
          </a:p>
        </p:txBody>
      </p:sp>
      <p:sp>
        <p:nvSpPr>
          <p:cNvPr id="264" name="Text 5"/>
          <p:cNvSpPr/>
          <p:nvPr/>
        </p:nvSpPr>
        <p:spPr>
          <a:xfrm>
            <a:off x="1417320" y="1737360"/>
            <a:ext cx="2742840" cy="914040"/>
          </a:xfrm>
          <a:prstGeom prst="rect">
            <a:avLst/>
          </a:prstGeom>
          <a:noFill/>
          <a:ln w="0">
            <a:noFill/>
          </a:ln>
        </p:spPr>
        <p:style>
          <a:lnRef idx="0"/>
          <a:fillRef idx="0"/>
          <a:effectRef idx="0"/>
          <a:fontRef idx="minor"/>
        </p:style>
        <p:txBody>
          <a:bodyPr lIns="0" rIns="0" tIns="0" bIns="0" anchor="ctr">
            <a:noAutofit/>
          </a:bodyPr>
          <a:p>
            <a:pPr defTabSz="914400">
              <a:lnSpc>
                <a:spcPts val="1800"/>
              </a:lnSpc>
              <a:tabLst>
                <a:tab algn="l" pos="0"/>
              </a:tabLst>
            </a:pPr>
            <a:r>
              <a:rPr b="1" lang="en-US" sz="1500" spc="-1" strike="noStrike">
                <a:solidFill>
                  <a:srgbClr val="162447"/>
                </a:solidFill>
                <a:latin typeface="Cambria"/>
                <a:ea typeface="Cambria"/>
              </a:rPr>
              <a:t>Calibrated, not derived</a:t>
            </a:r>
            <a:endParaRPr b="0" lang="en-GB" sz="1500" spc="-1" strike="noStrike">
              <a:solidFill>
                <a:srgbClr val="000000"/>
              </a:solidFill>
              <a:latin typeface="Arial"/>
            </a:endParaRPr>
          </a:p>
        </p:txBody>
      </p:sp>
      <p:sp>
        <p:nvSpPr>
          <p:cNvPr id="265" name="Text 6"/>
          <p:cNvSpPr/>
          <p:nvPr/>
        </p:nvSpPr>
        <p:spPr>
          <a:xfrm>
            <a:off x="4297680" y="1737360"/>
            <a:ext cx="7040520" cy="95976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00" spc="-1" strike="noStrike">
                <a:solidFill>
                  <a:srgbClr val="1b2430"/>
                </a:solidFill>
                <a:latin typeface="Calibri"/>
                <a:ea typeface="Calibri"/>
              </a:rPr>
              <a:t>σ, κ, and effective bandwidth are fit per-device from local measurements — not regressed against raw hardware specs. This delivers a cheaper calibration (~6 measurements vs. a full grid search), not a way to skip it.</a:t>
            </a:r>
            <a:endParaRPr b="0" lang="en-GB" sz="1200" spc="-1" strike="noStrike">
              <a:solidFill>
                <a:srgbClr val="000000"/>
              </a:solidFill>
              <a:latin typeface="Arial"/>
            </a:endParaRPr>
          </a:p>
        </p:txBody>
      </p:sp>
      <p:sp>
        <p:nvSpPr>
          <p:cNvPr id="266" name="Shape 7"/>
          <p:cNvSpPr/>
          <p:nvPr/>
        </p:nvSpPr>
        <p:spPr>
          <a:xfrm>
            <a:off x="548640" y="3017520"/>
            <a:ext cx="11063880" cy="1234080"/>
          </a:xfrm>
          <a:prstGeom prst="roundRect">
            <a:avLst>
              <a:gd name="adj" fmla="val 5926"/>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67" name="Shape 8"/>
          <p:cNvSpPr/>
          <p:nvPr/>
        </p:nvSpPr>
        <p:spPr>
          <a:xfrm>
            <a:off x="822960" y="3452040"/>
            <a:ext cx="365400" cy="365400"/>
          </a:xfrm>
          <a:prstGeom prst="ellipse">
            <a:avLst/>
          </a:prstGeom>
          <a:solidFill>
            <a:srgbClr val="e8a33d"/>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68" name="Text 9"/>
          <p:cNvSpPr/>
          <p:nvPr/>
        </p:nvSpPr>
        <p:spPr>
          <a:xfrm>
            <a:off x="822960" y="3452040"/>
            <a:ext cx="3654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62447"/>
                </a:solidFill>
                <a:latin typeface="Cambria"/>
                <a:ea typeface="Cambria"/>
              </a:rPr>
              <a:t>2</a:t>
            </a:r>
            <a:endParaRPr b="0" lang="en-GB" sz="1400" spc="-1" strike="noStrike">
              <a:solidFill>
                <a:srgbClr val="000000"/>
              </a:solidFill>
              <a:latin typeface="Arial"/>
            </a:endParaRPr>
          </a:p>
        </p:txBody>
      </p:sp>
      <p:sp>
        <p:nvSpPr>
          <p:cNvPr id="269" name="Text 10"/>
          <p:cNvSpPr/>
          <p:nvPr/>
        </p:nvSpPr>
        <p:spPr>
          <a:xfrm>
            <a:off x="1417320" y="3154680"/>
            <a:ext cx="2742840" cy="914040"/>
          </a:xfrm>
          <a:prstGeom prst="rect">
            <a:avLst/>
          </a:prstGeom>
          <a:noFill/>
          <a:ln w="0">
            <a:noFill/>
          </a:ln>
        </p:spPr>
        <p:style>
          <a:lnRef idx="0"/>
          <a:fillRef idx="0"/>
          <a:effectRef idx="0"/>
          <a:fontRef idx="minor"/>
        </p:style>
        <p:txBody>
          <a:bodyPr lIns="0" rIns="0" tIns="0" bIns="0" anchor="ctr">
            <a:noAutofit/>
          </a:bodyPr>
          <a:p>
            <a:pPr defTabSz="914400">
              <a:lnSpc>
                <a:spcPts val="1800"/>
              </a:lnSpc>
              <a:tabLst>
                <a:tab algn="l" pos="0"/>
              </a:tabLst>
            </a:pPr>
            <a:r>
              <a:rPr b="1" lang="en-US" sz="1500" spc="-1" strike="noStrike">
                <a:solidFill>
                  <a:srgbClr val="162447"/>
                </a:solidFill>
                <a:latin typeface="Cambria"/>
                <a:ea typeface="Cambria"/>
              </a:rPr>
              <a:t>MoE prediction is unconfirmed</a:t>
            </a:r>
            <a:endParaRPr b="0" lang="en-GB" sz="1500" spc="-1" strike="noStrike">
              <a:solidFill>
                <a:srgbClr val="000000"/>
              </a:solidFill>
              <a:latin typeface="Arial"/>
            </a:endParaRPr>
          </a:p>
        </p:txBody>
      </p:sp>
      <p:sp>
        <p:nvSpPr>
          <p:cNvPr id="270" name="Text 11"/>
          <p:cNvSpPr/>
          <p:nvPr/>
        </p:nvSpPr>
        <p:spPr>
          <a:xfrm>
            <a:off x="4297680" y="3154680"/>
            <a:ext cx="7040520" cy="95976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00" spc="-1" strike="noStrike">
                <a:solidFill>
                  <a:srgbClr val="1b2430"/>
                </a:solidFill>
                <a:latin typeface="Calibri"/>
                <a:ea typeface="Calibri"/>
              </a:rPr>
              <a:t>The thesis's most consequential claim — MoE's structural advantage on bandwidth-starved CPUs — was never validated on our own hardware.</a:t>
            </a:r>
            <a:endParaRPr b="0" lang="en-GB" sz="1200" spc="-1" strike="noStrike">
              <a:solidFill>
                <a:srgbClr val="000000"/>
              </a:solidFill>
              <a:latin typeface="Arial"/>
            </a:endParaRPr>
          </a:p>
        </p:txBody>
      </p:sp>
      <p:sp>
        <p:nvSpPr>
          <p:cNvPr id="271" name="Shape 12"/>
          <p:cNvSpPr/>
          <p:nvPr/>
        </p:nvSpPr>
        <p:spPr>
          <a:xfrm>
            <a:off x="548640" y="4434840"/>
            <a:ext cx="11063880" cy="1234080"/>
          </a:xfrm>
          <a:prstGeom prst="roundRect">
            <a:avLst>
              <a:gd name="adj" fmla="val 5926"/>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72" name="Shape 13"/>
          <p:cNvSpPr/>
          <p:nvPr/>
        </p:nvSpPr>
        <p:spPr>
          <a:xfrm>
            <a:off x="822960" y="4869360"/>
            <a:ext cx="365400" cy="365400"/>
          </a:xfrm>
          <a:prstGeom prst="ellipse">
            <a:avLst/>
          </a:prstGeom>
          <a:solidFill>
            <a:srgbClr val="e8a33d"/>
          </a:solidFill>
          <a:ln w="0">
            <a:noFill/>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73" name="Text 14"/>
          <p:cNvSpPr/>
          <p:nvPr/>
        </p:nvSpPr>
        <p:spPr>
          <a:xfrm>
            <a:off x="822960" y="4869360"/>
            <a:ext cx="3654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62447"/>
                </a:solidFill>
                <a:latin typeface="Cambria"/>
                <a:ea typeface="Cambria"/>
              </a:rPr>
              <a:t>3</a:t>
            </a:r>
            <a:endParaRPr b="0" lang="en-GB" sz="1400" spc="-1" strike="noStrike">
              <a:solidFill>
                <a:srgbClr val="000000"/>
              </a:solidFill>
              <a:latin typeface="Arial"/>
            </a:endParaRPr>
          </a:p>
        </p:txBody>
      </p:sp>
      <p:sp>
        <p:nvSpPr>
          <p:cNvPr id="274" name="Text 15"/>
          <p:cNvSpPr/>
          <p:nvPr/>
        </p:nvSpPr>
        <p:spPr>
          <a:xfrm>
            <a:off x="1417320" y="4572000"/>
            <a:ext cx="2742840" cy="914040"/>
          </a:xfrm>
          <a:prstGeom prst="rect">
            <a:avLst/>
          </a:prstGeom>
          <a:noFill/>
          <a:ln w="0">
            <a:noFill/>
          </a:ln>
        </p:spPr>
        <p:style>
          <a:lnRef idx="0"/>
          <a:fillRef idx="0"/>
          <a:effectRef idx="0"/>
          <a:fontRef idx="minor"/>
        </p:style>
        <p:txBody>
          <a:bodyPr lIns="0" rIns="0" tIns="0" bIns="0" anchor="ctr">
            <a:noAutofit/>
          </a:bodyPr>
          <a:p>
            <a:pPr defTabSz="914400">
              <a:lnSpc>
                <a:spcPts val="1800"/>
              </a:lnSpc>
              <a:tabLst>
                <a:tab algn="l" pos="0"/>
              </a:tabLst>
            </a:pPr>
            <a:r>
              <a:rPr b="1" lang="en-US" sz="1500" spc="-1" strike="noStrike">
                <a:solidFill>
                  <a:srgbClr val="162447"/>
                </a:solidFill>
                <a:latin typeface="Cambria"/>
                <a:ea typeface="Cambria"/>
              </a:rPr>
              <a:t>Single inference engine</a:t>
            </a:r>
            <a:endParaRPr b="0" lang="en-GB" sz="1500" spc="-1" strike="noStrike">
              <a:solidFill>
                <a:srgbClr val="000000"/>
              </a:solidFill>
              <a:latin typeface="Arial"/>
            </a:endParaRPr>
          </a:p>
        </p:txBody>
      </p:sp>
      <p:sp>
        <p:nvSpPr>
          <p:cNvPr id="275" name="Text 16"/>
          <p:cNvSpPr/>
          <p:nvPr/>
        </p:nvSpPr>
        <p:spPr>
          <a:xfrm>
            <a:off x="4297680" y="4572000"/>
            <a:ext cx="7040520" cy="95976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00" spc="-1" strike="noStrike">
                <a:solidFill>
                  <a:srgbClr val="1b2430"/>
                </a:solidFill>
                <a:latin typeface="Calibri"/>
                <a:ea typeface="Calibri"/>
              </a:rPr>
              <a:t>Every effect was measured on llama.cpp alone. We cannot yet separate genuine hardware/algorithm physics from this engine's specific kernel dispatch.</a:t>
            </a:r>
            <a:endParaRPr b="0" lang="en-GB" sz="1200" spc="-1" strike="noStrike">
              <a:solidFill>
                <a:srgbClr val="000000"/>
              </a:solidFill>
              <a:latin typeface="Arial"/>
            </a:endParaRPr>
          </a:p>
        </p:txBody>
      </p:sp>
      <p:sp>
        <p:nvSpPr>
          <p:cNvPr id="276" name="Text 17"/>
          <p:cNvSpPr/>
          <p:nvPr/>
        </p:nvSpPr>
        <p:spPr>
          <a:xfrm>
            <a:off x="548640" y="5897880"/>
            <a:ext cx="11063880" cy="54828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i="1" lang="en-US" sz="1250" spc="-1" strike="noStrike">
                <a:solidFill>
                  <a:srgbClr val="1f8a9e"/>
                </a:solidFill>
                <a:latin typeface="Calibri"/>
                <a:ea typeface="Calibri"/>
              </a:rPr>
              <a:t>Every effect reported is a real, reproducible measurement — these limitations bound what can be claimed, not the validity of what was measured.</a:t>
            </a:r>
            <a:endParaRPr b="0" lang="en-GB" sz="1250" spc="-1" strike="noStrike">
              <a:solidFill>
                <a:srgbClr val="000000"/>
              </a:solidFill>
              <a:latin typeface="Arial"/>
            </a:endParaRPr>
          </a:p>
        </p:txBody>
      </p:sp>
      <p:sp>
        <p:nvSpPr>
          <p:cNvPr id="277" name="Text 18"/>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14</a:t>
            </a:r>
            <a:endParaRPr b="0" lang="en-GB" sz="1000" spc="-1" strike="noStrike">
              <a:solidFill>
                <a:srgbClr val="000000"/>
              </a:solidFill>
              <a:latin typeface="Arial"/>
            </a:endParaRPr>
          </a:p>
        </p:txBody>
      </p:sp>
      <p:pic>
        <p:nvPicPr>
          <p:cNvPr id="278" name="Picture 277" descr="icon_scale.png"/>
          <p:cNvPicPr>
            <a:picLocks noChangeAspect="1"/>
          </p:cNvPicPr>
          <p:nvPr/>
        </p:nvPicPr>
        <p:blipFill>
          <a:blip r:embed="rId3"/>
          <a:stretch>
            <a:fillRect/>
          </a:stretch>
        </p:blipFill>
        <p:spPr>
          <a:xfrm>
            <a:off x="905660" y="2440120"/>
            <a:ext cx="200000" cy="200000"/>
          </a:xfrm>
          <a:prstGeom prst="rect">
            <a:avLst/>
          </a:prstGeom>
        </p:spPr>
      </p:pic>
      <p:pic>
        <p:nvPicPr>
          <p:cNvPr id="279" name="Picture 278" descr="icon_flask.png"/>
          <p:cNvPicPr>
            <a:picLocks noChangeAspect="1"/>
          </p:cNvPicPr>
          <p:nvPr/>
        </p:nvPicPr>
        <p:blipFill>
          <a:blip r:embed="rId4"/>
          <a:stretch>
            <a:fillRect/>
          </a:stretch>
        </p:blipFill>
        <p:spPr>
          <a:xfrm>
            <a:off x="905660" y="3857440"/>
            <a:ext cx="200000" cy="200000"/>
          </a:xfrm>
          <a:prstGeom prst="rect">
            <a:avLst/>
          </a:prstGeom>
        </p:spPr>
      </p:pic>
      <p:pic>
        <p:nvPicPr>
          <p:cNvPr id="280" name="Picture 279" descr="icon_chart.png"/>
          <p:cNvPicPr>
            <a:picLocks noChangeAspect="1"/>
          </p:cNvPicPr>
          <p:nvPr/>
        </p:nvPicPr>
        <p:blipFill>
          <a:blip r:embed="rId5"/>
          <a:stretch>
            <a:fillRect/>
          </a:stretch>
        </p:blipFill>
        <p:spPr>
          <a:xfrm>
            <a:off x="905660" y="5274760"/>
            <a:ext cx="200000" cy="200000"/>
          </a:xfrm>
          <a:prstGeom prst="rect">
            <a:avLst/>
          </a:prstGeom>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9"/>
        </a:solidFill>
      </p:bgPr>
    </p:bg>
    <p:spTree>
      <p:nvGrpSpPr>
        <p:cNvPr id="1" name=""/>
        <p:cNvGrpSpPr/>
        <p:nvPr/>
      </p:nvGrpSpPr>
      <p:grpSpPr>
        <a:xfrm>
          <a:off x="0" y="0"/>
          <a:ext cx="0" cy="0"/>
          <a:chOff x="0" y="0"/>
          <a:chExt cx="0" cy="0"/>
        </a:xfrm>
      </p:grpSpPr>
      <p:sp>
        <p:nvSpPr>
          <p:cNvPr id="278" name="Text 0"/>
          <p:cNvSpPr/>
          <p:nvPr/>
        </p:nvSpPr>
        <p:spPr>
          <a:xfrm>
            <a:off x="548640" y="411480"/>
            <a:ext cx="73148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1f8a9e"/>
                </a:solidFill>
                <a:latin typeface="Calibri"/>
                <a:ea typeface="Calibri"/>
              </a:rPr>
              <a:t>WHERE THIS GOES NEXT</a:t>
            </a:r>
            <a:endParaRPr b="0" lang="en-GB" sz="1200" spc="-1" strike="noStrike">
              <a:solidFill>
                <a:srgbClr val="000000"/>
              </a:solidFill>
              <a:latin typeface="Arial"/>
            </a:endParaRPr>
          </a:p>
        </p:txBody>
      </p:sp>
      <p:sp>
        <p:nvSpPr>
          <p:cNvPr id="279" name="Text 1"/>
          <p:cNvSpPr/>
          <p:nvPr/>
        </p:nvSpPr>
        <p:spPr>
          <a:xfrm>
            <a:off x="548640" y="685800"/>
            <a:ext cx="10606680" cy="822600"/>
          </a:xfrm>
          <a:prstGeom prst="rect">
            <a:avLst/>
          </a:prstGeom>
          <a:noFill/>
          <a:ln w="0">
            <a:noFill/>
          </a:ln>
        </p:spPr>
        <p:style>
          <a:lnRef idx="0"/>
          <a:fillRef idx="0"/>
          <a:effectRef idx="0"/>
          <a:fontRef idx="minor"/>
        </p:style>
        <p:txBody>
          <a:bodyPr lIns="0" rIns="0" tIns="0" bIns="0" anchor="ctr">
            <a:noAutofit/>
          </a:bodyPr>
          <a:p>
            <a:pPr defTabSz="914400">
              <a:lnSpc>
                <a:spcPts val="3399"/>
              </a:lnSpc>
              <a:tabLst>
                <a:tab algn="l" pos="0"/>
              </a:tabLst>
            </a:pPr>
            <a:r>
              <a:rPr b="1" lang="en-US" sz="3000" spc="-1" strike="noStrike">
                <a:solidFill>
                  <a:srgbClr val="162447"/>
                </a:solidFill>
                <a:latin typeface="Cambria"/>
                <a:ea typeface="Cambria"/>
              </a:rPr>
              <a:t>Future work</a:t>
            </a:r>
            <a:endParaRPr b="0" lang="en-GB" sz="3000" spc="-1" strike="noStrike">
              <a:solidFill>
                <a:srgbClr val="000000"/>
              </a:solidFill>
              <a:latin typeface="Arial"/>
            </a:endParaRPr>
          </a:p>
        </p:txBody>
      </p:sp>
      <p:sp>
        <p:nvSpPr>
          <p:cNvPr id="280" name="Shape 2"/>
          <p:cNvSpPr/>
          <p:nvPr/>
        </p:nvSpPr>
        <p:spPr>
          <a:xfrm>
            <a:off x="548640" y="1554480"/>
            <a:ext cx="5440320" cy="4205880"/>
          </a:xfrm>
          <a:prstGeom prst="roundRect">
            <a:avLst>
              <a:gd name="adj" fmla="val 1739"/>
            </a:avLst>
          </a:prstGeom>
          <a:solidFill>
            <a:srgbClr val="ffffff"/>
          </a:solidFill>
          <a:ln w="12700">
            <a:solidFill>
              <a:srgbClr val="e3e8ec"/>
            </a:solidFill>
            <a:round/>
          </a:ln>
        </p:spPr>
        <p:style>
          <a:lnRef idx="0"/>
          <a:fillRef idx="0"/>
          <a:effectRef idx="0"/>
          <a:fontRef idx="minor"/>
        </p:style>
        <p:txBody>
          <a:bodyPr lIns="90000" rIns="90000" tIns="45000" bIns="45000" anchor="t">
            <a:noAutofit/>
          </a:bodyPr>
          <a:p>
            <a:endParaRPr b="0" lang="en-GB" sz="1800" spc="-1" strike="noStrike">
              <a:solidFill>
                <a:srgbClr val="000000"/>
              </a:solidFill>
              <a:latin typeface="Arial"/>
            </a:endParaRPr>
          </a:p>
        </p:txBody>
      </p:sp>
      <p:sp>
        <p:nvSpPr>
          <p:cNvPr id="281" name="Text 3"/>
          <p:cNvSpPr/>
          <p:nvPr/>
        </p:nvSpPr>
        <p:spPr>
          <a:xfrm>
            <a:off x="822960" y="1783080"/>
            <a:ext cx="4571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48" strike="noStrike">
                <a:solidFill>
                  <a:srgbClr val="1f8a9e"/>
                </a:solidFill>
                <a:latin typeface="Calibri"/>
                <a:ea typeface="Calibri"/>
              </a:rPr>
              <a:t>NEAR-TERM</a:t>
            </a:r>
            <a:endParaRPr b="0" lang="en-GB" sz="1200" spc="-1" strike="noStrike">
              <a:solidFill>
                <a:srgbClr val="000000"/>
              </a:solidFill>
              <a:latin typeface="Arial"/>
            </a:endParaRPr>
          </a:p>
        </p:txBody>
      </p:sp>
      <p:sp>
        <p:nvSpPr>
          <p:cNvPr id="282" name="Shape 4"/>
          <p:cNvSpPr/>
          <p:nvPr/>
        </p:nvSpPr>
        <p:spPr>
          <a:xfrm>
            <a:off x="822960" y="2249280"/>
            <a:ext cx="91080" cy="91080"/>
          </a:xfrm>
          <a:prstGeom prst="ellipse">
            <a:avLst/>
          </a:prstGeom>
          <a:solidFill>
            <a:srgbClr val="1f8a9e"/>
          </a:solidFill>
          <a:ln w="0">
            <a:noFill/>
          </a:ln>
        </p:spPr>
        <p:style>
          <a:lnRef idx="0"/>
          <a:fillRef idx="0"/>
          <a:effectRef idx="0"/>
          <a:fontRef idx="minor"/>
        </p:style>
        <p:txBody>
          <a:bodyPr lIns="90000" rIns="90000" tIns="19440" bIns="19440" anchor="t">
            <a:noAutofit/>
          </a:bodyPr>
          <a:p>
            <a:endParaRPr b="0" lang="en-GB" sz="1800" spc="-1" strike="noStrike">
              <a:solidFill>
                <a:srgbClr val="000000"/>
              </a:solidFill>
              <a:latin typeface="Arial"/>
            </a:endParaRPr>
          </a:p>
        </p:txBody>
      </p:sp>
      <p:sp>
        <p:nvSpPr>
          <p:cNvPr id="283" name="Text 5"/>
          <p:cNvSpPr/>
          <p:nvPr/>
        </p:nvSpPr>
        <p:spPr>
          <a:xfrm>
            <a:off x="1097280" y="2121480"/>
            <a:ext cx="4708800" cy="59400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50" spc="-1" strike="noStrike">
                <a:solidFill>
                  <a:srgbClr val="1b2430"/>
                </a:solidFill>
                <a:latin typeface="Calibri"/>
                <a:ea typeface="Calibri"/>
              </a:rPr>
              <a:t>Expand the fleet: a Raspberry Pi 4 or 5, an AVX-512 chip, Apple Silicon</a:t>
            </a:r>
            <a:endParaRPr b="0" lang="en-GB" sz="1250" spc="-1" strike="noStrike">
              <a:solidFill>
                <a:srgbClr val="000000"/>
              </a:solidFill>
              <a:latin typeface="Arial"/>
            </a:endParaRPr>
          </a:p>
        </p:txBody>
      </p:sp>
      <p:sp>
        <p:nvSpPr>
          <p:cNvPr id="284" name="Shape 6"/>
          <p:cNvSpPr/>
          <p:nvPr/>
        </p:nvSpPr>
        <p:spPr>
          <a:xfrm>
            <a:off x="822960" y="2962800"/>
            <a:ext cx="91080" cy="91080"/>
          </a:xfrm>
          <a:prstGeom prst="ellipse">
            <a:avLst/>
          </a:prstGeom>
          <a:solidFill>
            <a:srgbClr val="1f8a9e"/>
          </a:solidFill>
          <a:ln w="0">
            <a:noFill/>
          </a:ln>
        </p:spPr>
        <p:style>
          <a:lnRef idx="0"/>
          <a:fillRef idx="0"/>
          <a:effectRef idx="0"/>
          <a:fontRef idx="minor"/>
        </p:style>
        <p:txBody>
          <a:bodyPr lIns="90000" rIns="90000" tIns="19440" bIns="19440" anchor="t">
            <a:noAutofit/>
          </a:bodyPr>
          <a:p>
            <a:endParaRPr b="0" lang="en-GB" sz="1800" spc="-1" strike="noStrike">
              <a:solidFill>
                <a:srgbClr val="000000"/>
              </a:solidFill>
              <a:latin typeface="Arial"/>
            </a:endParaRPr>
          </a:p>
        </p:txBody>
      </p:sp>
      <p:sp>
        <p:nvSpPr>
          <p:cNvPr id="285" name="Text 7"/>
          <p:cNvSpPr/>
          <p:nvPr/>
        </p:nvSpPr>
        <p:spPr>
          <a:xfrm>
            <a:off x="1097280" y="2834640"/>
            <a:ext cx="4708800" cy="59400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50" spc="-1" strike="noStrike">
                <a:solidFill>
                  <a:srgbClr val="1b2430"/>
                </a:solidFill>
                <a:latin typeface="Calibri"/>
                <a:ea typeface="Calibri"/>
              </a:rPr>
              <a:t>Run the staged MoE benchmarks to completion</a:t>
            </a:r>
            <a:endParaRPr b="0" lang="en-GB" sz="1250" spc="-1" strike="noStrike">
              <a:solidFill>
                <a:srgbClr val="000000"/>
              </a:solidFill>
              <a:latin typeface="Arial"/>
            </a:endParaRPr>
          </a:p>
        </p:txBody>
      </p:sp>
      <p:sp>
        <p:nvSpPr>
          <p:cNvPr id="286" name="Shape 8"/>
          <p:cNvSpPr/>
          <p:nvPr/>
        </p:nvSpPr>
        <p:spPr>
          <a:xfrm>
            <a:off x="822960" y="3675960"/>
            <a:ext cx="91080" cy="91080"/>
          </a:xfrm>
          <a:prstGeom prst="ellipse">
            <a:avLst/>
          </a:prstGeom>
          <a:solidFill>
            <a:srgbClr val="1f8a9e"/>
          </a:solidFill>
          <a:ln w="0">
            <a:noFill/>
          </a:ln>
        </p:spPr>
        <p:style>
          <a:lnRef idx="0"/>
          <a:fillRef idx="0"/>
          <a:effectRef idx="0"/>
          <a:fontRef idx="minor"/>
        </p:style>
        <p:txBody>
          <a:bodyPr lIns="90000" rIns="90000" tIns="19440" bIns="19440" anchor="t">
            <a:noAutofit/>
          </a:bodyPr>
          <a:p>
            <a:endParaRPr b="0" lang="en-GB" sz="1800" spc="-1" strike="noStrike">
              <a:solidFill>
                <a:srgbClr val="000000"/>
              </a:solidFill>
              <a:latin typeface="Arial"/>
            </a:endParaRPr>
          </a:p>
        </p:txBody>
      </p:sp>
      <p:sp>
        <p:nvSpPr>
          <p:cNvPr id="287" name="Text 9"/>
          <p:cNvSpPr/>
          <p:nvPr/>
        </p:nvSpPr>
        <p:spPr>
          <a:xfrm>
            <a:off x="1097280" y="3547800"/>
            <a:ext cx="4708800" cy="59400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50" spc="-1" strike="noStrike">
                <a:solidFill>
                  <a:srgbClr val="1b2430"/>
                </a:solidFill>
                <a:latin typeface="Calibri"/>
                <a:ea typeface="Calibri"/>
              </a:rPr>
              <a:t>Replace literature perplexity numbers with local measurements</a:t>
            </a:r>
            <a:endParaRPr b="0" lang="en-GB" sz="1250" spc="-1" strike="noStrike">
              <a:solidFill>
                <a:srgbClr val="000000"/>
              </a:solidFill>
              <a:latin typeface="Arial"/>
            </a:endParaRPr>
          </a:p>
        </p:txBody>
      </p:sp>
      <p:sp>
        <p:nvSpPr>
          <p:cNvPr id="288" name="Shape 10"/>
          <p:cNvSpPr/>
          <p:nvPr/>
        </p:nvSpPr>
        <p:spPr>
          <a:xfrm>
            <a:off x="822960" y="4389120"/>
            <a:ext cx="91080" cy="91080"/>
          </a:xfrm>
          <a:prstGeom prst="ellipse">
            <a:avLst/>
          </a:prstGeom>
          <a:solidFill>
            <a:srgbClr val="1f8a9e"/>
          </a:solidFill>
          <a:ln w="0">
            <a:noFill/>
          </a:ln>
        </p:spPr>
        <p:style>
          <a:lnRef idx="0"/>
          <a:fillRef idx="0"/>
          <a:effectRef idx="0"/>
          <a:fontRef idx="minor"/>
        </p:style>
        <p:txBody>
          <a:bodyPr lIns="90000" rIns="90000" tIns="19440" bIns="19440" anchor="t">
            <a:noAutofit/>
          </a:bodyPr>
          <a:p>
            <a:endParaRPr b="0" lang="en-GB" sz="1800" spc="-1" strike="noStrike">
              <a:solidFill>
                <a:srgbClr val="000000"/>
              </a:solidFill>
              <a:latin typeface="Arial"/>
            </a:endParaRPr>
          </a:p>
        </p:txBody>
      </p:sp>
      <p:sp>
        <p:nvSpPr>
          <p:cNvPr id="289" name="Text 11"/>
          <p:cNvSpPr/>
          <p:nvPr/>
        </p:nvSpPr>
        <p:spPr>
          <a:xfrm>
            <a:off x="1097280" y="4260960"/>
            <a:ext cx="4708800" cy="59400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50" spc="-1" strike="noStrike">
                <a:solidFill>
                  <a:srgbClr val="1b2430"/>
                </a:solidFill>
                <a:latin typeface="Calibri"/>
                <a:ea typeface="Calibri"/>
              </a:rPr>
              <a:t>Investigate CPU pinning and NUMA effects</a:t>
            </a:r>
            <a:endParaRPr b="0" lang="en-GB" sz="1250" spc="-1" strike="noStrike">
              <a:solidFill>
                <a:srgbClr val="000000"/>
              </a:solidFill>
              <a:latin typeface="Arial"/>
            </a:endParaRPr>
          </a:p>
        </p:txBody>
      </p:sp>
      <p:sp>
        <p:nvSpPr>
          <p:cNvPr id="290" name="Shape 12"/>
          <p:cNvSpPr/>
          <p:nvPr/>
        </p:nvSpPr>
        <p:spPr>
          <a:xfrm>
            <a:off x="822960" y="5102280"/>
            <a:ext cx="91080" cy="91080"/>
          </a:xfrm>
          <a:prstGeom prst="ellipse">
            <a:avLst/>
          </a:prstGeom>
          <a:solidFill>
            <a:srgbClr val="1f8a9e"/>
          </a:solidFill>
          <a:ln w="0">
            <a:noFill/>
          </a:ln>
        </p:spPr>
        <p:style>
          <a:lnRef idx="0"/>
          <a:fillRef idx="0"/>
          <a:effectRef idx="0"/>
          <a:fontRef idx="minor"/>
        </p:style>
        <p:txBody>
          <a:bodyPr lIns="90000" rIns="90000" tIns="19440" bIns="19440" anchor="t">
            <a:noAutofit/>
          </a:bodyPr>
          <a:p>
            <a:endParaRPr b="0" lang="en-GB" sz="1800" spc="-1" strike="noStrike">
              <a:solidFill>
                <a:srgbClr val="000000"/>
              </a:solidFill>
              <a:latin typeface="Arial"/>
            </a:endParaRPr>
          </a:p>
        </p:txBody>
      </p:sp>
      <p:sp>
        <p:nvSpPr>
          <p:cNvPr id="291" name="Text 13"/>
          <p:cNvSpPr/>
          <p:nvPr/>
        </p:nvSpPr>
        <p:spPr>
          <a:xfrm>
            <a:off x="1097280" y="4974480"/>
            <a:ext cx="4708800" cy="59400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50" spc="-1" strike="noStrike">
                <a:solidFill>
                  <a:srgbClr val="1b2430"/>
                </a:solidFill>
                <a:latin typeface="Calibri"/>
                <a:ea typeface="Calibri"/>
              </a:rPr>
              <a:t>Test Flash Attention &amp; KV-cache quant on bandwidth-starved devices</a:t>
            </a:r>
            <a:endParaRPr b="0" lang="en-GB" sz="1250" spc="-1" strike="noStrike">
              <a:solidFill>
                <a:srgbClr val="000000"/>
              </a:solidFill>
              <a:latin typeface="Arial"/>
            </a:endParaRPr>
          </a:p>
        </p:txBody>
      </p:sp>
      <p:sp>
        <p:nvSpPr>
          <p:cNvPr id="292" name="Shape 14"/>
          <p:cNvSpPr/>
          <p:nvPr/>
        </p:nvSpPr>
        <p:spPr>
          <a:xfrm>
            <a:off x="6172200" y="1554480"/>
            <a:ext cx="5440320" cy="4205880"/>
          </a:xfrm>
          <a:prstGeom prst="roundRect">
            <a:avLst>
              <a:gd name="adj" fmla="val 1739"/>
            </a:avLst>
          </a:prstGeom>
          <a:solidFill>
            <a:srgbClr val="162447"/>
          </a:solidFill>
          <a:ln w="0">
            <a:noFill/>
          </a:ln>
        </p:spPr>
        <p:style>
          <a:lnRef idx="0"/>
          <a:fillRef idx="0"/>
          <a:effectRef idx="0"/>
          <a:fontRef idx="minor"/>
        </p:style>
        <p:txBody>
          <a:bodyPr lIns="90000" rIns="90000" tIns="45000" bIns="45000" anchor="t">
            <a:noAutofit/>
          </a:bodyPr>
          <a:p>
            <a:endParaRPr b="0" lang="en-GB" sz="1800" spc="-1" strike="noStrike">
              <a:solidFill>
                <a:srgbClr val="ffffff"/>
              </a:solidFill>
              <a:latin typeface="Arial"/>
            </a:endParaRPr>
          </a:p>
        </p:txBody>
      </p:sp>
      <p:sp>
        <p:nvSpPr>
          <p:cNvPr id="293" name="Text 15"/>
          <p:cNvSpPr/>
          <p:nvPr/>
        </p:nvSpPr>
        <p:spPr>
          <a:xfrm>
            <a:off x="6446520" y="1783080"/>
            <a:ext cx="45716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48" strike="noStrike">
                <a:solidFill>
                  <a:srgbClr val="e8a33d"/>
                </a:solidFill>
                <a:latin typeface="Calibri"/>
                <a:ea typeface="Calibri"/>
              </a:rPr>
              <a:t>LONGER-TERM</a:t>
            </a:r>
            <a:endParaRPr b="0" lang="en-GB" sz="1200" spc="-1" strike="noStrike">
              <a:solidFill>
                <a:srgbClr val="000000"/>
              </a:solidFill>
              <a:latin typeface="Arial"/>
            </a:endParaRPr>
          </a:p>
        </p:txBody>
      </p:sp>
      <p:sp>
        <p:nvSpPr>
          <p:cNvPr id="294" name="Shape 16"/>
          <p:cNvSpPr/>
          <p:nvPr/>
        </p:nvSpPr>
        <p:spPr>
          <a:xfrm>
            <a:off x="6446520" y="2249280"/>
            <a:ext cx="91080" cy="91080"/>
          </a:xfrm>
          <a:prstGeom prst="ellipse">
            <a:avLst/>
          </a:prstGeom>
          <a:solidFill>
            <a:srgbClr val="e8a33d"/>
          </a:solidFill>
          <a:ln w="0">
            <a:noFill/>
          </a:ln>
        </p:spPr>
        <p:style>
          <a:lnRef idx="0"/>
          <a:fillRef idx="0"/>
          <a:effectRef idx="0"/>
          <a:fontRef idx="minor"/>
        </p:style>
        <p:txBody>
          <a:bodyPr lIns="90000" rIns="90000" tIns="19440" bIns="19440" anchor="t">
            <a:noAutofit/>
          </a:bodyPr>
          <a:p>
            <a:endParaRPr b="0" lang="en-GB" sz="1800" spc="-1" strike="noStrike">
              <a:solidFill>
                <a:srgbClr val="000000"/>
              </a:solidFill>
              <a:latin typeface="Arial"/>
            </a:endParaRPr>
          </a:p>
        </p:txBody>
      </p:sp>
      <p:sp>
        <p:nvSpPr>
          <p:cNvPr id="295" name="Text 17"/>
          <p:cNvSpPr/>
          <p:nvPr/>
        </p:nvSpPr>
        <p:spPr>
          <a:xfrm>
            <a:off x="6720840" y="2121480"/>
            <a:ext cx="4708800" cy="77688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50" spc="-1" strike="noStrike">
                <a:solidFill>
                  <a:srgbClr val="ffffff"/>
                </a:solidFill>
                <a:latin typeface="Calibri"/>
                <a:ea typeface="Calibri"/>
              </a:rPr>
              <a:t>A true zero-shot predictor: specs in, calibration constants out — needs ~20–30 calibrated devices</a:t>
            </a:r>
            <a:endParaRPr b="0" lang="en-GB" sz="1250" spc="-1" strike="noStrike">
              <a:solidFill>
                <a:srgbClr val="000000"/>
              </a:solidFill>
              <a:latin typeface="Arial"/>
            </a:endParaRPr>
          </a:p>
        </p:txBody>
      </p:sp>
      <p:sp>
        <p:nvSpPr>
          <p:cNvPr id="296" name="Shape 18"/>
          <p:cNvSpPr/>
          <p:nvPr/>
        </p:nvSpPr>
        <p:spPr>
          <a:xfrm>
            <a:off x="6446520" y="3117960"/>
            <a:ext cx="91080" cy="91080"/>
          </a:xfrm>
          <a:prstGeom prst="ellipse">
            <a:avLst/>
          </a:prstGeom>
          <a:solidFill>
            <a:srgbClr val="e8a33d"/>
          </a:solidFill>
          <a:ln w="0">
            <a:noFill/>
          </a:ln>
        </p:spPr>
        <p:style>
          <a:lnRef idx="0"/>
          <a:fillRef idx="0"/>
          <a:effectRef idx="0"/>
          <a:fontRef idx="minor"/>
        </p:style>
        <p:txBody>
          <a:bodyPr lIns="90000" rIns="90000" tIns="19440" bIns="19440" anchor="t">
            <a:noAutofit/>
          </a:bodyPr>
          <a:p>
            <a:endParaRPr b="0" lang="en-GB" sz="1800" spc="-1" strike="noStrike">
              <a:solidFill>
                <a:srgbClr val="000000"/>
              </a:solidFill>
              <a:latin typeface="Arial"/>
            </a:endParaRPr>
          </a:p>
        </p:txBody>
      </p:sp>
      <p:sp>
        <p:nvSpPr>
          <p:cNvPr id="297" name="Text 19"/>
          <p:cNvSpPr/>
          <p:nvPr/>
        </p:nvSpPr>
        <p:spPr>
          <a:xfrm>
            <a:off x="6720840" y="2990160"/>
            <a:ext cx="4708800" cy="77688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50" spc="-1" strike="noStrike">
                <a:solidFill>
                  <a:srgbClr val="ffffff"/>
                </a:solidFill>
                <a:latin typeface="Calibri"/>
                <a:ea typeface="Calibri"/>
              </a:rPr>
              <a:t>A living, community-contributed calibration dataset</a:t>
            </a:r>
            <a:endParaRPr b="0" lang="en-GB" sz="1250" spc="-1" strike="noStrike">
              <a:solidFill>
                <a:srgbClr val="000000"/>
              </a:solidFill>
              <a:latin typeface="Arial"/>
            </a:endParaRPr>
          </a:p>
        </p:txBody>
      </p:sp>
      <p:sp>
        <p:nvSpPr>
          <p:cNvPr id="298" name="Shape 20"/>
          <p:cNvSpPr/>
          <p:nvPr/>
        </p:nvSpPr>
        <p:spPr>
          <a:xfrm>
            <a:off x="6446520" y="3986640"/>
            <a:ext cx="91080" cy="91080"/>
          </a:xfrm>
          <a:prstGeom prst="ellipse">
            <a:avLst/>
          </a:prstGeom>
          <a:solidFill>
            <a:srgbClr val="e8a33d"/>
          </a:solidFill>
          <a:ln w="0">
            <a:noFill/>
          </a:ln>
        </p:spPr>
        <p:style>
          <a:lnRef idx="0"/>
          <a:fillRef idx="0"/>
          <a:effectRef idx="0"/>
          <a:fontRef idx="minor"/>
        </p:style>
        <p:txBody>
          <a:bodyPr lIns="90000" rIns="90000" tIns="19440" bIns="19440" anchor="t">
            <a:noAutofit/>
          </a:bodyPr>
          <a:p>
            <a:endParaRPr b="0" lang="en-GB" sz="1800" spc="-1" strike="noStrike">
              <a:solidFill>
                <a:srgbClr val="000000"/>
              </a:solidFill>
              <a:latin typeface="Arial"/>
            </a:endParaRPr>
          </a:p>
        </p:txBody>
      </p:sp>
      <p:sp>
        <p:nvSpPr>
          <p:cNvPr id="299" name="Text 21"/>
          <p:cNvSpPr/>
          <p:nvPr/>
        </p:nvSpPr>
        <p:spPr>
          <a:xfrm>
            <a:off x="6720840" y="3858840"/>
            <a:ext cx="4708800" cy="77688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50" spc="-1" strike="noStrike">
                <a:solidFill>
                  <a:srgbClr val="ffffff"/>
                </a:solidFill>
                <a:latin typeface="Calibri"/>
                <a:ea typeface="Calibri"/>
              </a:rPr>
              <a:t>Extend from single-user batch-1 to concurrent, multi-user serving</a:t>
            </a:r>
            <a:endParaRPr b="0" lang="en-GB" sz="1250" spc="-1" strike="noStrike">
              <a:solidFill>
                <a:srgbClr val="000000"/>
              </a:solidFill>
              <a:latin typeface="Arial"/>
            </a:endParaRPr>
          </a:p>
        </p:txBody>
      </p:sp>
      <p:sp>
        <p:nvSpPr>
          <p:cNvPr id="300" name="Shape 22"/>
          <p:cNvSpPr/>
          <p:nvPr/>
        </p:nvSpPr>
        <p:spPr>
          <a:xfrm>
            <a:off x="6446520" y="4855320"/>
            <a:ext cx="91080" cy="91080"/>
          </a:xfrm>
          <a:prstGeom prst="ellipse">
            <a:avLst/>
          </a:prstGeom>
          <a:solidFill>
            <a:srgbClr val="e8a33d"/>
          </a:solidFill>
          <a:ln w="0">
            <a:noFill/>
          </a:ln>
        </p:spPr>
        <p:style>
          <a:lnRef idx="0"/>
          <a:fillRef idx="0"/>
          <a:effectRef idx="0"/>
          <a:fontRef idx="minor"/>
        </p:style>
        <p:txBody>
          <a:bodyPr lIns="90000" rIns="90000" tIns="19440" bIns="19440" anchor="t">
            <a:noAutofit/>
          </a:bodyPr>
          <a:p>
            <a:endParaRPr b="0" lang="en-GB" sz="1800" spc="-1" strike="noStrike">
              <a:solidFill>
                <a:srgbClr val="000000"/>
              </a:solidFill>
              <a:latin typeface="Arial"/>
            </a:endParaRPr>
          </a:p>
        </p:txBody>
      </p:sp>
      <p:sp>
        <p:nvSpPr>
          <p:cNvPr id="301" name="Text 23"/>
          <p:cNvSpPr/>
          <p:nvPr/>
        </p:nvSpPr>
        <p:spPr>
          <a:xfrm>
            <a:off x="6720840" y="4727520"/>
            <a:ext cx="4708800" cy="776880"/>
          </a:xfrm>
          <a:prstGeom prst="rect">
            <a:avLst/>
          </a:prstGeom>
          <a:noFill/>
          <a:ln w="0">
            <a:noFill/>
          </a:ln>
        </p:spPr>
        <p:style>
          <a:lnRef idx="0"/>
          <a:fillRef idx="0"/>
          <a:effectRef idx="0"/>
          <a:fontRef idx="minor"/>
        </p:style>
        <p:txBody>
          <a:bodyPr lIns="0" rIns="0" tIns="0" bIns="0" anchor="ctr">
            <a:noAutofit/>
          </a:bodyPr>
          <a:p>
            <a:pPr defTabSz="914400">
              <a:lnSpc>
                <a:spcPts val="1599"/>
              </a:lnSpc>
              <a:tabLst>
                <a:tab algn="l" pos="0"/>
              </a:tabLst>
            </a:pPr>
            <a:r>
              <a:rPr b="0" lang="en-US" sz="1250" spc="-1" strike="noStrike">
                <a:solidFill>
                  <a:srgbClr val="ffffff"/>
                </a:solidFill>
                <a:latin typeface="Calibri"/>
                <a:ea typeface="Calibri"/>
              </a:rPr>
              <a:t>Generalize ‘bytes-per-token’ to pruning and speculative decoding</a:t>
            </a:r>
            <a:endParaRPr b="0" lang="en-GB" sz="1250" spc="-1" strike="noStrike">
              <a:solidFill>
                <a:srgbClr val="000000"/>
              </a:solidFill>
              <a:latin typeface="Arial"/>
            </a:endParaRPr>
          </a:p>
        </p:txBody>
      </p:sp>
      <p:sp>
        <p:nvSpPr>
          <p:cNvPr id="302" name="Text 24"/>
          <p:cNvSpPr/>
          <p:nvPr/>
        </p:nvSpPr>
        <p:spPr>
          <a:xfrm>
            <a:off x="11365920" y="6400800"/>
            <a:ext cx="548280" cy="2739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5b6675"/>
                </a:solidFill>
                <a:latin typeface="Calibri"/>
                <a:ea typeface="Calibri"/>
              </a:rPr>
              <a:t>15</a:t>
            </a:r>
            <a:endParaRPr b="0" lang="en-GB"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62447"/>
        </a:solidFill>
      </p:bgPr>
    </p:bg>
    <p:spTree>
      <p:nvGrpSpPr>
        <p:cNvPr id="1" name=""/>
        <p:cNvGrpSpPr/>
        <p:nvPr/>
      </p:nvGrpSpPr>
      <p:grpSpPr>
        <a:xfrm>
          <a:off x="0" y="0"/>
          <a:ext cx="0" cy="0"/>
          <a:chOff x="0" y="0"/>
          <a:chExt cx="0" cy="0"/>
        </a:xfrm>
      </p:grpSpPr>
      <p:sp>
        <p:nvSpPr>
          <p:cNvPr id="303" name="Text 0"/>
          <p:cNvSpPr/>
          <p:nvPr/>
        </p:nvSpPr>
        <p:spPr>
          <a:xfrm>
            <a:off x="822960" y="640080"/>
            <a:ext cx="3657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299" strike="noStrike">
                <a:solidFill>
                  <a:srgbClr val="e8a33d"/>
                </a:solidFill>
                <a:latin typeface="Calibri"/>
                <a:ea typeface="Calibri"/>
              </a:rPr>
              <a:t>CONCLUSION</a:t>
            </a:r>
            <a:endParaRPr b="0" lang="en-GB" sz="1300" spc="-1" strike="noStrike">
              <a:solidFill>
                <a:srgbClr val="ffffff"/>
              </a:solidFill>
              <a:latin typeface="Arial"/>
            </a:endParaRPr>
          </a:p>
        </p:txBody>
      </p:sp>
      <p:sp>
        <p:nvSpPr>
          <p:cNvPr id="304" name="Text 1"/>
          <p:cNvSpPr/>
          <p:nvPr/>
        </p:nvSpPr>
        <p:spPr>
          <a:xfrm>
            <a:off x="822960" y="1051560"/>
            <a:ext cx="1024092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ffffff"/>
                </a:solidFill>
                <a:latin typeface="Cambria"/>
                <a:ea typeface="Cambria"/>
              </a:rPr>
              <a:t>Four effects, one model, seven recommendations</a:t>
            </a:r>
            <a:endParaRPr b="0" lang="en-GB" sz="3000" spc="-1" strike="noStrike">
              <a:solidFill>
                <a:srgbClr val="ffffff"/>
              </a:solidFill>
              <a:latin typeface="Arial"/>
            </a:endParaRPr>
          </a:p>
        </p:txBody>
      </p:sp>
      <p:sp>
        <p:nvSpPr>
          <p:cNvPr id="305" name="Shape 2"/>
          <p:cNvSpPr/>
          <p:nvPr/>
        </p:nvSpPr>
        <p:spPr>
          <a:xfrm>
            <a:off x="822960" y="2221920"/>
            <a:ext cx="109440" cy="109440"/>
          </a:xfrm>
          <a:prstGeom prst="ellipse">
            <a:avLst/>
          </a:prstGeom>
          <a:solidFill>
            <a:srgbClr val="1f8a9e"/>
          </a:solidFill>
          <a:ln w="0">
            <a:noFill/>
          </a:ln>
        </p:spPr>
        <p:style>
          <a:lnRef idx="0"/>
          <a:fillRef idx="0"/>
          <a:effectRef idx="0"/>
          <a:fontRef idx="minor"/>
        </p:style>
        <p:txBody>
          <a:bodyPr lIns="90000" rIns="90000" tIns="32760" bIns="32760" anchor="t">
            <a:noAutofit/>
          </a:bodyPr>
          <a:p>
            <a:endParaRPr b="0" lang="en-GB" sz="1800" spc="-1" strike="noStrike">
              <a:solidFill>
                <a:srgbClr val="000000"/>
              </a:solidFill>
              <a:latin typeface="Arial"/>
            </a:endParaRPr>
          </a:p>
        </p:txBody>
      </p:sp>
      <p:sp>
        <p:nvSpPr>
          <p:cNvPr id="306" name="Text 3"/>
          <p:cNvSpPr/>
          <p:nvPr/>
        </p:nvSpPr>
        <p:spPr>
          <a:xfrm>
            <a:off x="1143000" y="2075760"/>
            <a:ext cx="9783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ffffff"/>
                </a:solidFill>
                <a:latin typeface="Calibri"/>
                <a:ea typeface="Calibri"/>
              </a:rPr>
              <a:t>Compute-bound prefill saturates near the physical core count</a:t>
            </a:r>
            <a:endParaRPr b="0" lang="en-GB" sz="1500" spc="-1" strike="noStrike">
              <a:solidFill>
                <a:srgbClr val="ffffff"/>
              </a:solidFill>
              <a:latin typeface="Arial"/>
            </a:endParaRPr>
          </a:p>
        </p:txBody>
      </p:sp>
      <p:sp>
        <p:nvSpPr>
          <p:cNvPr id="307" name="Shape 4"/>
          <p:cNvSpPr/>
          <p:nvPr/>
        </p:nvSpPr>
        <p:spPr>
          <a:xfrm>
            <a:off x="822960" y="2788920"/>
            <a:ext cx="109440" cy="109440"/>
          </a:xfrm>
          <a:prstGeom prst="ellipse">
            <a:avLst/>
          </a:prstGeom>
          <a:solidFill>
            <a:srgbClr val="1f8a9e"/>
          </a:solidFill>
          <a:ln w="0">
            <a:noFill/>
          </a:ln>
        </p:spPr>
        <p:style>
          <a:lnRef idx="0"/>
          <a:fillRef idx="0"/>
          <a:effectRef idx="0"/>
          <a:fontRef idx="minor"/>
        </p:style>
        <p:txBody>
          <a:bodyPr lIns="90000" rIns="90000" tIns="32760" bIns="32760" anchor="t">
            <a:noAutofit/>
          </a:bodyPr>
          <a:p>
            <a:endParaRPr b="0" lang="en-GB" sz="1800" spc="-1" strike="noStrike">
              <a:solidFill>
                <a:srgbClr val="000000"/>
              </a:solidFill>
              <a:latin typeface="Arial"/>
            </a:endParaRPr>
          </a:p>
        </p:txBody>
      </p:sp>
      <p:sp>
        <p:nvSpPr>
          <p:cNvPr id="308" name="Text 5"/>
          <p:cNvSpPr/>
          <p:nvPr/>
        </p:nvSpPr>
        <p:spPr>
          <a:xfrm>
            <a:off x="1143000" y="2642760"/>
            <a:ext cx="9783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ffffff"/>
                </a:solidFill>
                <a:latin typeface="Calibri"/>
                <a:ea typeface="Calibri"/>
              </a:rPr>
              <a:t>Memory-bound generation can retrograde as threads are added</a:t>
            </a:r>
            <a:endParaRPr b="0" lang="en-GB" sz="1500" spc="-1" strike="noStrike">
              <a:solidFill>
                <a:srgbClr val="ffffff"/>
              </a:solidFill>
              <a:latin typeface="Arial"/>
            </a:endParaRPr>
          </a:p>
        </p:txBody>
      </p:sp>
      <p:sp>
        <p:nvSpPr>
          <p:cNvPr id="309" name="Shape 6"/>
          <p:cNvSpPr/>
          <p:nvPr/>
        </p:nvSpPr>
        <p:spPr>
          <a:xfrm>
            <a:off x="822960" y="3355920"/>
            <a:ext cx="109440" cy="109440"/>
          </a:xfrm>
          <a:prstGeom prst="ellipse">
            <a:avLst/>
          </a:prstGeom>
          <a:solidFill>
            <a:srgbClr val="1f8a9e"/>
          </a:solidFill>
          <a:ln w="0">
            <a:noFill/>
          </a:ln>
        </p:spPr>
        <p:style>
          <a:lnRef idx="0"/>
          <a:fillRef idx="0"/>
          <a:effectRef idx="0"/>
          <a:fontRef idx="minor"/>
        </p:style>
        <p:txBody>
          <a:bodyPr lIns="90000" rIns="90000" tIns="32760" bIns="32760" anchor="t">
            <a:noAutofit/>
          </a:bodyPr>
          <a:p>
            <a:endParaRPr b="0" lang="en-GB" sz="1800" spc="-1" strike="noStrike">
              <a:solidFill>
                <a:srgbClr val="000000"/>
              </a:solidFill>
              <a:latin typeface="Arial"/>
            </a:endParaRPr>
          </a:p>
        </p:txBody>
      </p:sp>
      <p:sp>
        <p:nvSpPr>
          <p:cNvPr id="310" name="Text 7"/>
          <p:cNvSpPr/>
          <p:nvPr/>
        </p:nvSpPr>
        <p:spPr>
          <a:xfrm>
            <a:off x="1143000" y="3209400"/>
            <a:ext cx="9783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ffffff"/>
                </a:solidFill>
                <a:latin typeface="Calibri"/>
                <a:ea typeface="Calibri"/>
              </a:rPr>
              <a:t>Quantization choices flip sign depending on device and context</a:t>
            </a:r>
            <a:endParaRPr b="0" lang="en-GB" sz="1500" spc="-1" strike="noStrike">
              <a:solidFill>
                <a:srgbClr val="ffffff"/>
              </a:solidFill>
              <a:latin typeface="Arial"/>
            </a:endParaRPr>
          </a:p>
        </p:txBody>
      </p:sp>
      <p:sp>
        <p:nvSpPr>
          <p:cNvPr id="311" name="Shape 8"/>
          <p:cNvSpPr/>
          <p:nvPr/>
        </p:nvSpPr>
        <p:spPr>
          <a:xfrm>
            <a:off x="822960" y="3922920"/>
            <a:ext cx="109440" cy="109440"/>
          </a:xfrm>
          <a:prstGeom prst="ellipse">
            <a:avLst/>
          </a:prstGeom>
          <a:solidFill>
            <a:srgbClr val="1f8a9e"/>
          </a:solidFill>
          <a:ln w="0">
            <a:noFill/>
          </a:ln>
        </p:spPr>
        <p:style>
          <a:lnRef idx="0"/>
          <a:fillRef idx="0"/>
          <a:effectRef idx="0"/>
          <a:fontRef idx="minor"/>
        </p:style>
        <p:txBody>
          <a:bodyPr lIns="90000" rIns="90000" tIns="32760" bIns="32760" anchor="t">
            <a:noAutofit/>
          </a:bodyPr>
          <a:p>
            <a:endParaRPr b="0" lang="en-GB" sz="1800" spc="-1" strike="noStrike">
              <a:solidFill>
                <a:srgbClr val="000000"/>
              </a:solidFill>
              <a:latin typeface="Arial"/>
            </a:endParaRPr>
          </a:p>
        </p:txBody>
      </p:sp>
      <p:sp>
        <p:nvSpPr>
          <p:cNvPr id="312" name="Text 9"/>
          <p:cNvSpPr/>
          <p:nvPr/>
        </p:nvSpPr>
        <p:spPr>
          <a:xfrm>
            <a:off x="1143000" y="3776400"/>
            <a:ext cx="97837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ffffff"/>
                </a:solidFill>
                <a:latin typeface="Calibri"/>
                <a:ea typeface="Calibri"/>
              </a:rPr>
              <a:t>Flash Attention is a regression on CPU at long context</a:t>
            </a:r>
            <a:endParaRPr b="0" lang="en-GB" sz="1500" spc="-1" strike="noStrike">
              <a:solidFill>
                <a:srgbClr val="ffffff"/>
              </a:solidFill>
              <a:latin typeface="Arial"/>
            </a:endParaRPr>
          </a:p>
        </p:txBody>
      </p:sp>
      <p:sp>
        <p:nvSpPr>
          <p:cNvPr id="313" name="Shape 10"/>
          <p:cNvSpPr/>
          <p:nvPr/>
        </p:nvSpPr>
        <p:spPr>
          <a:xfrm>
            <a:off x="822960" y="4617720"/>
            <a:ext cx="10515600" cy="360"/>
          </a:xfrm>
          <a:prstGeom prst="line">
            <a:avLst/>
          </a:prstGeom>
          <a:ln w="12700">
            <a:solidFill>
              <a:srgbClr val="2c4066"/>
            </a:solidFill>
            <a:round/>
          </a:ln>
        </p:spPr>
        <p:style>
          <a:lnRef idx="0"/>
          <a:fillRef idx="0"/>
          <a:effectRef idx="0"/>
          <a:fontRef idx="minor"/>
        </p:style>
        <p:txBody>
          <a:bodyPr lIns="90000" rIns="90000" tIns="-44640" bIns="-44640" anchor="t" anchorCtr="1">
            <a:noAutofit/>
          </a:bodyPr>
          <a:p>
            <a:endParaRPr b="0" lang="en-GB" sz="1800" spc="-1" strike="noStrike">
              <a:solidFill>
                <a:srgbClr val="ffffff"/>
              </a:solidFill>
              <a:latin typeface="Arial"/>
            </a:endParaRPr>
          </a:p>
        </p:txBody>
      </p:sp>
      <p:sp>
        <p:nvSpPr>
          <p:cNvPr id="314" name="Text 11"/>
          <p:cNvSpPr/>
          <p:nvPr/>
        </p:nvSpPr>
        <p:spPr>
          <a:xfrm>
            <a:off x="822960" y="4800600"/>
            <a:ext cx="10515240" cy="1005480"/>
          </a:xfrm>
          <a:prstGeom prst="rect">
            <a:avLst/>
          </a:prstGeom>
          <a:noFill/>
          <a:ln w="0">
            <a:noFill/>
          </a:ln>
        </p:spPr>
        <p:style>
          <a:lnRef idx="0"/>
          <a:fillRef idx="0"/>
          <a:effectRef idx="0"/>
          <a:fontRef idx="minor"/>
        </p:style>
        <p:txBody>
          <a:bodyPr lIns="0" rIns="0" tIns="0" bIns="0" anchor="ctr">
            <a:noAutofit/>
          </a:bodyPr>
          <a:p>
            <a:pPr defTabSz="914400">
              <a:lnSpc>
                <a:spcPts val="1800"/>
              </a:lnSpc>
              <a:tabLst>
                <a:tab algn="l" pos="0"/>
              </a:tabLst>
            </a:pPr>
            <a:r>
              <a:rPr b="0" i="1" lang="en-US" sz="1350" spc="-1" strike="noStrike">
                <a:solidFill>
                  <a:srgbClr val="dceff2"/>
                </a:solidFill>
                <a:latin typeface="Calibri"/>
                <a:ea typeface="Calibri"/>
              </a:rPr>
              <a:t>The roofline model predicts measured Ryzen throughput within 4–18% from five calibration points. Its most interesting prediction — MoE's structural advantage on bandwidth-starved CPUs — remains the clearest next step.</a:t>
            </a:r>
            <a:endParaRPr b="0" lang="en-GB" sz="1350" spc="-1" strike="noStrike">
              <a:solidFill>
                <a:srgbClr val="ffffff"/>
              </a:solidFill>
              <a:latin typeface="Arial"/>
            </a:endParaRPr>
          </a:p>
        </p:txBody>
      </p:sp>
      <p:sp>
        <p:nvSpPr>
          <p:cNvPr id="315" name="Text 12"/>
          <p:cNvSpPr/>
          <p:nvPr/>
        </p:nvSpPr>
        <p:spPr>
          <a:xfrm>
            <a:off x="822960" y="5943600"/>
            <a:ext cx="7314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50" spc="-1" strike="noStrike">
                <a:solidFill>
                  <a:srgbClr val="5b6675"/>
                </a:solidFill>
                <a:latin typeface="Calibri"/>
                <a:ea typeface="Calibri"/>
              </a:rPr>
              <a:t>Interactive calculator: yassine-hattay.github.io/LLMs_inference_on_CPU</a:t>
            </a:r>
            <a:endParaRPr b="0" lang="en-GB" sz="1150" spc="-1" strike="noStrike">
              <a:solidFill>
                <a:srgbClr val="ffffff"/>
              </a:solidFill>
              <a:latin typeface="Arial"/>
            </a:endParaRPr>
          </a:p>
        </p:txBody>
      </p:sp>
      <p:sp>
        <p:nvSpPr>
          <p:cNvPr id="316" name="Text 13"/>
          <p:cNvSpPr/>
          <p:nvPr/>
        </p:nvSpPr>
        <p:spPr>
          <a:xfrm>
            <a:off x="822960" y="6263640"/>
            <a:ext cx="7314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Thank you — questions welcome.</a:t>
            </a:r>
            <a:endParaRPr b="0" lang="en-GB"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LibreOffice/7.6.4.1$Windows_X86_64 LibreOffice_project/e19e193f88cd6c0525a17fb7a176ed8e6a3e2aa1</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2026-08-25T08:11:08Z</dcterms:created>
  <dc:creator>PptxGenJS</dc:creator>
  <dc:description/>
  <dc:language>en-GB</dc:language>
  <cp:lastModifiedBy/>
  <dcterms:modified xsi:type="dcterms:W3CDTF">2026-08-25T10:39:46Z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On-screen Show (16:9)</vt:lpwstr>
  </property>
  <property fmtid="{D5CDD505-2E9C-101B-9397-08002B2CF9AE}" pid="4" name="Slides">
    <vt:i4>16</vt:i4>
  </property>
</Properties>
</file>